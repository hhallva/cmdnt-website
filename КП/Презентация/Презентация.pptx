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5" r:id="rId11"/>
    <p:sldId id="257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951"/>
    <a:srgbClr val="CAC8CE"/>
    <a:srgbClr val="929292"/>
    <a:srgbClr val="FFA7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18" autoAdjust="0"/>
  </p:normalViewPr>
  <p:slideViewPr>
    <p:cSldViewPr snapToGrid="0">
      <p:cViewPr varScale="1">
        <p:scale>
          <a:sx n="60" d="100"/>
          <a:sy n="60" d="100"/>
        </p:scale>
        <p:origin x="78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D18954-7DD0-52DE-0C60-B75A128D2E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/>
              <a:t>ФЕДЕРАЛЬНОЕ ГОСУДАРСТВЕННОЕ БЮДЖЕТНОЕ ОБРАЗОВАТЕЛЬНОЕ</a:t>
            </a:r>
            <a:br>
              <a:rPr lang="ru-RU" sz="1800" dirty="0"/>
            </a:br>
            <a:r>
              <a:rPr lang="ru-RU" sz="1800" dirty="0"/>
              <a:t>УЧРЕЖДЕНИЕ ВЫСШЕГО ОБРАЗОВАНИЯ</a:t>
            </a:r>
            <a:br>
              <a:rPr lang="ru-RU" sz="1800" dirty="0"/>
            </a:br>
            <a:r>
              <a:rPr lang="ru-RU" sz="1800" dirty="0"/>
              <a:t>«САНКТ-ПЕТЕРБУРГСКИЙ ГОСУДАРСТВЕННЫЙ УНИВЕРСИТЕТ</a:t>
            </a:r>
            <a:br>
              <a:rPr lang="ru-RU" sz="1800" dirty="0"/>
            </a:br>
            <a:r>
              <a:rPr lang="ru-RU" sz="1800" dirty="0"/>
              <a:t>ТЕЛЕКОММУНИКАЦИЙ ИМ. ПРОФ. М.А. БОНЧ-БРУЕВИЧА»</a:t>
            </a:r>
            <a:br>
              <a:rPr lang="ru-RU" sz="1800" dirty="0"/>
            </a:br>
            <a:r>
              <a:rPr lang="ru-RU" sz="1800" dirty="0"/>
              <a:t>(СПбГУТ)</a:t>
            </a:r>
            <a:br>
              <a:rPr lang="ru-RU" sz="1800" dirty="0"/>
            </a:br>
            <a:r>
              <a:rPr lang="ru-RU" sz="1800" dirty="0"/>
              <a:t>АРХАНГЕЛЬСКИЙ КОЛЛЕДЖ ТЕЛЕКОММУНИКАЦИЙ</a:t>
            </a:r>
            <a:br>
              <a:rPr lang="ru-RU" sz="1800" dirty="0"/>
            </a:br>
            <a:r>
              <a:rPr lang="ru-RU" sz="1800" dirty="0"/>
              <a:t>ИМ. Б.Л. РОЗИНГА (ФИЛИАЛ) СПбГУТ</a:t>
            </a:r>
            <a:br>
              <a:rPr lang="ru-RU" sz="1800" dirty="0"/>
            </a:br>
            <a:r>
              <a:rPr lang="ru-RU" sz="1800" dirty="0"/>
              <a:t>(АКТ (ф) СПбГУТ)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299979F-6AA7-C464-4AF4-8E89AFD4A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46400"/>
            <a:ext cx="9144000" cy="1314450"/>
          </a:xfrm>
        </p:spPr>
        <p:txBody>
          <a:bodyPr>
            <a:normAutofit/>
          </a:bodyPr>
          <a:lstStyle/>
          <a:p>
            <a:r>
              <a:rPr lang="ru-RU" sz="3200" dirty="0"/>
              <a:t>КУРСОВОЙ ПРОЕКТ</a:t>
            </a:r>
          </a:p>
          <a:p>
            <a:r>
              <a:rPr lang="ru-RU" dirty="0"/>
              <a:t>УЧЕТ НОМЕРНОГО ФОНДА СТУДЕНЧЕСКОГО ОБЩЕЖИТИЯ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E0749F-66FE-7897-C6CA-9AE81CDECED1}"/>
              </a:ext>
            </a:extLst>
          </p:cNvPr>
          <p:cNvSpPr txBox="1"/>
          <p:nvPr/>
        </p:nvSpPr>
        <p:spPr>
          <a:xfrm>
            <a:off x="857250" y="531495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Студент группы ИСПП-11: Екимов Вячеслав Андреевич Руководитель: Маломан Юлия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309C8-674B-A8BA-0E7B-5BBFD76179BB}"/>
              </a:ext>
            </a:extLst>
          </p:cNvPr>
          <p:cNvSpPr txBox="1"/>
          <p:nvPr/>
        </p:nvSpPr>
        <p:spPr>
          <a:xfrm>
            <a:off x="3048000" y="62542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Архангельск, 2024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295D769-EDB4-E79B-32FE-AE12194C0972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9444344-D127-2955-B2D0-4C0D72F65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12" y="3327412"/>
            <a:ext cx="203175" cy="203175"/>
          </a:xfrm>
          <a:prstGeom prst="rect">
            <a:avLst/>
          </a:prstGeom>
        </p:spPr>
      </p:pic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2030482A-ED9D-2732-6187-91B3D876D2C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9D193D8E-8B6E-8F72-D500-08487A8017F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21" name="Прямоугольник: скругленные углы 20">
                <a:extLst>
                  <a:ext uri="{FF2B5EF4-FFF2-40B4-BE49-F238E27FC236}">
                    <a16:creationId xmlns:a16="http://schemas.microsoft.com/office/drawing/2014/main" id="{C67D749B-8BEE-A41A-A47F-B80A6526023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AF3CD27A-8814-863C-0D22-3D67259D1B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5BBE3122-70FB-89E5-C133-8F47470FBE6D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94F209DE-1927-E037-436C-A191A4E3CF6F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DF7C7A75-DDE4-F5A7-191F-D42DCA02E94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A81F6BC-2422-1A7B-DA41-E55C793B1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B2097122-26AF-B42A-FD45-3CEC2C151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B17C1148-D05F-5E9C-7519-109F9C42D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BB1B6B88-A801-B50F-0103-A9A083F26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35" name="Рисунок 34">
              <a:extLst>
                <a:ext uri="{FF2B5EF4-FFF2-40B4-BE49-F238E27FC236}">
                  <a16:creationId xmlns:a16="http://schemas.microsoft.com/office/drawing/2014/main" id="{6BF0F0C0-9222-1DC4-8252-58804C3DB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C21D3E17-9E2E-0FAB-BD8C-434AE2D5F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1BEB941C-F0CF-5AE5-5C27-00459306D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41" name="Рисунок 40">
              <a:extLst>
                <a:ext uri="{FF2B5EF4-FFF2-40B4-BE49-F238E27FC236}">
                  <a16:creationId xmlns:a16="http://schemas.microsoft.com/office/drawing/2014/main" id="{651A6AC7-5C05-867F-1D9D-7B2165C46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3279CD5F-AA49-7330-C6CB-6A514A67B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43317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B45FB0-A546-4878-5B8B-7AEECEA52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FC51AD-A158-6BFF-C5C4-5E08C228D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Зачем разрабатывается ПО? </a:t>
            </a:r>
          </a:p>
          <a:p>
            <a:endParaRPr lang="ru-RU" dirty="0"/>
          </a:p>
          <a:p>
            <a:r>
              <a:rPr lang="ru-RU" dirty="0"/>
              <a:t>Необходимость автоматизации …такого-то процесса, Необходимость модернизации существующей системы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2CB1CD-718C-169B-8CC7-B29262F1C4B5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2/11</a:t>
            </a:r>
          </a:p>
        </p:txBody>
      </p:sp>
      <p:sp>
        <p:nvSpPr>
          <p:cNvPr id="8" name="AutoShape 2" descr="Placeholder Image | Elementor Developers">
            <a:extLst>
              <a:ext uri="{FF2B5EF4-FFF2-40B4-BE49-F238E27FC236}">
                <a16:creationId xmlns:a16="http://schemas.microsoft.com/office/drawing/2014/main" id="{EA6FE66B-DDCE-6E03-91C5-2B86AA0BE7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28" name="Picture 4" descr="Placeholder Image | Elementor Developers">
            <a:extLst>
              <a:ext uri="{FF2B5EF4-FFF2-40B4-BE49-F238E27FC236}">
                <a16:creationId xmlns:a16="http://schemas.microsoft.com/office/drawing/2014/main" id="{0E0AD676-1D8C-7A88-DC43-2634D1666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998" y="1568325"/>
            <a:ext cx="4953002" cy="4384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E2651D8-82F1-DAC5-2FA4-9D5E80476B9C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23CD4FC-B923-9AFC-D01D-84A9227D264D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992D9EF8-DA57-A9BD-1209-1ABCD041252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31" name="Прямоугольник: скругленные углы 30">
                <a:extLst>
                  <a:ext uri="{FF2B5EF4-FFF2-40B4-BE49-F238E27FC236}">
                    <a16:creationId xmlns:a16="http://schemas.microsoft.com/office/drawing/2014/main" id="{47D322F2-A15E-35D7-A752-E385229E9FFB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32" name="Рисунок 31">
                <a:extLst>
                  <a:ext uri="{FF2B5EF4-FFF2-40B4-BE49-F238E27FC236}">
                    <a16:creationId xmlns:a16="http://schemas.microsoft.com/office/drawing/2014/main" id="{A38F5EC5-EA18-3E5B-56F6-682F425A79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30" name="Прямая соединительная линия 29">
              <a:extLst>
                <a:ext uri="{FF2B5EF4-FFF2-40B4-BE49-F238E27FC236}">
                  <a16:creationId xmlns:a16="http://schemas.microsoft.com/office/drawing/2014/main" id="{1DA1D387-42D7-B864-220D-CF3CD949D534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93EB1A61-9C63-85DE-171B-EE2ECA154707}"/>
              </a:ext>
            </a:extLst>
          </p:cNvPr>
          <p:cNvSpPr/>
          <p:nvPr/>
        </p:nvSpPr>
        <p:spPr>
          <a:xfrm>
            <a:off x="190500" y="1367704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A2EB460-BC54-D5BD-A31E-BC7EC3526A0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5" name="Рисунок 34">
              <a:extLst>
                <a:ext uri="{FF2B5EF4-FFF2-40B4-BE49-F238E27FC236}">
                  <a16:creationId xmlns:a16="http://schemas.microsoft.com/office/drawing/2014/main" id="{16CF3E67-2041-06DA-F8F4-67A43F955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36" name="Рисунок 35">
              <a:extLst>
                <a:ext uri="{FF2B5EF4-FFF2-40B4-BE49-F238E27FC236}">
                  <a16:creationId xmlns:a16="http://schemas.microsoft.com/office/drawing/2014/main" id="{FA6513C9-2DBA-4B9F-89C9-134854CD6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F0B88CA1-C46F-B57B-6CAF-EF9C50C3D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38" name="Рисунок 37">
              <a:extLst>
                <a:ext uri="{FF2B5EF4-FFF2-40B4-BE49-F238E27FC236}">
                  <a16:creationId xmlns:a16="http://schemas.microsoft.com/office/drawing/2014/main" id="{0213EE7C-3DD4-3F75-D715-66101F109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19660E01-6407-7F7C-AE9B-859C2D38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392889DC-FA5B-16B9-918E-DCFA838233C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41" name="Рисунок 40">
              <a:extLst>
                <a:ext uri="{FF2B5EF4-FFF2-40B4-BE49-F238E27FC236}">
                  <a16:creationId xmlns:a16="http://schemas.microsoft.com/office/drawing/2014/main" id="{C58B2031-DD72-22A7-8547-28A8EDD04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42" name="Рисунок 41">
              <a:extLst>
                <a:ext uri="{FF2B5EF4-FFF2-40B4-BE49-F238E27FC236}">
                  <a16:creationId xmlns:a16="http://schemas.microsoft.com/office/drawing/2014/main" id="{A8995074-5103-776F-D9A5-90CDAD830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D9681AA2-8BE0-44FC-ED4A-7A6CF9D3E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7273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3AAA3-8104-0526-3C91-2ED810D9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F1396A-0F2D-B058-FA89-87904E87C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Целевая аудитория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BA9FA7F-2A74-916B-18D0-BEE0AD8B3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57617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Кто будет пользоваться ПО?</a:t>
            </a:r>
          </a:p>
          <a:p>
            <a:pPr marL="0" indent="0">
              <a:buNone/>
            </a:pPr>
            <a:endParaRPr lang="ru-RU" b="1" dirty="0"/>
          </a:p>
          <a:p>
            <a:pPr marL="0" indent="0">
              <a:buNone/>
            </a:pPr>
            <a:r>
              <a:rPr lang="ru-RU" dirty="0"/>
              <a:t>Указать профессии / места работы / возрастные категории (т.е. указать известную информацию о будущих пользователях системы)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A636A-ADF1-4246-C4C3-3ADEC20F9284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3/11</a:t>
            </a:r>
          </a:p>
        </p:txBody>
      </p:sp>
      <p:pic>
        <p:nvPicPr>
          <p:cNvPr id="5" name="Picture 4" descr="Placeholder Image | Elementor Developers">
            <a:extLst>
              <a:ext uri="{FF2B5EF4-FFF2-40B4-BE49-F238E27FC236}">
                <a16:creationId xmlns:a16="http://schemas.microsoft.com/office/drawing/2014/main" id="{8AD15838-F5C5-0CAB-1DC4-9312335B5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44181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Placeholder Image | Elementor Developers">
            <a:extLst>
              <a:ext uri="{FF2B5EF4-FFF2-40B4-BE49-F238E27FC236}">
                <a16:creationId xmlns:a16="http://schemas.microsoft.com/office/drawing/2014/main" id="{5BFB051E-C642-1C7E-6A00-359FC8D28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587" y="44181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Placeholder Image | Elementor Developers">
            <a:extLst>
              <a:ext uri="{FF2B5EF4-FFF2-40B4-BE49-F238E27FC236}">
                <a16:creationId xmlns:a16="http://schemas.microsoft.com/office/drawing/2014/main" id="{91F79545-0387-6A30-01FD-D288D9F06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046" y="44181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laceholder Image | Elementor Developers">
            <a:extLst>
              <a:ext uri="{FF2B5EF4-FFF2-40B4-BE49-F238E27FC236}">
                <a16:creationId xmlns:a16="http://schemas.microsoft.com/office/drawing/2014/main" id="{B39B62FE-E2BF-ACA6-180F-E091FE663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8432" y="44181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A4AC019-3873-3FE6-444D-719BDFAA569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74E61190-ED89-3F56-031B-825A04CEF35C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21BBA0C-5609-5E3E-9742-999E7BF8B8EF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4A625D29-C1E3-7CE4-FC89-453B6E8B2EDC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1DC6C288-CA15-D473-2D25-97F2F7DC9A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07002B63-8B5E-EDF0-9331-A8A6FE3F0F8C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AEF75079-39BB-1C33-7D54-E4BBBA722F1D}"/>
              </a:ext>
            </a:extLst>
          </p:cNvPr>
          <p:cNvSpPr/>
          <p:nvPr/>
        </p:nvSpPr>
        <p:spPr>
          <a:xfrm>
            <a:off x="190500" y="183633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069B1252-000B-F919-E404-D714F556303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CC460DF9-6F87-DA35-A66B-A37CC0EE40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A7A3B448-EA3B-1051-4341-5A60C894B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6A852336-7FD5-6D97-3C99-796C173D02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DFE7CE0-9E0C-5064-061C-38CC9E047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438CC4BA-F593-736D-C03E-B037662E1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52B03CEF-65F2-B703-5498-0AD2F8C61B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D7FFEF75-64A8-EA02-43B2-D0E8A840D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52D797BE-E722-C769-E3A3-9E1633858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5BCAEE7A-76C0-FFC1-7DBA-4F71C5D21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2638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4B122C-33DE-59AB-1325-64D2CAD3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2A7E29-A206-A935-FD29-7D3EBC596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Что нужно выполнить во время курсового проектирования?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Требуется разработать подсистему / веб-сайт для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E7B20-FF2E-07A6-903E-EB6EE8BE1219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4/11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179BD8-434D-E377-5979-C4FA626D1747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2F39621-8D97-E7F5-6230-E62C9BE3E31B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558FBF24-B85F-1CF1-1DCC-1A922877D3EE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C8B49818-89C4-C906-29BB-8FF585F0470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DDDD813E-778C-61A1-2F5D-0DF7579F81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5F58E534-8616-6CA2-546B-B5952FFAA2D3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A170462-05E0-7B49-9C7B-40D23D49E2FD}"/>
              </a:ext>
            </a:extLst>
          </p:cNvPr>
          <p:cNvSpPr/>
          <p:nvPr/>
        </p:nvSpPr>
        <p:spPr>
          <a:xfrm>
            <a:off x="190500" y="230459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CD50526-013A-B287-C8DD-E07A2D820101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1F80BFD0-93B3-906B-5B32-BFF62408E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7D5273A5-192C-6B3B-1AED-2030CEEA5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37E262B-A07C-3B38-E457-CB20BF395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EAB7EDC-D066-C067-2F07-AF2D3BE2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6E9F2699-4F0F-FDCA-0D12-5B9A1BF1B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0CFADE7-8FC0-3583-853F-D7FB423C2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38C65E3B-42B8-A780-D438-501BB0FC0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09DB4D76-B5CA-54F8-DC7F-A0F0CC1F0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7D4708C-5DC7-8CF3-DA1C-515F16FCAB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72C9D8-1904-85DD-1E82-2022BA15D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D41A2A-7545-1501-2164-F9EE0A29B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650122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Какие этапы разработки нужно выполнить для достижения цели? </a:t>
            </a:r>
          </a:p>
          <a:p>
            <a:r>
              <a:rPr lang="ru-RU" dirty="0"/>
              <a:t>Можно перечислить этапы жизненного цикла ПО (проанализировать, спроектировать, разработать, протестировать, разработать документацию, … – с уточнениями, какие именно задачи требовалось решить)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5E232E-027C-FE46-5869-5274132DA2FE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5/11</a:t>
            </a:r>
          </a:p>
        </p:txBody>
      </p:sp>
      <p:pic>
        <p:nvPicPr>
          <p:cNvPr id="6" name="Picture 4" descr="Placeholder Image | Elementor Developers">
            <a:extLst>
              <a:ext uri="{FF2B5EF4-FFF2-40B4-BE49-F238E27FC236}">
                <a16:creationId xmlns:a16="http://schemas.microsoft.com/office/drawing/2014/main" id="{B2637D92-0094-BBF7-A467-7710F51D9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6947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Placeholder Image | Elementor Developers">
            <a:extLst>
              <a:ext uri="{FF2B5EF4-FFF2-40B4-BE49-F238E27FC236}">
                <a16:creationId xmlns:a16="http://schemas.microsoft.com/office/drawing/2014/main" id="{9E446FBF-57F0-094A-92DB-A1EFED36B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898" y="46947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laceholder Image | Elementor Developers">
            <a:extLst>
              <a:ext uri="{FF2B5EF4-FFF2-40B4-BE49-F238E27FC236}">
                <a16:creationId xmlns:a16="http://schemas.microsoft.com/office/drawing/2014/main" id="{7996F788-507B-0C85-B1FC-80FE1C39CD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2776" y="46947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Placeholder Image | Elementor Developers">
            <a:extLst>
              <a:ext uri="{FF2B5EF4-FFF2-40B4-BE49-F238E27FC236}">
                <a16:creationId xmlns:a16="http://schemas.microsoft.com/office/drawing/2014/main" id="{FDF83E25-CA2C-ADC6-83F3-6F53D6EA4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3474" y="4694779"/>
            <a:ext cx="2410326" cy="1798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BD17C0-A51A-CF5A-789B-FCA8B006F75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13444270-A7CF-6A25-83D2-30D3F7A0667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C9D625A6-F6E9-01F1-C603-54AB99960421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5" name="Прямоугольник: скругленные углы 14">
                <a:extLst>
                  <a:ext uri="{FF2B5EF4-FFF2-40B4-BE49-F238E27FC236}">
                    <a16:creationId xmlns:a16="http://schemas.microsoft.com/office/drawing/2014/main" id="{99C6FC1B-8158-CC06-911B-C50EDC16CCE2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6" name="Рисунок 15">
                <a:extLst>
                  <a:ext uri="{FF2B5EF4-FFF2-40B4-BE49-F238E27FC236}">
                    <a16:creationId xmlns:a16="http://schemas.microsoft.com/office/drawing/2014/main" id="{A104D42A-1122-67F0-BC2F-783D9EFCA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F403E0C8-F0A7-CE89-4CCF-BF1AA9020A59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316B16E-9114-399C-58AF-B4FFEF439296}"/>
              </a:ext>
            </a:extLst>
          </p:cNvPr>
          <p:cNvSpPr/>
          <p:nvPr/>
        </p:nvSpPr>
        <p:spPr>
          <a:xfrm>
            <a:off x="190500" y="278982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94C59010-698B-FE72-4B39-A091436C182D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62A269E-4D1A-75B7-DFCC-F4E8574F9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79A518FD-0219-0F43-B1A7-EDE790A15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2D44CDC-9CC5-5AC2-EFC4-4EECC1F6C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7F80F025-43C6-070A-538E-DA29F847D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94D7B746-88F8-1C4D-2EC7-33FAF1978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5FF1B167-CC91-29EB-CA89-BA73BCD7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FB340309-C9F6-39BD-AC28-1E43F140F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A4219E98-8C50-7608-1829-62270F7B7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CD7AB10D-0167-B6C2-102D-7CBE1581F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0827-AFB6-532B-B761-50B7D3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BA55AC-F738-1A19-B8FA-CFDCD583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7E4BAA-1373-C4FE-CA79-188C8DB86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Какие языки программирования / СУБД / IDE / библиотеки / ресурсы изображений / хостинг использовали? </a:t>
            </a:r>
          </a:p>
          <a:p>
            <a:r>
              <a:rPr lang="ru-RU" dirty="0"/>
              <a:t>Перечислить все использованное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7C2CF-A9BD-95C1-F7D5-666EBD39C12D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6/11</a:t>
            </a:r>
          </a:p>
        </p:txBody>
      </p:sp>
      <p:pic>
        <p:nvPicPr>
          <p:cNvPr id="8" name="Picture 4" descr="Placeholder Image | Elementor Developers">
            <a:extLst>
              <a:ext uri="{FF2B5EF4-FFF2-40B4-BE49-F238E27FC236}">
                <a16:creationId xmlns:a16="http://schemas.microsoft.com/office/drawing/2014/main" id="{DE3867D2-5294-AC7C-C032-F0A0E68427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6990" y="3568295"/>
            <a:ext cx="3248526" cy="242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23F8EAF-0262-FE35-D849-FD1D6F986986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2ECC5591-9540-13BB-5CA5-D0D0E4ADD660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E4789D04-B874-0936-A5E3-48354220BFA8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A5281A58-86E2-8272-90E0-874349CA99D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995BC5FB-ADB4-CC3B-7DFE-4F07990D0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BDB9624-7C29-FC9B-B184-B55607BEDC76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FC6EB6D2-3F4C-3B83-6C62-9B8B4BACA594}"/>
              </a:ext>
            </a:extLst>
          </p:cNvPr>
          <p:cNvSpPr/>
          <p:nvPr/>
        </p:nvSpPr>
        <p:spPr>
          <a:xfrm>
            <a:off x="190500" y="276909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DF0F623B-4808-2543-D686-A808AC3BFDB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D2CA61B3-A6D6-005C-6E9A-E13A69C39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92FBCC27-E9DA-4CD9-3DBA-8CE7D9B26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5680FDDC-ABDD-C00D-E665-50F373240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E9E7555D-F28D-5CF3-358B-C6BA9206C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30E105FA-711C-8B9D-FF82-C9AD9C9BB3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DFECDDC1-553A-56DB-6DF8-8C15F85C9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0046300B-3878-6F3B-C346-FEF354AD7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34DEB9F2-E895-9555-FFE2-969B3FDDB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095FBBF9-F296-79AF-7A1C-90EE568D5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00425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9EA8CD-5856-9EAA-3DE2-DF75170A7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E8F50C-4D0D-297E-C6E1-36F08B6AF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Из каких модулей состоит система? </a:t>
            </a:r>
          </a:p>
          <a:p>
            <a:r>
              <a:rPr lang="ru-RU" dirty="0"/>
              <a:t>Представить структурную диаграмму UML, например диаграмму развертывания / компонентов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78CBDD-42A5-3C17-C38D-755E48BBE86B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7/11</a:t>
            </a:r>
          </a:p>
        </p:txBody>
      </p:sp>
      <p:pic>
        <p:nvPicPr>
          <p:cNvPr id="8" name="Picture 4" descr="Placeholder Image | Elementor Developers">
            <a:extLst>
              <a:ext uri="{FF2B5EF4-FFF2-40B4-BE49-F238E27FC236}">
                <a16:creationId xmlns:a16="http://schemas.microsoft.com/office/drawing/2014/main" id="{738D9B69-26B8-4B78-F8E0-AC8B3DCB4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5708" y="3231063"/>
            <a:ext cx="4700583" cy="3506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3B271-FE32-CB06-4D0E-B9934524DF4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0D0D423C-6AFD-BFAE-5D78-E5C12DBF06B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9669050-1E86-6B3F-EFFB-CE56B808B13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9E04CBF0-3D65-DCA5-5002-93A9235539E3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2C9BB02E-7554-240B-5349-D128A27AC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1782D06-0C9F-8776-FBF8-743B2850679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A4A53AD-C18A-ECDD-99A7-1658B173A248}"/>
              </a:ext>
            </a:extLst>
          </p:cNvPr>
          <p:cNvSpPr/>
          <p:nvPr/>
        </p:nvSpPr>
        <p:spPr>
          <a:xfrm>
            <a:off x="190500" y="3243747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B22EE30A-654B-26B5-43EC-EA733E8524B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B86B68FA-A902-E09B-5571-07F1BC667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50ADBE6F-DF6B-766D-8A12-C06FE4C99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399ED5AD-158E-1946-5AAB-060ED2C86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EDD3D827-AA6E-3B46-B9EC-3EBE4C28B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702C89A-8952-72A6-EFD0-7158FE5A4C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D0368E8A-0D0D-038A-E947-A2DC63CB7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89C2DB47-7595-E1A7-16AA-085A46BE6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1C03BD4-46EE-6AF1-1D2C-CD7180A1A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D4EA82EC-8D97-64F6-1C47-36D4389AC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A3DDD-4E6E-CE8B-8BEA-8A70FF49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54B649-6C97-33EA-A607-16FAA5E45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A6B30B-9647-3A60-0D6C-D3415324E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475FD-808F-5D08-3196-49C28109FE7A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8/11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934DC2-12E1-9F20-7900-175CD3E96000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EE9CC19-8CCC-C800-00B1-238A8E85CB39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3511996E-A86C-6BA4-499C-8E841E70062E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1" name="Прямоугольник: скругленные углы 10">
                <a:extLst>
                  <a:ext uri="{FF2B5EF4-FFF2-40B4-BE49-F238E27FC236}">
                    <a16:creationId xmlns:a16="http://schemas.microsoft.com/office/drawing/2014/main" id="{E1B4508D-1E45-342F-90EB-A5DD7D666F60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D03C1EC4-FA9E-7225-78E7-D38458858F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0" name="Прямая соединительная линия 9">
              <a:extLst>
                <a:ext uri="{FF2B5EF4-FFF2-40B4-BE49-F238E27FC236}">
                  <a16:creationId xmlns:a16="http://schemas.microsoft.com/office/drawing/2014/main" id="{BB339E9B-DFB3-6CDB-DCDA-4D6A36C531D1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097869B-FA5A-61BF-F15C-33933565CADD}"/>
              </a:ext>
            </a:extLst>
          </p:cNvPr>
          <p:cNvSpPr/>
          <p:nvPr/>
        </p:nvSpPr>
        <p:spPr>
          <a:xfrm>
            <a:off x="190500" y="371362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E111D08-9260-53FA-E261-C9CB92B6DD48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AEC0BC7C-7E8B-8FB0-144B-B2D3231D9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26AF9A84-FD0E-2A63-EE71-9BBE138F5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5A76ABB-E446-F0EC-2268-B299958B1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DD33D2E0-BF02-DEF9-2AF5-953E60936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746A4E1-C919-2FF9-B72F-57B4D627F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DD56C658-9C5D-767C-1B88-15CBC6022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C1F3C2B-067F-9A59-CA1A-9B6417A87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E5E87066-CD2C-1403-BF06-4C4F01E66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161D1235-6124-868F-0CFE-579810AA1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0393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6DF8A9-2582-2571-1E4A-747DFD72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разработанного ПО / Особенности разработки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696195-5C1A-8B74-9088-BAEB4276F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Какие преимущества от использования разработанной системы? </a:t>
            </a:r>
          </a:p>
          <a:p>
            <a:pPr marL="0" indent="0">
              <a:buNone/>
            </a:pPr>
            <a:r>
              <a:rPr lang="ru-RU" b="1" dirty="0"/>
              <a:t>Какие технологии были освоены самостоятельно в ходе разработки?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1BA21-98DA-18B9-F478-F3C07132236D}"/>
              </a:ext>
            </a:extLst>
          </p:cNvPr>
          <p:cNvSpPr txBox="1"/>
          <p:nvPr/>
        </p:nvSpPr>
        <p:spPr>
          <a:xfrm>
            <a:off x="11245516" y="103515"/>
            <a:ext cx="9464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9/11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9926197-1136-7577-6121-15A73879C57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6FA45285-0975-AE0D-3256-04576BBD911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74E6B238-E687-AAFA-32B2-5F88AB55750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976465C0-2BB6-D156-9768-C0017701B44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BEB37C2F-19A7-62CB-C1DC-32BC8372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E1A9EA72-9428-2202-F6BF-71B055226D7E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C6924A0-2668-63AB-8E8B-3D7EA854454D}"/>
              </a:ext>
            </a:extLst>
          </p:cNvPr>
          <p:cNvSpPr/>
          <p:nvPr/>
        </p:nvSpPr>
        <p:spPr>
          <a:xfrm>
            <a:off x="190500" y="418588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F09F8243-47B1-29E8-D200-6933D8B7E3DD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02E1E834-D665-ACBA-3730-E39EDCCD7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1B84A38D-0A82-2501-820E-DE15B803F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BFCFEE10-8EB6-48A0-8E6C-5F46B129F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70981A93-21A4-B93E-81BD-53E766D17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750D0ACE-1F25-C5C0-3943-812D024A61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E753D982-72C1-AFC8-6385-34159E3D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61DEDE37-0182-47F1-011A-C503CAC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EB8D5DE-6843-B864-8324-C2D3ADBF8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5B04EDA-5A8B-F891-E057-856FB229D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4E2A6B-5471-F945-B0B0-3AD0B8828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69130-1303-DFD5-9ABB-7CD73BC9C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Указываете, что поставленная цель достигнута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88A1B4-2E1C-5670-F101-894892ABA6A6}"/>
              </a:ext>
            </a:extLst>
          </p:cNvPr>
          <p:cNvSpPr txBox="1"/>
          <p:nvPr/>
        </p:nvSpPr>
        <p:spPr>
          <a:xfrm>
            <a:off x="11117179" y="103515"/>
            <a:ext cx="10748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10/11</a:t>
            </a:r>
          </a:p>
        </p:txBody>
      </p:sp>
      <p:pic>
        <p:nvPicPr>
          <p:cNvPr id="7" name="Picture 4" descr="Placeholder Image | Elementor Developers">
            <a:extLst>
              <a:ext uri="{FF2B5EF4-FFF2-40B4-BE49-F238E27FC236}">
                <a16:creationId xmlns:a16="http://schemas.microsoft.com/office/drawing/2014/main" id="{8A006413-D46A-4239-2AB8-011002D94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05159"/>
            <a:ext cx="4519863" cy="3371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laceholder Image | Elementor Developers">
            <a:extLst>
              <a:ext uri="{FF2B5EF4-FFF2-40B4-BE49-F238E27FC236}">
                <a16:creationId xmlns:a16="http://schemas.microsoft.com/office/drawing/2014/main" id="{D1A9FDD9-F3E5-8322-18C8-5482920FC0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5653" y="2805159"/>
            <a:ext cx="4519863" cy="3371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52EF1444-38C3-63CD-B542-F451150A0E00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>
            <a:extLst>
              <a:ext uri="{FF2B5EF4-FFF2-40B4-BE49-F238E27FC236}">
                <a16:creationId xmlns:a16="http://schemas.microsoft.com/office/drawing/2014/main" id="{B6B3E1B2-2F8E-F12D-D273-FEBA9978C34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58" name="Группа 57">
              <a:extLst>
                <a:ext uri="{FF2B5EF4-FFF2-40B4-BE49-F238E27FC236}">
                  <a16:creationId xmlns:a16="http://schemas.microsoft.com/office/drawing/2014/main" id="{6D33B6DA-B0B4-4E58-4069-2B2A930DF680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60" name="Прямоугольник: скругленные углы 59">
                <a:extLst>
                  <a:ext uri="{FF2B5EF4-FFF2-40B4-BE49-F238E27FC236}">
                    <a16:creationId xmlns:a16="http://schemas.microsoft.com/office/drawing/2014/main" id="{AD8B2754-1AEB-9ED1-0FC7-814707174E8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61" name="Рисунок 60">
                <a:extLst>
                  <a:ext uri="{FF2B5EF4-FFF2-40B4-BE49-F238E27FC236}">
                    <a16:creationId xmlns:a16="http://schemas.microsoft.com/office/drawing/2014/main" id="{B443EF93-234A-2FF4-D1E0-C6B9053004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59" name="Прямая соединительная линия 58">
              <a:extLst>
                <a:ext uri="{FF2B5EF4-FFF2-40B4-BE49-F238E27FC236}">
                  <a16:creationId xmlns:a16="http://schemas.microsoft.com/office/drawing/2014/main" id="{2CBF6736-DCBD-C993-1769-072D41536B1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Прямоугольник: скругленные углы 61">
            <a:extLst>
              <a:ext uri="{FF2B5EF4-FFF2-40B4-BE49-F238E27FC236}">
                <a16:creationId xmlns:a16="http://schemas.microsoft.com/office/drawing/2014/main" id="{0425D387-9444-9F67-AAD2-EF221B23AA9F}"/>
              </a:ext>
            </a:extLst>
          </p:cNvPr>
          <p:cNvSpPr/>
          <p:nvPr/>
        </p:nvSpPr>
        <p:spPr>
          <a:xfrm>
            <a:off x="190500" y="465815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3" name="Группа 62">
            <a:extLst>
              <a:ext uri="{FF2B5EF4-FFF2-40B4-BE49-F238E27FC236}">
                <a16:creationId xmlns:a16="http://schemas.microsoft.com/office/drawing/2014/main" id="{955A1619-5936-1E58-9DB3-BE1BE787AD51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64" name="Рисунок 63">
              <a:extLst>
                <a:ext uri="{FF2B5EF4-FFF2-40B4-BE49-F238E27FC236}">
                  <a16:creationId xmlns:a16="http://schemas.microsoft.com/office/drawing/2014/main" id="{F40524E4-3BF3-69CF-D8E9-E9314CF15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65" name="Рисунок 64">
              <a:extLst>
                <a:ext uri="{FF2B5EF4-FFF2-40B4-BE49-F238E27FC236}">
                  <a16:creationId xmlns:a16="http://schemas.microsoft.com/office/drawing/2014/main" id="{EF765F53-1A42-CA6E-0ED2-B86F71D14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66" name="Рисунок 65">
              <a:extLst>
                <a:ext uri="{FF2B5EF4-FFF2-40B4-BE49-F238E27FC236}">
                  <a16:creationId xmlns:a16="http://schemas.microsoft.com/office/drawing/2014/main" id="{953AD414-7A0E-4220-32DC-0D95BA3FD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67" name="Рисунок 66">
              <a:extLst>
                <a:ext uri="{FF2B5EF4-FFF2-40B4-BE49-F238E27FC236}">
                  <a16:creationId xmlns:a16="http://schemas.microsoft.com/office/drawing/2014/main" id="{B148EA14-E3E4-68D6-3040-8AC62F60A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68" name="Рисунок 67">
              <a:extLst>
                <a:ext uri="{FF2B5EF4-FFF2-40B4-BE49-F238E27FC236}">
                  <a16:creationId xmlns:a16="http://schemas.microsoft.com/office/drawing/2014/main" id="{6A32D3B5-340B-3690-E0DE-402994AAE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6378F747-F03D-F9AC-4F67-4DAEAA8DB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70" name="Рисунок 69">
              <a:extLst>
                <a:ext uri="{FF2B5EF4-FFF2-40B4-BE49-F238E27FC236}">
                  <a16:creationId xmlns:a16="http://schemas.microsoft.com/office/drawing/2014/main" id="{83E23C14-C055-907D-D8DB-2D24E0DC6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71" name="Рисунок 70">
              <a:extLst>
                <a:ext uri="{FF2B5EF4-FFF2-40B4-BE49-F238E27FC236}">
                  <a16:creationId xmlns:a16="http://schemas.microsoft.com/office/drawing/2014/main" id="{656909B1-7D2C-110F-C6E1-302111A89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3CE8AF64-8984-88B7-7C33-03ACF3CCE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3D51-5365-2095-2991-4C0766AD3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C94377-87FC-EBF8-BCFE-9E85807C78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/>
              <a:t>ФЕДЕРАЛЬНОЕ ГОСУДАРСТВЕННОЕ БЮДЖЕТНОЕ ОБРАЗОВАТЕЛЬНОЕ</a:t>
            </a:r>
            <a:br>
              <a:rPr lang="ru-RU" sz="1800" dirty="0"/>
            </a:br>
            <a:r>
              <a:rPr lang="ru-RU" sz="1800" dirty="0"/>
              <a:t>УЧРЕЖДЕНИЕ ВЫСШЕГО ОБРАЗОВАНИЯ</a:t>
            </a:r>
            <a:br>
              <a:rPr lang="ru-RU" sz="1800" dirty="0"/>
            </a:br>
            <a:r>
              <a:rPr lang="ru-RU" sz="1800" dirty="0"/>
              <a:t>«САНКТ-ПЕТЕРБУРГСКИЙ ГОСУДАРСТВЕННЫЙ УНИВЕРСИТЕТ</a:t>
            </a:r>
            <a:br>
              <a:rPr lang="ru-RU" sz="1800" dirty="0"/>
            </a:br>
            <a:r>
              <a:rPr lang="ru-RU" sz="1800" dirty="0"/>
              <a:t>ТЕЛЕКОММУНИКАЦИЙ ИМ. ПРОФ. М.А. БОНЧ-БРУЕВИЧА»</a:t>
            </a:r>
            <a:br>
              <a:rPr lang="ru-RU" sz="1800" dirty="0"/>
            </a:br>
            <a:r>
              <a:rPr lang="ru-RU" sz="1800" dirty="0"/>
              <a:t>(СПбГУТ)</a:t>
            </a:r>
            <a:br>
              <a:rPr lang="ru-RU" sz="1800" dirty="0"/>
            </a:br>
            <a:r>
              <a:rPr lang="ru-RU" sz="1800" dirty="0"/>
              <a:t>АРХАНГЕЛЬСКИЙ КОЛЛЕДЖ ТЕЛЕКОММУНИКАЦИЙ</a:t>
            </a:r>
            <a:br>
              <a:rPr lang="ru-RU" sz="1800" dirty="0"/>
            </a:br>
            <a:r>
              <a:rPr lang="ru-RU" sz="1800" dirty="0"/>
              <a:t>ИМ. Б.Л. РОЗИНГА (ФИЛИАЛ) СПбГУТ</a:t>
            </a:r>
            <a:br>
              <a:rPr lang="ru-RU" sz="1800" dirty="0"/>
            </a:br>
            <a:r>
              <a:rPr lang="ru-RU" sz="1800" dirty="0"/>
              <a:t>(АКТ (ф) СПбГУТ)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3BCF915-7571-5D7C-4A46-9A72536CB5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46400"/>
            <a:ext cx="9144000" cy="1314450"/>
          </a:xfrm>
        </p:spPr>
        <p:txBody>
          <a:bodyPr>
            <a:normAutofit/>
          </a:bodyPr>
          <a:lstStyle/>
          <a:p>
            <a:r>
              <a:rPr lang="ru-RU" sz="3200" dirty="0"/>
              <a:t>КУРСОВОЙ ПРОЕКТ</a:t>
            </a:r>
          </a:p>
          <a:p>
            <a:r>
              <a:rPr lang="ru-RU" dirty="0"/>
              <a:t>УЧЕТ НОМЕРНОГО ФОНДА СТУДЕНЧЕСКОГО ОБЩЕЖИТИЯ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50514-EAC2-49DE-8C82-28538604B3CD}"/>
              </a:ext>
            </a:extLst>
          </p:cNvPr>
          <p:cNvSpPr txBox="1"/>
          <p:nvPr/>
        </p:nvSpPr>
        <p:spPr>
          <a:xfrm>
            <a:off x="857250" y="531495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Студент группы ИСПП-11: Екимов Вячеслав Андреевич Руководитель: Маломан Юлия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A46F06-1C93-AAD4-0318-4E7A56878B70}"/>
              </a:ext>
            </a:extLst>
          </p:cNvPr>
          <p:cNvSpPr txBox="1"/>
          <p:nvPr/>
        </p:nvSpPr>
        <p:spPr>
          <a:xfrm>
            <a:off x="3048000" y="62542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Архангельск, 2024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0CCEA85-1D0E-8CEA-5135-314092B35169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12F1AAC9-D749-F3AB-D14F-A5C2168C9942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AC70C2B6-21D0-BB9C-5FB9-01FA0CABCA51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1" name="Прямоугольник: скругленные углы 10">
                <a:extLst>
                  <a:ext uri="{FF2B5EF4-FFF2-40B4-BE49-F238E27FC236}">
                    <a16:creationId xmlns:a16="http://schemas.microsoft.com/office/drawing/2014/main" id="{E9005D79-7A12-F5D5-CAB9-12BA0350CC20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86A6297D-BB25-B38F-C063-6FFAF0EE4A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0" name="Прямая соединительная линия 9">
              <a:extLst>
                <a:ext uri="{FF2B5EF4-FFF2-40B4-BE49-F238E27FC236}">
                  <a16:creationId xmlns:a16="http://schemas.microsoft.com/office/drawing/2014/main" id="{73472967-55D9-8A3E-8C1E-87FA2DD488F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E4FE6B71-460A-CC25-90BF-05B7D506866D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50C7022-0BB3-D43C-4FE5-271CCAF7831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9528DE02-B485-5E1D-5ABB-6D335EA29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16CF196-C513-D245-57B2-E8AC9A3E4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6402A9F6-AF5D-9F12-4691-D92C45E10D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AB929035-69DA-9E65-43F7-8CF408547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D85DBEF1-59A8-DE44-E3B0-376B8B308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B4AFC46-CB7F-463E-4A9F-FA5A87AC4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25E0C399-F820-52CC-D5EA-5C06DAD2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605ADABD-1D79-151C-47EA-917BBE602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C35963E7-47E8-EA6C-8383-BDA8E40BB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07988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2072</TotalTime>
  <Words>326</Words>
  <Application>Microsoft Office PowerPoint</Application>
  <PresentationFormat>Широкоэкранный</PresentationFormat>
  <Paragraphs>46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Демо</vt:lpstr>
      <vt:lpstr>Преимущества разработанного ПО / Особенности разработки 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34</cp:revision>
  <dcterms:created xsi:type="dcterms:W3CDTF">2025-11-25T06:59:53Z</dcterms:created>
  <dcterms:modified xsi:type="dcterms:W3CDTF">2025-11-26T17:38:11Z</dcterms:modified>
</cp:coreProperties>
</file>