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26"/>
    <a:srgbClr val="F4F7FB"/>
    <a:srgbClr val="0A0A0A"/>
    <a:srgbClr val="FFB951"/>
    <a:srgbClr val="CAC8CE"/>
    <a:srgbClr val="9292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 snapToGrid="0">
      <p:cViewPr varScale="1">
        <p:scale>
          <a:sx n="60" d="100"/>
          <a:sy n="60" d="100"/>
        </p:scale>
        <p:origin x="78" y="1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8380A-9423-2FA2-D5B0-1884D26FF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C58BE93-EAB7-280F-4E4E-47DC5C93A6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8EDCCC-CB26-05BD-EB00-4A466F7C1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E28CEF-2613-447E-A53E-0B077C5C5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2D2E5-4245-A3E0-986A-AA845A3C9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84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EB4F7E-8AAC-86DB-EDDB-BBAD29251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EF1258-D76E-86DB-DD8D-A3EA43D73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9CB4EF-8C33-79E9-2955-949B5E16C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E019E2-97A8-9962-D7CB-1E0B42D67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13C3A7-7402-86CA-A688-BD198E0A0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637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227D42-223C-CEA8-E53A-C05B9564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93D0B1-E7FF-6E4D-A4D0-D1A01EAAA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4DBE74-4D71-17C6-CA0A-72CABFCA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30C87C-5C6A-D94A-7794-EAE815FC8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402E7E-6609-FBF0-514C-F9BAC793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2083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D7E511-99A9-4B55-82A6-A73F8C5CA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D85C66-692E-F451-2184-8A0EAA3BC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A45D7-ADC5-59A5-F117-9B68A7901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CBD10DE-9FA8-E6D5-9D1C-10966A0AA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DCCAC7-E2EB-8727-A432-A2946AEAC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232C931-7E70-59B8-BD06-2629946AF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871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552F1-CBC9-5DD3-C255-9B8AB5FAE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4D7C40-B426-B4B7-8713-0D00C0A52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57E514-E9A5-85BF-66C3-A810B7FED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AFE8D6B-466B-AAFA-2F41-20F8C6E20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473CE1-EFC0-3E97-5C64-25215F619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B3B9AD8-2963-5D05-DA6F-26449F08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990D777-8084-B2C3-6FD5-B72C4932B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383464-126A-CCC4-6D07-1CCDE521C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9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4672D1-435A-6695-AAE9-5F924AF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82470A-E085-C7C9-6BDF-0D6F06DC5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6C6E97-CB7E-95D0-F6CE-46AA7187A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D1E3BC-9138-F0BD-25C1-B1EE77962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996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519456-965A-DA34-8428-C1A7DC138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729651-A699-8B52-EDA2-21A03763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0D4FA4E-6223-F4EC-24AB-17720F0F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4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66867-88EA-2FF0-B4B2-69DCC6293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775021-FCD5-A2D0-5683-05376AAA9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F8C158-A641-C1F7-E093-9E373DCE5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02E973-2D7A-19F2-C6AC-E3FD35DDF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F6C5D14-CE5D-82CC-9EDA-6426A88FF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B67F6E-1729-AEA0-F202-9939B031C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037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36381-11AA-8B03-FFF1-465632E98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580EA58-73A3-3B60-EB50-ACD1FFC2E4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987F52-A28E-FC4D-6B40-609EB4C862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8D6CA6-DFEF-8458-D736-A7F6BD954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BE3E6FF-10EC-DE97-017C-F7C03CD27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975476-3897-E9A6-7E95-677BD246A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346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C38F8-4770-2885-AF17-C5F3FFFF1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9C00799-4BDE-F0FC-444C-060817221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53DAC9-7E3F-D195-057D-0C32D49D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118733-EC5E-1FF3-7182-EC9B7D2B3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B00AB-1CF5-B41F-84F4-FE741EC69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272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9709855-26B2-5DD6-3BDB-9D07932BD5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0A37B5-0ACC-8920-70B8-CDC7DAA89D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3CC0B8-57C2-B1C8-69B2-D838D6D85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FEFB77-1A27-A578-FF6F-A8585369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81010E-3908-1AE9-BAD4-9150E5C2E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075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5618BC-B3D9-6BE4-E43A-C9540C199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92D365-AB0A-5BBF-6B17-F8C8678F5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69308B-300F-DF38-C580-C50C822D75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3FD95-13B8-4D9F-981D-7E2051AFE206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6BDA14-0170-9FF8-D6E9-60BB2D572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789941-67FE-9B0F-DDCA-026D8FEB3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120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7.png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12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11" Type="http://schemas.openxmlformats.org/officeDocument/2006/relationships/image" Target="../media/image5.png"/><Relationship Id="rId5" Type="http://schemas.openxmlformats.org/officeDocument/2006/relationships/image" Target="../media/image12.png"/><Relationship Id="rId15" Type="http://schemas.openxmlformats.org/officeDocument/2006/relationships/image" Target="../media/image9.png"/><Relationship Id="rId10" Type="http://schemas.openxmlformats.org/officeDocument/2006/relationships/image" Target="../media/image4.png"/><Relationship Id="rId4" Type="http://schemas.microsoft.com/office/2007/relationships/hdphoto" Target="../media/hdphoto2.wdp"/><Relationship Id="rId9" Type="http://schemas.openxmlformats.org/officeDocument/2006/relationships/image" Target="../media/image3.png"/><Relationship Id="rId1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4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8.png"/><Relationship Id="rId3" Type="http://schemas.openxmlformats.org/officeDocument/2006/relationships/image" Target="../media/image15.png"/><Relationship Id="rId21" Type="http://schemas.openxmlformats.org/officeDocument/2006/relationships/image" Target="../media/image3.png"/><Relationship Id="rId7" Type="http://schemas.openxmlformats.org/officeDocument/2006/relationships/image" Target="../media/image18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5" Type="http://schemas.openxmlformats.org/officeDocument/2006/relationships/image" Target="../media/image7.png"/><Relationship Id="rId2" Type="http://schemas.openxmlformats.org/officeDocument/2006/relationships/image" Target="../media/image1.png"/><Relationship Id="rId16" Type="http://schemas.openxmlformats.org/officeDocument/2006/relationships/image" Target="../media/image26.svg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24" Type="http://schemas.openxmlformats.org/officeDocument/2006/relationships/image" Target="../media/image6.png"/><Relationship Id="rId5" Type="http://schemas.openxmlformats.org/officeDocument/2006/relationships/image" Target="../media/image16.png"/><Relationship Id="rId15" Type="http://schemas.openxmlformats.org/officeDocument/2006/relationships/image" Target="../media/image25.png"/><Relationship Id="rId23" Type="http://schemas.openxmlformats.org/officeDocument/2006/relationships/image" Target="../media/image5.png"/><Relationship Id="rId10" Type="http://schemas.microsoft.com/office/2007/relationships/hdphoto" Target="../media/hdphoto5.wdp"/><Relationship Id="rId19" Type="http://schemas.openxmlformats.org/officeDocument/2006/relationships/image" Target="../media/image29.png"/><Relationship Id="rId4" Type="http://schemas.microsoft.com/office/2007/relationships/hdphoto" Target="../media/hdphoto4.wdp"/><Relationship Id="rId9" Type="http://schemas.openxmlformats.org/officeDocument/2006/relationships/image" Target="../media/image20.png"/><Relationship Id="rId14" Type="http://schemas.openxmlformats.org/officeDocument/2006/relationships/image" Target="../media/image24.png"/><Relationship Id="rId22" Type="http://schemas.openxmlformats.org/officeDocument/2006/relationships/image" Target="../media/image4.png"/><Relationship Id="rId27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2.png"/><Relationship Id="rId12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6.png"/><Relationship Id="rId5" Type="http://schemas.openxmlformats.org/officeDocument/2006/relationships/image" Target="../media/image32.png"/><Relationship Id="rId10" Type="http://schemas.openxmlformats.org/officeDocument/2006/relationships/image" Target="../media/image5.png"/><Relationship Id="rId4" Type="http://schemas.openxmlformats.org/officeDocument/2006/relationships/image" Target="../media/image31.png"/><Relationship Id="rId9" Type="http://schemas.openxmlformats.org/officeDocument/2006/relationships/image" Target="../media/image4.png"/><Relationship Id="rId1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0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86810730-EE25-C82A-F25F-69F64D056E84}"/>
              </a:ext>
            </a:extLst>
          </p:cNvPr>
          <p:cNvSpPr/>
          <p:nvPr/>
        </p:nvSpPr>
        <p:spPr>
          <a:xfrm>
            <a:off x="-1" y="-4281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61B28579-0E83-DC4D-20CD-2F2689BCC7D2}"/>
              </a:ext>
            </a:extLst>
          </p:cNvPr>
          <p:cNvSpPr/>
          <p:nvPr/>
        </p:nvSpPr>
        <p:spPr>
          <a:xfrm>
            <a:off x="1041394" y="6188619"/>
            <a:ext cx="10960105" cy="560572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6B01AE6A-EB93-06DA-C4AA-74A5829AEFAB}"/>
              </a:ext>
            </a:extLst>
          </p:cNvPr>
          <p:cNvSpPr/>
          <p:nvPr/>
        </p:nvSpPr>
        <p:spPr>
          <a:xfrm>
            <a:off x="1041394" y="2425796"/>
            <a:ext cx="10960105" cy="1107666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29863163-E171-A978-8A22-465A8E7589A2}"/>
              </a:ext>
            </a:extLst>
          </p:cNvPr>
          <p:cNvSpPr/>
          <p:nvPr/>
        </p:nvSpPr>
        <p:spPr>
          <a:xfrm>
            <a:off x="1041394" y="13983"/>
            <a:ext cx="10960105" cy="2202153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D18954-7DD0-52DE-0C60-B75A128D2E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49446" y="168909"/>
            <a:ext cx="9144000" cy="1892300"/>
          </a:xfrm>
        </p:spPr>
        <p:txBody>
          <a:bodyPr>
            <a:normAutofit fontScale="90000"/>
          </a:bodyPr>
          <a:lstStyle/>
          <a:p>
            <a:r>
              <a:rPr lang="ru-RU" sz="1800" dirty="0">
                <a:latin typeface="Comfortaa Medium" pitchFamily="2" charset="0"/>
              </a:rPr>
              <a:t>ФЕДЕРАЛЬНОЕ ГОСУДАРСТВЕННОЕ БЮДЖЕТНОЕ ОБРАЗОВАТЕЛЬНОЕ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УЧРЕЖДЕНИЕ ВЫСШЕГО ОБРАЗОВАНИЯ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«САНКТ-ПЕТЕРБУРГСКИЙ ГОСУДАРСТВЕННЫЙ УНИВЕРСИТЕТ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ТЕЛЕКОММУНИКАЦИЙ ИМ. ПРОФ. М.А. БОНЧ-БРУЕВИЧА»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(СПбГУТ)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АРХАНГЕЛЬСКИЙ КОЛЛЕДЖ ТЕЛЕКОММУНИКАЦИЙ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ИМ. Б.Л. РОЗИНГА (ФИЛИАЛ) СПбГУТ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309C8-674B-A8BA-0E7B-5BBFD76179BB}"/>
              </a:ext>
            </a:extLst>
          </p:cNvPr>
          <p:cNvSpPr txBox="1"/>
          <p:nvPr/>
        </p:nvSpPr>
        <p:spPr>
          <a:xfrm>
            <a:off x="3473446" y="628423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Comfortaa Medium" pitchFamily="2" charset="0"/>
              </a:rPr>
              <a:t>Архангельск, 2025</a:t>
            </a:r>
          </a:p>
        </p:txBody>
      </p: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2030482A-ED9D-2732-6187-91B3D876D2C6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46" name="Группа 45">
              <a:extLst>
                <a:ext uri="{FF2B5EF4-FFF2-40B4-BE49-F238E27FC236}">
                  <a16:creationId xmlns:a16="http://schemas.microsoft.com/office/drawing/2014/main" id="{9D193D8E-8B6E-8F72-D500-08487A8017F6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21" name="Прямоугольник: скругленные углы 20">
                <a:extLst>
                  <a:ext uri="{FF2B5EF4-FFF2-40B4-BE49-F238E27FC236}">
                    <a16:creationId xmlns:a16="http://schemas.microsoft.com/office/drawing/2014/main" id="{C67D749B-8BEE-A41A-A47F-B80A65260237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20" name="Рисунок 19">
                <a:extLst>
                  <a:ext uri="{FF2B5EF4-FFF2-40B4-BE49-F238E27FC236}">
                    <a16:creationId xmlns:a16="http://schemas.microsoft.com/office/drawing/2014/main" id="{AF3CD27A-8814-863C-0D22-3D67259D1B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5BBE3122-70FB-89E5-C133-8F47470FBE6D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: скругленные углы 43">
            <a:extLst>
              <a:ext uri="{FF2B5EF4-FFF2-40B4-BE49-F238E27FC236}">
                <a16:creationId xmlns:a16="http://schemas.microsoft.com/office/drawing/2014/main" id="{94F209DE-1927-E037-436C-A191A4E3CF6F}"/>
              </a:ext>
            </a:extLst>
          </p:cNvPr>
          <p:cNvSpPr/>
          <p:nvPr/>
        </p:nvSpPr>
        <p:spPr>
          <a:xfrm>
            <a:off x="190500" y="895339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65C55BAC-EF9E-6CCB-E314-96A72DFB5AE9}"/>
              </a:ext>
            </a:extLst>
          </p:cNvPr>
          <p:cNvGrpSpPr/>
          <p:nvPr/>
        </p:nvGrpSpPr>
        <p:grpSpPr>
          <a:xfrm>
            <a:off x="1041393" y="3810289"/>
            <a:ext cx="10960105" cy="936757"/>
            <a:chOff x="1041393" y="3810289"/>
            <a:chExt cx="10960105" cy="936757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EB65875A-32E1-2EC0-91AD-3DB6CB8EA56C}"/>
                </a:ext>
              </a:extLst>
            </p:cNvPr>
            <p:cNvSpPr/>
            <p:nvPr/>
          </p:nvSpPr>
          <p:spPr>
            <a:xfrm>
              <a:off x="1041393" y="3810289"/>
              <a:ext cx="10960105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2E0749F-66FE-7897-C6CA-9AE81CDECED1}"/>
                </a:ext>
              </a:extLst>
            </p:cNvPr>
            <p:cNvSpPr txBox="1"/>
            <p:nvPr/>
          </p:nvSpPr>
          <p:spPr>
            <a:xfrm>
              <a:off x="1823834" y="3951615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Студент ИСПП-21</a:t>
              </a:r>
              <a:endParaRPr lang="en-US" dirty="0">
                <a:latin typeface="Comfortaa Medium" pitchFamily="2" charset="0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B6EB8749-655F-4E01-175E-8413EA8D8460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48FB1EF-8C8F-AE92-D962-B4449F936EB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ЕВ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EE986487-9429-C499-8724-017514621CCF}"/>
              </a:ext>
            </a:extLst>
          </p:cNvPr>
          <p:cNvGrpSpPr/>
          <p:nvPr/>
        </p:nvGrpSpPr>
        <p:grpSpPr>
          <a:xfrm>
            <a:off x="1041393" y="4984592"/>
            <a:ext cx="10960105" cy="936757"/>
            <a:chOff x="1041393" y="3810289"/>
            <a:chExt cx="10960105" cy="936757"/>
          </a:xfrm>
        </p:grpSpPr>
        <p:sp>
          <p:nvSpPr>
            <p:cNvPr id="34" name="Прямоугольник: скругленные углы 33">
              <a:extLst>
                <a:ext uri="{FF2B5EF4-FFF2-40B4-BE49-F238E27FC236}">
                  <a16:creationId xmlns:a16="http://schemas.microsoft.com/office/drawing/2014/main" id="{796D25D8-227A-A5E4-C77E-300DB3445612}"/>
                </a:ext>
              </a:extLst>
            </p:cNvPr>
            <p:cNvSpPr/>
            <p:nvPr/>
          </p:nvSpPr>
          <p:spPr>
            <a:xfrm>
              <a:off x="1041393" y="3810289"/>
              <a:ext cx="10960105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8235508-5A28-DD3A-F598-1FBD1167AFEB}"/>
                </a:ext>
              </a:extLst>
            </p:cNvPr>
            <p:cNvSpPr txBox="1"/>
            <p:nvPr/>
          </p:nvSpPr>
          <p:spPr>
            <a:xfrm>
              <a:off x="1823834" y="3951615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Руководитель</a:t>
              </a:r>
              <a:endParaRPr lang="en-US" dirty="0">
                <a:latin typeface="Comfortaa Medium" pitchFamily="2" charset="0"/>
              </a:endParaRPr>
            </a:p>
          </p:txBody>
        </p:sp>
        <p:sp>
          <p:nvSpPr>
            <p:cNvPr id="38" name="Овал 37">
              <a:extLst>
                <a:ext uri="{FF2B5EF4-FFF2-40B4-BE49-F238E27FC236}">
                  <a16:creationId xmlns:a16="http://schemas.microsoft.com/office/drawing/2014/main" id="{4BC0F6A8-8849-BF83-8D56-BE8A4B580853}"/>
                </a:ext>
              </a:extLst>
            </p:cNvPr>
            <p:cNvSpPr/>
            <p:nvPr/>
          </p:nvSpPr>
          <p:spPr>
            <a:xfrm>
              <a:off x="1217221" y="3987648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8788DA6-AA4F-1B3F-A4DA-8D765873D255}"/>
                </a:ext>
              </a:extLst>
            </p:cNvPr>
            <p:cNvSpPr txBox="1"/>
            <p:nvPr/>
          </p:nvSpPr>
          <p:spPr>
            <a:xfrm>
              <a:off x="1115613" y="4097764"/>
              <a:ext cx="76200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МЮ</a:t>
              </a:r>
            </a:p>
          </p:txBody>
        </p:sp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31CF1F-26BE-DF11-3CEE-67D402D04828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4D1493E9-7649-B002-3069-B806405014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937E7583-A00A-86F4-4CB2-EE0302FD9D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13" name="Рисунок 12">
              <a:extLst>
                <a:ext uri="{FF2B5EF4-FFF2-40B4-BE49-F238E27FC236}">
                  <a16:creationId xmlns:a16="http://schemas.microsoft.com/office/drawing/2014/main" id="{943CBD71-C142-C7DA-0969-4CCCFE839E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FB3DA891-A08C-A0DD-138E-3FA3867ED0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87014C81-3923-AEAB-9333-82AC16947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EF0D29F3-16FE-CD62-DE0F-F1AECC41371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E1C1336A-21A4-E2DC-7B39-1FA35781F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9FE5CF20-F773-FACB-4387-5593997DF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D5DA9779-0CDE-FF38-AEFA-168C872C4161}"/>
              </a:ext>
            </a:extLst>
          </p:cNvPr>
          <p:cNvSpPr txBox="1">
            <a:spLocks/>
          </p:cNvSpPr>
          <p:nvPr/>
        </p:nvSpPr>
        <p:spPr>
          <a:xfrm>
            <a:off x="1949446" y="2682215"/>
            <a:ext cx="9144000" cy="89018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3200" dirty="0">
                <a:latin typeface="Comfortaa Medium" pitchFamily="2" charset="0"/>
              </a:rPr>
              <a:t>КУРСОВОЙ ПРОЕКТ</a:t>
            </a:r>
          </a:p>
          <a:p>
            <a:r>
              <a:rPr lang="ru-RU" dirty="0">
                <a:latin typeface="Comfortaa Medium" pitchFamily="2" charset="0"/>
              </a:rPr>
              <a:t>РАЗРАБОТКА ПОДССИТЕМЫ УЧЕТА НОМЕРНОГО ФОНДА ОБЩЕЖИТИЯ</a:t>
            </a:r>
          </a:p>
        </p:txBody>
      </p:sp>
    </p:spTree>
    <p:extLst>
      <p:ext uri="{BB962C8B-B14F-4D97-AF65-F5344CB8AC3E}">
        <p14:creationId xmlns:p14="http://schemas.microsoft.com/office/powerpoint/2010/main" val="443317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747E1BC8-BF02-BF52-FE7B-B315998BA977}"/>
              </a:ext>
            </a:extLst>
          </p:cNvPr>
          <p:cNvGrpSpPr/>
          <p:nvPr/>
        </p:nvGrpSpPr>
        <p:grpSpPr>
          <a:xfrm>
            <a:off x="883444" y="90039"/>
            <a:ext cx="11206162" cy="786262"/>
            <a:chOff x="883444" y="90039"/>
            <a:chExt cx="11206162" cy="786262"/>
          </a:xfrm>
        </p:grpSpPr>
        <p:sp>
          <p:nvSpPr>
            <p:cNvPr id="6" name="Прямоугольник: скругленные углы 5">
              <a:extLst>
                <a:ext uri="{FF2B5EF4-FFF2-40B4-BE49-F238E27FC236}">
                  <a16:creationId xmlns:a16="http://schemas.microsoft.com/office/drawing/2014/main" id="{098A26E4-6008-04F1-A835-622B51F65FCB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62CB1CD-718C-169B-8CC7-B29262F1C4B5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2/9</a:t>
              </a:r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B45FB0-A546-4878-5B8B-7AEECEA52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Актуальность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E2651D8-82F1-DAC5-2FA4-9D5E80476B9C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323CD4FC-B923-9AFC-D01D-84A9227D264D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992D9EF8-DA57-A9BD-1209-1ABCD0412526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31" name="Прямоугольник: скругленные углы 30">
                <a:extLst>
                  <a:ext uri="{FF2B5EF4-FFF2-40B4-BE49-F238E27FC236}">
                    <a16:creationId xmlns:a16="http://schemas.microsoft.com/office/drawing/2014/main" id="{47D322F2-A15E-35D7-A752-E385229E9FFB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32" name="Рисунок 31">
                <a:extLst>
                  <a:ext uri="{FF2B5EF4-FFF2-40B4-BE49-F238E27FC236}">
                    <a16:creationId xmlns:a16="http://schemas.microsoft.com/office/drawing/2014/main" id="{A38F5EC5-EA18-3E5B-56F6-682F425A79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30" name="Прямая соединительная линия 29">
              <a:extLst>
                <a:ext uri="{FF2B5EF4-FFF2-40B4-BE49-F238E27FC236}">
                  <a16:creationId xmlns:a16="http://schemas.microsoft.com/office/drawing/2014/main" id="{1DA1D387-42D7-B864-220D-CF3CD949D534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93EB1A61-9C63-85DE-171B-EE2ECA154707}"/>
              </a:ext>
            </a:extLst>
          </p:cNvPr>
          <p:cNvSpPr/>
          <p:nvPr/>
        </p:nvSpPr>
        <p:spPr>
          <a:xfrm>
            <a:off x="190500" y="1436284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1" name="Прямоугольник: скругленные углы 90">
            <a:extLst>
              <a:ext uri="{FF2B5EF4-FFF2-40B4-BE49-F238E27FC236}">
                <a16:creationId xmlns:a16="http://schemas.microsoft.com/office/drawing/2014/main" id="{51B582E9-BF52-F7D1-39A3-296C0D7F3323}"/>
              </a:ext>
            </a:extLst>
          </p:cNvPr>
          <p:cNvSpPr/>
          <p:nvPr/>
        </p:nvSpPr>
        <p:spPr>
          <a:xfrm>
            <a:off x="7127666" y="2710331"/>
            <a:ext cx="4784939" cy="1923255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6ABDBE-AE03-FD30-9B5E-A4012349ED3D}"/>
              </a:ext>
            </a:extLst>
          </p:cNvPr>
          <p:cNvSpPr txBox="1"/>
          <p:nvPr/>
        </p:nvSpPr>
        <p:spPr>
          <a:xfrm>
            <a:off x="7235690" y="2817686"/>
            <a:ext cx="4568890" cy="1708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dirty="0">
                <a:latin typeface="Comfortaa Medium" pitchFamily="2" charset="0"/>
              </a:rPr>
              <a:t>Отсутствие единой системы учета осложняет управление фондом студенческих общежитий.</a:t>
            </a:r>
            <a:endParaRPr lang="ru-RU" sz="1800" b="0" i="0" u="none" strike="noStrike" cap="none" dirty="0">
              <a:solidFill>
                <a:schemeClr val="dk1"/>
              </a:solidFill>
              <a:latin typeface="Comfortaa Medium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Скачать картинки Куча бумаг, стоковые фото Куча бумаг в ...">
            <a:extLst>
              <a:ext uri="{FF2B5EF4-FFF2-40B4-BE49-F238E27FC236}">
                <a16:creationId xmlns:a16="http://schemas.microsoft.com/office/drawing/2014/main" id="{46FCE9F9-7F4E-6496-A377-697DCB8F10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80912" y1="32432" x2="75169" y2="20120"/>
                        <a14:foregroundMark x1="75169" y1="20120" x2="84122" y2="23423"/>
                        <a14:foregroundMark x1="88851" y1="15015" x2="80236" y2="14715"/>
                        <a14:foregroundMark x1="72128" y1="85886" x2="86149" y2="89189"/>
                        <a14:foregroundMark x1="86149" y1="89189" x2="88682" y2="87387"/>
                        <a14:foregroundMark x1="58446" y1="88589" x2="58108" y2="42643"/>
                        <a14:foregroundMark x1="58108" y1="42643" x2="44595" y2="40841"/>
                        <a14:foregroundMark x1="44595" y1="40841" x2="40114" y2="55131"/>
                        <a14:foregroundMark x1="39311" y1="64993" x2="40034" y2="74174"/>
                        <a14:foregroundMark x1="40034" y1="74174" x2="55574" y2="88889"/>
                        <a14:foregroundMark x1="55574" y1="88889" x2="58615" y2="89189"/>
                        <a14:foregroundMark x1="9966" y1="68168" x2="24324" y2="68468"/>
                        <a14:foregroundMark x1="24324" y1="68468" x2="27365" y2="86486"/>
                        <a14:foregroundMark x1="27365" y1="86486" x2="16723" y2="86186"/>
                        <a14:foregroundMark x1="16723" y1="86186" x2="10473" y2="74775"/>
                        <a14:foregroundMark x1="10473" y1="74775" x2="10642" y2="70270"/>
                        <a14:backgroundMark x1="39020" y1="54955" x2="38514" y2="648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022" t="10350" r="8680" b="7103"/>
          <a:stretch>
            <a:fillRect/>
          </a:stretch>
        </p:blipFill>
        <p:spPr bwMode="auto">
          <a:xfrm>
            <a:off x="1231169" y="2087524"/>
            <a:ext cx="5617102" cy="3131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3" name="Стрелка: вправо 92">
            <a:extLst>
              <a:ext uri="{FF2B5EF4-FFF2-40B4-BE49-F238E27FC236}">
                <a16:creationId xmlns:a16="http://schemas.microsoft.com/office/drawing/2014/main" id="{89B02C87-EA98-D2D3-171E-8F8682601E35}"/>
              </a:ext>
            </a:extLst>
          </p:cNvPr>
          <p:cNvSpPr/>
          <p:nvPr/>
        </p:nvSpPr>
        <p:spPr>
          <a:xfrm>
            <a:off x="1322686" y="5313731"/>
            <a:ext cx="5525585" cy="167330"/>
          </a:xfrm>
          <a:prstGeom prst="rightArrow">
            <a:avLst>
              <a:gd name="adj1" fmla="val 50000"/>
              <a:gd name="adj2" fmla="val 150859"/>
            </a:avLst>
          </a:prstGeom>
          <a:solidFill>
            <a:srgbClr val="FFA726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417E1C23-2CF0-226D-19D9-4F2DBBC79324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FB187DBB-1267-30E1-88C7-F19AEED00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DE4115DD-8AC4-8198-0C7B-BFEBBFEAC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8" name="Рисунок 7">
              <a:extLst>
                <a:ext uri="{FF2B5EF4-FFF2-40B4-BE49-F238E27FC236}">
                  <a16:creationId xmlns:a16="http://schemas.microsoft.com/office/drawing/2014/main" id="{E4A3C36B-3A77-D31A-0C4F-E00E3E166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FAF97CFA-DBCB-CB05-904C-6AE90F1889F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2C155E56-2492-1FAF-9413-8D5E51537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9D4C908E-6A04-85C3-6159-2281DE08A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13" name="Рисунок 12">
              <a:extLst>
                <a:ext uri="{FF2B5EF4-FFF2-40B4-BE49-F238E27FC236}">
                  <a16:creationId xmlns:a16="http://schemas.microsoft.com/office/drawing/2014/main" id="{DE31EBF2-85DA-BCA4-DCBB-960B47FFE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7759E0CF-164D-79B4-E1B2-3D2259C47B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7273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C3AAA3-8104-0526-3C91-2ED810D9D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A4AC019-3873-3FE6-444D-719BDFAA569D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74E61190-ED89-3F56-031B-825A04CEF35C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B21BBA0C-5609-5E3E-9742-999E7BF8B8EF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4A625D29-C1E3-7CE4-FC89-453B6E8B2EDC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1DC6C288-CA15-D473-2D25-97F2F7DC9A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07002B63-8B5E-EDF0-9331-A8A6FE3F0F8C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AEF75079-39BB-1C33-7D54-E4BBBA722F1D}"/>
              </a:ext>
            </a:extLst>
          </p:cNvPr>
          <p:cNvSpPr/>
          <p:nvPr/>
        </p:nvSpPr>
        <p:spPr>
          <a:xfrm>
            <a:off x="190500" y="1973492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41044F8D-5DED-F1F0-E042-CD8C8593EF9E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31D8165E-9242-187B-039C-FE75B8C2A95C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513342F-A85F-9C71-7D97-EFFF75972748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3/9</a:t>
              </a:r>
            </a:p>
          </p:txBody>
        </p:sp>
      </p:grpSp>
      <p:sp>
        <p:nvSpPr>
          <p:cNvPr id="37" name="Заголовок 1">
            <a:extLst>
              <a:ext uri="{FF2B5EF4-FFF2-40B4-BE49-F238E27FC236}">
                <a16:creationId xmlns:a16="http://schemas.microsoft.com/office/drawing/2014/main" id="{DF48DF52-9C21-33D7-D65C-48BF51610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Целевая аудитория</a:t>
            </a:r>
          </a:p>
        </p:txBody>
      </p: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B668F218-94DA-241A-1D25-F78CB22DA5A5}"/>
              </a:ext>
            </a:extLst>
          </p:cNvPr>
          <p:cNvGrpSpPr/>
          <p:nvPr/>
        </p:nvGrpSpPr>
        <p:grpSpPr>
          <a:xfrm>
            <a:off x="1277367" y="1667282"/>
            <a:ext cx="3156980" cy="3732357"/>
            <a:chOff x="1041394" y="1667282"/>
            <a:chExt cx="3156980" cy="3732357"/>
          </a:xfrm>
        </p:grpSpPr>
        <p:sp>
          <p:nvSpPr>
            <p:cNvPr id="45" name="Прямоугольник: скругленные углы 44">
              <a:extLst>
                <a:ext uri="{FF2B5EF4-FFF2-40B4-BE49-F238E27FC236}">
                  <a16:creationId xmlns:a16="http://schemas.microsoft.com/office/drawing/2014/main" id="{672A310A-91B1-96D1-7256-D923F900F72E}"/>
                </a:ext>
              </a:extLst>
            </p:cNvPr>
            <p:cNvSpPr/>
            <p:nvPr/>
          </p:nvSpPr>
          <p:spPr>
            <a:xfrm>
              <a:off x="1041394" y="1667282"/>
              <a:ext cx="3156980" cy="37323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3074" name="Picture 2" descr="Более 70 работ на тему «колледж парк иллюстрации»: стоковые фото, картинки  и изображения royalty-free - iStock">
              <a:extLst>
                <a:ext uri="{FF2B5EF4-FFF2-40B4-BE49-F238E27FC236}">
                  <a16:creationId xmlns:a16="http://schemas.microsoft.com/office/drawing/2014/main" id="{B27A964A-CB08-4BCA-764A-2AD159EAD6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24673" b="75817" l="24510" r="74510">
                          <a14:foregroundMark x1="30229" y1="41993" x2="29902" y2="41993"/>
                          <a14:foregroundMark x1="27778" y1="54085" x2="27778" y2="54085"/>
                          <a14:foregroundMark x1="50163" y1="50163" x2="50163" y2="50163"/>
                          <a14:foregroundMark x1="72712" y1="53105" x2="72712" y2="53105"/>
                          <a14:foregroundMark x1="74510" y1="46242" x2="74510" y2="46242"/>
                          <a14:foregroundMark x1="64216" y1="73366" x2="64216" y2="73366"/>
                          <a14:foregroundMark x1="50490" y1="74183" x2="50490" y2="74183"/>
                          <a14:foregroundMark x1="47876" y1="74346" x2="47876" y2="74346"/>
                          <a14:foregroundMark x1="24673" y1="74183" x2="24673" y2="74183"/>
                          <a14:foregroundMark x1="27288" y1="75817" x2="27288" y2="75817"/>
                          <a14:foregroundMark x1="55229" y1="27124" x2="55229" y2="27124"/>
                          <a14:foregroundMark x1="49673" y1="24673" x2="49673" y2="2467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326" t="22494" r="22676" b="22296"/>
            <a:stretch>
              <a:fillRect/>
            </a:stretch>
          </p:blipFill>
          <p:spPr bwMode="auto">
            <a:xfrm>
              <a:off x="1561772" y="2135385"/>
              <a:ext cx="2116224" cy="20864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ABC9447-49B4-8D28-5198-E2812D3E99EE}"/>
                </a:ext>
              </a:extLst>
            </p:cNvPr>
            <p:cNvSpPr txBox="1"/>
            <p:nvPr/>
          </p:nvSpPr>
          <p:spPr>
            <a:xfrm>
              <a:off x="1041394" y="4544874"/>
              <a:ext cx="31569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ru-RU" dirty="0">
                  <a:latin typeface="Comfortaa Medium" pitchFamily="2" charset="0"/>
                </a:rPr>
                <a:t>Сотрудники колледжа </a:t>
              </a:r>
            </a:p>
          </p:txBody>
        </p:sp>
      </p:grpSp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69C73553-D1F0-BC41-C3CF-0E6A4AA3A655}"/>
              </a:ext>
            </a:extLst>
          </p:cNvPr>
          <p:cNvGrpSpPr/>
          <p:nvPr/>
        </p:nvGrpSpPr>
        <p:grpSpPr>
          <a:xfrm>
            <a:off x="4932510" y="1703727"/>
            <a:ext cx="3156980" cy="3732357"/>
            <a:chOff x="4932510" y="1703727"/>
            <a:chExt cx="3156980" cy="3732357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1CA3B8BC-5630-AB17-C767-29D1F630DE41}"/>
                </a:ext>
              </a:extLst>
            </p:cNvPr>
            <p:cNvGrpSpPr/>
            <p:nvPr/>
          </p:nvGrpSpPr>
          <p:grpSpPr>
            <a:xfrm>
              <a:off x="4932510" y="1703727"/>
              <a:ext cx="3156980" cy="3732357"/>
              <a:chOff x="4836648" y="1703727"/>
              <a:chExt cx="3156980" cy="3732357"/>
            </a:xfrm>
          </p:grpSpPr>
          <p:sp>
            <p:nvSpPr>
              <p:cNvPr id="47" name="Прямоугольник: скругленные углы 46">
                <a:extLst>
                  <a:ext uri="{FF2B5EF4-FFF2-40B4-BE49-F238E27FC236}">
                    <a16:creationId xmlns:a16="http://schemas.microsoft.com/office/drawing/2014/main" id="{B1B5234B-2937-EF70-546B-A8F040F243C2}"/>
                  </a:ext>
                </a:extLst>
              </p:cNvPr>
              <p:cNvSpPr/>
              <p:nvPr/>
            </p:nvSpPr>
            <p:spPr>
              <a:xfrm>
                <a:off x="4836648" y="1703727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5B6AC38-B55B-1EE9-B637-F6B36BDE7F5D}"/>
                  </a:ext>
                </a:extLst>
              </p:cNvPr>
              <p:cNvSpPr txBox="1"/>
              <p:nvPr/>
            </p:nvSpPr>
            <p:spPr>
              <a:xfrm>
                <a:off x="4836648" y="4581319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ru-RU" dirty="0">
                    <a:latin typeface="Comfortaa Medium" pitchFamily="2" charset="0"/>
                  </a:rPr>
                  <a:t>Коменданты</a:t>
                </a:r>
              </a:p>
            </p:txBody>
          </p:sp>
        </p:grpSp>
        <p:pic>
          <p:nvPicPr>
            <p:cNvPr id="56" name="Picture 4" descr="Корпуса и корпуса для ноутбуков Компьютерные иконки, Ноутбук, электроника,  прямоугольник png | PNGEgg">
              <a:extLst>
                <a:ext uri="{FF2B5EF4-FFF2-40B4-BE49-F238E27FC236}">
                  <a16:creationId xmlns:a16="http://schemas.microsoft.com/office/drawing/2014/main" id="{4AADC2EE-5AAB-B45D-9931-67E3DE0A185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34" t="8844" r="20935" b="8844"/>
            <a:stretch>
              <a:fillRect/>
            </a:stretch>
          </p:blipFill>
          <p:spPr bwMode="auto">
            <a:xfrm>
              <a:off x="5401022" y="2486555"/>
              <a:ext cx="2219956" cy="1788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9" name="Группа 58">
            <a:extLst>
              <a:ext uri="{FF2B5EF4-FFF2-40B4-BE49-F238E27FC236}">
                <a16:creationId xmlns:a16="http://schemas.microsoft.com/office/drawing/2014/main" id="{9B7602A2-2FDF-C8B2-6C24-54325DC86F6D}"/>
              </a:ext>
            </a:extLst>
          </p:cNvPr>
          <p:cNvGrpSpPr/>
          <p:nvPr/>
        </p:nvGrpSpPr>
        <p:grpSpPr>
          <a:xfrm>
            <a:off x="8587653" y="1703727"/>
            <a:ext cx="3156980" cy="3732357"/>
            <a:chOff x="8587653" y="1703727"/>
            <a:chExt cx="3156980" cy="3732357"/>
          </a:xfrm>
        </p:grpSpPr>
        <p:grpSp>
          <p:nvGrpSpPr>
            <p:cNvPr id="53" name="Группа 52">
              <a:extLst>
                <a:ext uri="{FF2B5EF4-FFF2-40B4-BE49-F238E27FC236}">
                  <a16:creationId xmlns:a16="http://schemas.microsoft.com/office/drawing/2014/main" id="{1D97C07C-3177-14F0-6015-F83B72D7CD23}"/>
                </a:ext>
              </a:extLst>
            </p:cNvPr>
            <p:cNvGrpSpPr/>
            <p:nvPr/>
          </p:nvGrpSpPr>
          <p:grpSpPr>
            <a:xfrm>
              <a:off x="8587653" y="1703727"/>
              <a:ext cx="3156980" cy="3732357"/>
              <a:chOff x="8351680" y="1703727"/>
              <a:chExt cx="3156980" cy="3732357"/>
            </a:xfrm>
          </p:grpSpPr>
          <p:sp>
            <p:nvSpPr>
              <p:cNvPr id="50" name="Прямоугольник: скругленные углы 49">
                <a:extLst>
                  <a:ext uri="{FF2B5EF4-FFF2-40B4-BE49-F238E27FC236}">
                    <a16:creationId xmlns:a16="http://schemas.microsoft.com/office/drawing/2014/main" id="{24239B64-5F5D-6950-4554-29F0D85EBE6B}"/>
                  </a:ext>
                </a:extLst>
              </p:cNvPr>
              <p:cNvSpPr/>
              <p:nvPr/>
            </p:nvSpPr>
            <p:spPr>
              <a:xfrm>
                <a:off x="8351680" y="1703727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91BCC79-35C4-2EB1-2432-E8814CE9A578}"/>
                  </a:ext>
                </a:extLst>
              </p:cNvPr>
              <p:cNvSpPr txBox="1"/>
              <p:nvPr/>
            </p:nvSpPr>
            <p:spPr>
              <a:xfrm>
                <a:off x="8351680" y="4581319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ru-RU" dirty="0">
                    <a:latin typeface="Comfortaa Medium" pitchFamily="2" charset="0"/>
                  </a:rPr>
                  <a:t>Воспитатели</a:t>
                </a:r>
              </a:p>
            </p:txBody>
          </p:sp>
        </p:grpSp>
        <p:pic>
          <p:nvPicPr>
            <p:cNvPr id="57" name="Picture 6" descr="Иконка «Мобильный телефон» | MyWebIcons">
              <a:extLst>
                <a:ext uri="{FF2B5EF4-FFF2-40B4-BE49-F238E27FC236}">
                  <a16:creationId xmlns:a16="http://schemas.microsoft.com/office/drawing/2014/main" id="{3279BDCE-9155-491C-28A0-84D474BAFA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27067" y="2241592"/>
              <a:ext cx="2278152" cy="2278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98B4E41E-65C6-10BB-B339-91583D96E24C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29606D41-A4B8-45B1-DEAE-8964D760D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C381703B-459A-6995-BC66-FFBD58629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63E5BD7F-DCD1-6AC4-75D0-C9857A3A8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5CFBD4D0-A054-B5E1-588B-C0660204F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088C3D71-69CA-A510-0354-7DF6C49BB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8" name="Рисунок 7">
              <a:extLst>
                <a:ext uri="{FF2B5EF4-FFF2-40B4-BE49-F238E27FC236}">
                  <a16:creationId xmlns:a16="http://schemas.microsoft.com/office/drawing/2014/main" id="{2C76C3BC-1D9A-2022-D2C8-7D4816914B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242195E8-3986-C6E7-4778-FAF5FD1CC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1223E759-8472-7FC3-662D-65265EA2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426389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C2D230-5E2F-E325-51E5-751E18A28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8179BD8-434D-E377-5979-C4FA626D1747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2F39621-8D97-E7F5-6230-E62C9BE3E31B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558FBF24-B85F-1CF1-1DCC-1A922877D3EE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0" name="Прямоугольник: скругленные углы 9">
                <a:extLst>
                  <a:ext uri="{FF2B5EF4-FFF2-40B4-BE49-F238E27FC236}">
                    <a16:creationId xmlns:a16="http://schemas.microsoft.com/office/drawing/2014/main" id="{C8B49818-89C4-C906-29BB-8FF585F0470F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DDDD813E-778C-61A1-2F5D-0DF7579F81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9" name="Прямая соединительная линия 8">
              <a:extLst>
                <a:ext uri="{FF2B5EF4-FFF2-40B4-BE49-F238E27FC236}">
                  <a16:creationId xmlns:a16="http://schemas.microsoft.com/office/drawing/2014/main" id="{5F58E534-8616-6CA2-546B-B5952FFAA2D3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A170462-05E0-7B49-9C7B-40D23D49E2FD}"/>
              </a:ext>
            </a:extLst>
          </p:cNvPr>
          <p:cNvSpPr/>
          <p:nvPr/>
        </p:nvSpPr>
        <p:spPr>
          <a:xfrm>
            <a:off x="190500" y="2502716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640EE331-EACE-0411-88AA-51F3B2801793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31" name="Прямоугольник: скругленные углы 30">
              <a:extLst>
                <a:ext uri="{FF2B5EF4-FFF2-40B4-BE49-F238E27FC236}">
                  <a16:creationId xmlns:a16="http://schemas.microsoft.com/office/drawing/2014/main" id="{86675127-E6A3-8C2B-5FD3-DBF0040BE859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86F1E44-675C-14A8-954D-5CEA94321389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4/9</a:t>
              </a:r>
            </a:p>
          </p:txBody>
        </p:sp>
      </p:grpSp>
      <p:sp>
        <p:nvSpPr>
          <p:cNvPr id="33" name="Заголовок 1">
            <a:extLst>
              <a:ext uri="{FF2B5EF4-FFF2-40B4-BE49-F238E27FC236}">
                <a16:creationId xmlns:a16="http://schemas.microsoft.com/office/drawing/2014/main" id="{0BC68D25-943F-54DB-C85C-1B6CC3F3F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Цель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000D640C-E531-52FB-47F5-107B814FC764}"/>
              </a:ext>
            </a:extLst>
          </p:cNvPr>
          <p:cNvGrpSpPr/>
          <p:nvPr/>
        </p:nvGrpSpPr>
        <p:grpSpPr>
          <a:xfrm>
            <a:off x="814397" y="1284696"/>
            <a:ext cx="11165127" cy="914400"/>
            <a:chOff x="875950" y="5572029"/>
            <a:chExt cx="11165127" cy="914400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4B02BAC1-B22E-517E-186A-FB73DF66B5DD}"/>
                </a:ext>
              </a:extLst>
            </p:cNvPr>
            <p:cNvSpPr/>
            <p:nvPr/>
          </p:nvSpPr>
          <p:spPr>
            <a:xfrm>
              <a:off x="896468" y="5572029"/>
              <a:ext cx="11124091" cy="914400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ECCE9956-BE87-634D-FD3E-7704307BE1D2}"/>
                </a:ext>
              </a:extLst>
            </p:cNvPr>
            <p:cNvGrpSpPr/>
            <p:nvPr/>
          </p:nvGrpSpPr>
          <p:grpSpPr>
            <a:xfrm>
              <a:off x="875950" y="5659897"/>
              <a:ext cx="11165127" cy="738664"/>
              <a:chOff x="875950" y="5622338"/>
              <a:chExt cx="11165127" cy="738664"/>
            </a:xfrm>
          </p:grpSpPr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FEF581E-062D-5219-D5E2-E90588C873A5}"/>
                  </a:ext>
                </a:extLst>
              </p:cNvPr>
              <p:cNvSpPr txBox="1"/>
              <p:nvPr/>
            </p:nvSpPr>
            <p:spPr>
              <a:xfrm>
                <a:off x="875950" y="5622338"/>
                <a:ext cx="1112409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-RU" sz="1800" b="1" i="0" u="none" strike="noStrike" cap="none" dirty="0">
                    <a:solidFill>
                      <a:srgbClr val="0E0E0E"/>
                    </a:solidFill>
                    <a:latin typeface="Comfortaa SemiBold" pitchFamily="2" charset="0"/>
                    <a:ea typeface="Pacifico"/>
                    <a:cs typeface="Pacifico"/>
                    <a:sym typeface="Pacifico"/>
                  </a:rPr>
                  <a:t>Разработать веб</a:t>
                </a:r>
                <a:r>
                  <a:rPr lang="en-US" sz="1800" b="1" i="0" u="none" strike="noStrike" cap="none" dirty="0">
                    <a:solidFill>
                      <a:srgbClr val="0E0E0E"/>
                    </a:solidFill>
                    <a:latin typeface="Comfortaa SemiBold" pitchFamily="2" charset="0"/>
                    <a:ea typeface="Pacifico"/>
                    <a:cs typeface="Pacifico"/>
                    <a:sym typeface="Pacifico"/>
                  </a:rPr>
                  <a:t>-</a:t>
                </a:r>
                <a:r>
                  <a:rPr lang="ru-RU" sz="1800" b="1" i="0" u="none" strike="noStrike" cap="none" dirty="0">
                    <a:solidFill>
                      <a:srgbClr val="0E0E0E"/>
                    </a:solidFill>
                    <a:latin typeface="Comfortaa SemiBold" pitchFamily="2" charset="0"/>
                    <a:ea typeface="Pacifico"/>
                    <a:cs typeface="Pacifico"/>
                    <a:sym typeface="Pacifico"/>
                  </a:rPr>
                  <a:t>приложение</a:t>
                </a:r>
                <a:endParaRPr lang="ru-RU" sz="1800" b="1" i="0" u="none" strike="noStrike" cap="none" dirty="0">
                  <a:solidFill>
                    <a:schemeClr val="dk1"/>
                  </a:solidFill>
                  <a:latin typeface="Comfortaa SemiBold" pitchFamily="2" charset="0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AF0EA88D-FEF7-72B0-DCF0-3D156DDF4C27}"/>
                  </a:ext>
                </a:extLst>
              </p:cNvPr>
              <p:cNvSpPr txBox="1"/>
              <p:nvPr/>
            </p:nvSpPr>
            <p:spPr>
              <a:xfrm>
                <a:off x="916986" y="5991670"/>
                <a:ext cx="1112409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-RU" dirty="0">
                    <a:solidFill>
                      <a:srgbClr val="0E0E0E"/>
                    </a:solidFill>
                    <a:latin typeface="Calibri"/>
                    <a:ea typeface="Calibri"/>
                    <a:cs typeface="Poppins"/>
                    <a:sym typeface="Poppins"/>
                  </a:rPr>
                  <a:t>к</a:t>
                </a:r>
                <a:r>
                  <a:rPr lang="ru-RU" sz="1800" dirty="0">
                    <a:solidFill>
                      <a:srgbClr val="0E0E0E"/>
                    </a:solidFill>
                    <a:latin typeface="Calibri"/>
                    <a:ea typeface="Calibri"/>
                    <a:cs typeface="Poppins"/>
                    <a:sym typeface="Poppins"/>
                  </a:rPr>
                  <a:t>оторое будет обеспечивать упрощенную форму учета </a:t>
                </a:r>
                <a:r>
                  <a:rPr lang="ru-RU" dirty="0">
                    <a:solidFill>
                      <a:srgbClr val="0E0E0E"/>
                    </a:solidFill>
                    <a:latin typeface="Calibri"/>
                    <a:ea typeface="Calibri"/>
                    <a:cs typeface="Poppins"/>
                    <a:sym typeface="Poppins"/>
                  </a:rPr>
                  <a:t>данных о студентах проживающих в общежитии</a:t>
                </a:r>
                <a:endParaRPr lang="ru-RU" sz="18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C6C31C23-06C4-484D-7DD4-80B7BF6D955B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95F00F95-8D48-2AE4-2EB7-072208C1DD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DEB2EDB8-E4B5-0A31-BEBC-C38CFED5DA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24DB426E-F30E-7349-E1A2-D1A3F22C0F7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2878D57B-3A9E-028F-215F-7246130DB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6E44BFFD-BDEF-57EB-B976-555EA17D49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28" name="Рисунок 27">
              <a:extLst>
                <a:ext uri="{FF2B5EF4-FFF2-40B4-BE49-F238E27FC236}">
                  <a16:creationId xmlns:a16="http://schemas.microsoft.com/office/drawing/2014/main" id="{86161DEF-8C82-269A-6C61-DC87EFD608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29" name="Рисунок 28">
              <a:extLst>
                <a:ext uri="{FF2B5EF4-FFF2-40B4-BE49-F238E27FC236}">
                  <a16:creationId xmlns:a16="http://schemas.microsoft.com/office/drawing/2014/main" id="{05282F15-BBE3-2A03-581C-F2A850E2D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34" name="Рисунок 33">
              <a:extLst>
                <a:ext uri="{FF2B5EF4-FFF2-40B4-BE49-F238E27FC236}">
                  <a16:creationId xmlns:a16="http://schemas.microsoft.com/office/drawing/2014/main" id="{38DF1CE5-7BEA-A9AE-EF3C-501DBD8128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pic>
        <p:nvPicPr>
          <p:cNvPr id="1026" name="Picture 2" descr="Цель – Бесплатные иконки: бизнес">
            <a:extLst>
              <a:ext uri="{FF2B5EF4-FFF2-40B4-BE49-F238E27FC236}">
                <a16:creationId xmlns:a16="http://schemas.microsoft.com/office/drawing/2014/main" id="{422E6DCE-A80C-89A9-EE64-8B16C7C2A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648" y="2589405"/>
            <a:ext cx="3602803" cy="360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029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C4A3A-E7AE-1EEA-AACD-F062DA6D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BD17C0-A51A-CF5A-789B-FCA8B006F758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13444270-A7CF-6A25-83D2-30D3F7A0667E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3" name="Группа 12">
              <a:extLst>
                <a:ext uri="{FF2B5EF4-FFF2-40B4-BE49-F238E27FC236}">
                  <a16:creationId xmlns:a16="http://schemas.microsoft.com/office/drawing/2014/main" id="{C9D625A6-F6E9-01F1-C603-54AB99960421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5" name="Прямоугольник: скругленные углы 14">
                <a:extLst>
                  <a:ext uri="{FF2B5EF4-FFF2-40B4-BE49-F238E27FC236}">
                    <a16:creationId xmlns:a16="http://schemas.microsoft.com/office/drawing/2014/main" id="{99C6FC1B-8158-CC06-911B-C50EDC16CCE2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6" name="Рисунок 15">
                <a:extLst>
                  <a:ext uri="{FF2B5EF4-FFF2-40B4-BE49-F238E27FC236}">
                    <a16:creationId xmlns:a16="http://schemas.microsoft.com/office/drawing/2014/main" id="{A104D42A-1122-67F0-BC2F-783D9EFCA8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F403E0C8-F0A7-CE89-4CCF-BF1AA9020A59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316B16E-9114-399C-58AF-B4FFEF439296}"/>
              </a:ext>
            </a:extLst>
          </p:cNvPr>
          <p:cNvSpPr/>
          <p:nvPr/>
        </p:nvSpPr>
        <p:spPr>
          <a:xfrm>
            <a:off x="190500" y="3056522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3E32DADE-8EF1-C685-51E0-9EABA754DD77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29" name="Прямоугольник: скругленные углы 28">
              <a:extLst>
                <a:ext uri="{FF2B5EF4-FFF2-40B4-BE49-F238E27FC236}">
                  <a16:creationId xmlns:a16="http://schemas.microsoft.com/office/drawing/2014/main" id="{BCD1B29D-884A-3FA3-B58D-7D6429611076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AE01806-1140-3605-FBD6-1B1BD393300C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5/9</a:t>
              </a:r>
            </a:p>
          </p:txBody>
        </p:sp>
      </p:grp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D556D082-06BB-B253-83D2-0E267DA5F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Задачи</a:t>
            </a:r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2263EF27-B39A-9D88-784C-0C80A129C85A}"/>
              </a:ext>
            </a:extLst>
          </p:cNvPr>
          <p:cNvGrpSpPr/>
          <p:nvPr/>
        </p:nvGrpSpPr>
        <p:grpSpPr>
          <a:xfrm>
            <a:off x="952500" y="1187444"/>
            <a:ext cx="5322678" cy="936757"/>
            <a:chOff x="1041393" y="3810289"/>
            <a:chExt cx="5322678" cy="936757"/>
          </a:xfrm>
        </p:grpSpPr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92C194BA-5EF5-48BB-CE7F-F40D7A20A382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882F559-3189-FD6D-CC17-85E342FDFB88}"/>
                </a:ext>
              </a:extLst>
            </p:cNvPr>
            <p:cNvSpPr txBox="1"/>
            <p:nvPr/>
          </p:nvSpPr>
          <p:spPr>
            <a:xfrm>
              <a:off x="1776007" y="3908537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Анализ целевой аудитории и потребностей</a:t>
              </a:r>
            </a:p>
          </p:txBody>
        </p:sp>
        <p:sp>
          <p:nvSpPr>
            <p:cNvPr id="37" name="Овал 36">
              <a:extLst>
                <a:ext uri="{FF2B5EF4-FFF2-40B4-BE49-F238E27FC236}">
                  <a16:creationId xmlns:a16="http://schemas.microsoft.com/office/drawing/2014/main" id="{37CC72B0-36C1-57A8-7F89-1E194456A5D6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983E0A2-6B81-46A5-B265-C1EA26B6798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1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5A63F0CE-C1CC-70F9-F254-34F0EF7ECB05}"/>
              </a:ext>
            </a:extLst>
          </p:cNvPr>
          <p:cNvGrpSpPr/>
          <p:nvPr/>
        </p:nvGrpSpPr>
        <p:grpSpPr>
          <a:xfrm>
            <a:off x="952500" y="2530430"/>
            <a:ext cx="5322678" cy="936757"/>
            <a:chOff x="1041393" y="3810289"/>
            <a:chExt cx="5322678" cy="936757"/>
          </a:xfrm>
        </p:grpSpPr>
        <p:sp>
          <p:nvSpPr>
            <p:cNvPr id="40" name="Прямоугольник: скругленные углы 39">
              <a:extLst>
                <a:ext uri="{FF2B5EF4-FFF2-40B4-BE49-F238E27FC236}">
                  <a16:creationId xmlns:a16="http://schemas.microsoft.com/office/drawing/2014/main" id="{6952F47D-2E87-8CE6-29F6-A324D10A5AA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6D3810-38BB-1761-006F-0474B15F1129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Проектирование архитектуры</a:t>
              </a:r>
            </a:p>
          </p:txBody>
        </p:sp>
        <p:sp>
          <p:nvSpPr>
            <p:cNvPr id="42" name="Овал 41">
              <a:extLst>
                <a:ext uri="{FF2B5EF4-FFF2-40B4-BE49-F238E27FC236}">
                  <a16:creationId xmlns:a16="http://schemas.microsoft.com/office/drawing/2014/main" id="{B873F9C1-4DAC-FFC7-9855-93FD64CFA06A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CA39B19-AD61-34FC-D388-1E9203487C3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2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B3A554DB-15EF-3D4D-D54C-0C50BDCE5843}"/>
              </a:ext>
            </a:extLst>
          </p:cNvPr>
          <p:cNvGrpSpPr/>
          <p:nvPr/>
        </p:nvGrpSpPr>
        <p:grpSpPr>
          <a:xfrm>
            <a:off x="952500" y="3873416"/>
            <a:ext cx="5322678" cy="936757"/>
            <a:chOff x="1041393" y="3810289"/>
            <a:chExt cx="5322678" cy="936757"/>
          </a:xfrm>
        </p:grpSpPr>
        <p:sp>
          <p:nvSpPr>
            <p:cNvPr id="57" name="Прямоугольник: скругленные углы 56">
              <a:extLst>
                <a:ext uri="{FF2B5EF4-FFF2-40B4-BE49-F238E27FC236}">
                  <a16:creationId xmlns:a16="http://schemas.microsoft.com/office/drawing/2014/main" id="{C9430649-466A-CBF3-28E0-E630717422D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AAB5DCA-D418-676C-5262-9C98DFBE982A}"/>
                </a:ext>
              </a:extLst>
            </p:cNvPr>
            <p:cNvSpPr txBox="1"/>
            <p:nvPr/>
          </p:nvSpPr>
          <p:spPr>
            <a:xfrm>
              <a:off x="1823834" y="3947562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структуры базы данных</a:t>
              </a:r>
            </a:p>
          </p:txBody>
        </p:sp>
        <p:sp>
          <p:nvSpPr>
            <p:cNvPr id="59" name="Овал 58">
              <a:extLst>
                <a:ext uri="{FF2B5EF4-FFF2-40B4-BE49-F238E27FC236}">
                  <a16:creationId xmlns:a16="http://schemas.microsoft.com/office/drawing/2014/main" id="{0D0F482E-98A4-5127-C6FA-62B0A6B27197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2B39EB9-1922-6491-8896-469708E04313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3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1" name="Группа 80">
            <a:extLst>
              <a:ext uri="{FF2B5EF4-FFF2-40B4-BE49-F238E27FC236}">
                <a16:creationId xmlns:a16="http://schemas.microsoft.com/office/drawing/2014/main" id="{0E569526-ED5C-D578-CA4C-406EB7C8FA19}"/>
              </a:ext>
            </a:extLst>
          </p:cNvPr>
          <p:cNvGrpSpPr/>
          <p:nvPr/>
        </p:nvGrpSpPr>
        <p:grpSpPr>
          <a:xfrm>
            <a:off x="994778" y="5216402"/>
            <a:ext cx="5322678" cy="936757"/>
            <a:chOff x="1041393" y="3810289"/>
            <a:chExt cx="5322678" cy="936757"/>
          </a:xfrm>
        </p:grpSpPr>
        <p:sp>
          <p:nvSpPr>
            <p:cNvPr id="82" name="Прямоугольник: скругленные углы 81">
              <a:extLst>
                <a:ext uri="{FF2B5EF4-FFF2-40B4-BE49-F238E27FC236}">
                  <a16:creationId xmlns:a16="http://schemas.microsoft.com/office/drawing/2014/main" id="{2847B3B2-5F0C-7EF4-01C0-E18EC0D67E7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86343CC-571B-B925-5202-E163532D84F6}"/>
                </a:ext>
              </a:extLst>
            </p:cNvPr>
            <p:cNvSpPr txBox="1"/>
            <p:nvPr/>
          </p:nvSpPr>
          <p:spPr>
            <a:xfrm>
              <a:off x="1823834" y="4078252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интерфейса</a:t>
              </a:r>
            </a:p>
          </p:txBody>
        </p:sp>
        <p:sp>
          <p:nvSpPr>
            <p:cNvPr id="84" name="Овал 83">
              <a:extLst>
                <a:ext uri="{FF2B5EF4-FFF2-40B4-BE49-F238E27FC236}">
                  <a16:creationId xmlns:a16="http://schemas.microsoft.com/office/drawing/2014/main" id="{D70F06E0-0109-B4AD-1416-9D3A92A8BA8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BE52EEE-79B3-7B66-F062-86C16AB1680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4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D49125A3-F675-F4DD-E9A3-93C7FB6F573E}"/>
              </a:ext>
            </a:extLst>
          </p:cNvPr>
          <p:cNvGrpSpPr/>
          <p:nvPr/>
        </p:nvGrpSpPr>
        <p:grpSpPr>
          <a:xfrm>
            <a:off x="6658983" y="1188969"/>
            <a:ext cx="5322678" cy="936757"/>
            <a:chOff x="1041393" y="3810289"/>
            <a:chExt cx="5322678" cy="936757"/>
          </a:xfrm>
        </p:grpSpPr>
        <p:sp>
          <p:nvSpPr>
            <p:cNvPr id="87" name="Прямоугольник: скругленные углы 86">
              <a:extLst>
                <a:ext uri="{FF2B5EF4-FFF2-40B4-BE49-F238E27FC236}">
                  <a16:creationId xmlns:a16="http://schemas.microsoft.com/office/drawing/2014/main" id="{A74C4349-9036-FD47-3B91-331CDCE29D4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C977B90-0D6B-545E-9150-C52B003AAECF}"/>
                </a:ext>
              </a:extLst>
            </p:cNvPr>
            <p:cNvSpPr txBox="1"/>
            <p:nvPr/>
          </p:nvSpPr>
          <p:spPr>
            <a:xfrm>
              <a:off x="1823834" y="3971275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Реализация модулей подсистемы</a:t>
              </a:r>
            </a:p>
          </p:txBody>
        </p:sp>
        <p:sp>
          <p:nvSpPr>
            <p:cNvPr id="89" name="Овал 88">
              <a:extLst>
                <a:ext uri="{FF2B5EF4-FFF2-40B4-BE49-F238E27FC236}">
                  <a16:creationId xmlns:a16="http://schemas.microsoft.com/office/drawing/2014/main" id="{6CE8D0CD-C3DA-5705-5D42-91B602A3A0BE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4B672B9-DC29-1452-951F-38FF820D9F6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5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1" name="Группа 90">
            <a:extLst>
              <a:ext uri="{FF2B5EF4-FFF2-40B4-BE49-F238E27FC236}">
                <a16:creationId xmlns:a16="http://schemas.microsoft.com/office/drawing/2014/main" id="{345F01F0-B088-3785-3A8C-2F8CDBD49F23}"/>
              </a:ext>
            </a:extLst>
          </p:cNvPr>
          <p:cNvGrpSpPr/>
          <p:nvPr/>
        </p:nvGrpSpPr>
        <p:grpSpPr>
          <a:xfrm>
            <a:off x="6658983" y="2531955"/>
            <a:ext cx="5322678" cy="936757"/>
            <a:chOff x="1041393" y="3810289"/>
            <a:chExt cx="5322678" cy="936757"/>
          </a:xfrm>
        </p:grpSpPr>
        <p:sp>
          <p:nvSpPr>
            <p:cNvPr id="92" name="Прямоугольник: скругленные углы 91">
              <a:extLst>
                <a:ext uri="{FF2B5EF4-FFF2-40B4-BE49-F238E27FC236}">
                  <a16:creationId xmlns:a16="http://schemas.microsoft.com/office/drawing/2014/main" id="{33F2B824-5F8C-0ADE-653B-46149B73506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6AF28F16-75AB-8E3F-EDBD-9FDE2E3FE063}"/>
                </a:ext>
              </a:extLst>
            </p:cNvPr>
            <p:cNvSpPr txBox="1"/>
            <p:nvPr/>
          </p:nvSpPr>
          <p:spPr>
            <a:xfrm>
              <a:off x="1776007" y="3931437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Интеграция модулей подсистемы</a:t>
              </a:r>
            </a:p>
          </p:txBody>
        </p:sp>
        <p:sp>
          <p:nvSpPr>
            <p:cNvPr id="94" name="Овал 93">
              <a:extLst>
                <a:ext uri="{FF2B5EF4-FFF2-40B4-BE49-F238E27FC236}">
                  <a16:creationId xmlns:a16="http://schemas.microsoft.com/office/drawing/2014/main" id="{637AB873-927D-319F-9235-B2339B0F6688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FE43FCC-80F1-B174-00F1-9CB02613598B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6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6" name="Группа 95">
            <a:extLst>
              <a:ext uri="{FF2B5EF4-FFF2-40B4-BE49-F238E27FC236}">
                <a16:creationId xmlns:a16="http://schemas.microsoft.com/office/drawing/2014/main" id="{E3671830-AE90-189A-31C0-344E2F4BCF5D}"/>
              </a:ext>
            </a:extLst>
          </p:cNvPr>
          <p:cNvGrpSpPr/>
          <p:nvPr/>
        </p:nvGrpSpPr>
        <p:grpSpPr>
          <a:xfrm>
            <a:off x="6658983" y="3874941"/>
            <a:ext cx="5322678" cy="936757"/>
            <a:chOff x="1041393" y="3810289"/>
            <a:chExt cx="5322678" cy="936757"/>
          </a:xfrm>
        </p:grpSpPr>
        <p:sp>
          <p:nvSpPr>
            <p:cNvPr id="97" name="Прямоугольник: скругленные углы 96">
              <a:extLst>
                <a:ext uri="{FF2B5EF4-FFF2-40B4-BE49-F238E27FC236}">
                  <a16:creationId xmlns:a16="http://schemas.microsoft.com/office/drawing/2014/main" id="{AE842E35-53A4-9DEF-B4EF-F4527A6AD5E2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0A5374B-0F1A-AD12-4C5B-0360B6CA5AE3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Тестирование</a:t>
              </a:r>
              <a:endParaRPr lang="ru-RU" dirty="0">
                <a:latin typeface="Comfortaa Medium" pitchFamily="2" charset="0"/>
              </a:endParaRPr>
            </a:p>
          </p:txBody>
        </p:sp>
        <p:sp>
          <p:nvSpPr>
            <p:cNvPr id="99" name="Овал 98">
              <a:extLst>
                <a:ext uri="{FF2B5EF4-FFF2-40B4-BE49-F238E27FC236}">
                  <a16:creationId xmlns:a16="http://schemas.microsoft.com/office/drawing/2014/main" id="{87CC053A-D08C-BDD4-72A1-B8C70ACABEFD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C0DFAE3-07E5-4E43-AE89-406C3D869B7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7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1" name="Группа 100">
            <a:extLst>
              <a:ext uri="{FF2B5EF4-FFF2-40B4-BE49-F238E27FC236}">
                <a16:creationId xmlns:a16="http://schemas.microsoft.com/office/drawing/2014/main" id="{6E052527-A590-97E5-4362-F31CEABFD083}"/>
              </a:ext>
            </a:extLst>
          </p:cNvPr>
          <p:cNvGrpSpPr/>
          <p:nvPr/>
        </p:nvGrpSpPr>
        <p:grpSpPr>
          <a:xfrm>
            <a:off x="6701261" y="5217927"/>
            <a:ext cx="5322678" cy="936757"/>
            <a:chOff x="1041393" y="3810289"/>
            <a:chExt cx="5322678" cy="936757"/>
          </a:xfrm>
        </p:grpSpPr>
        <p:sp>
          <p:nvSpPr>
            <p:cNvPr id="102" name="Прямоугольник: скругленные углы 101">
              <a:extLst>
                <a:ext uri="{FF2B5EF4-FFF2-40B4-BE49-F238E27FC236}">
                  <a16:creationId xmlns:a16="http://schemas.microsoft.com/office/drawing/2014/main" id="{CA7DA645-5C1A-5198-CE42-9D548E147063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B235CAE-EA30-97E0-3795-76B385EAFF4C}"/>
                </a:ext>
              </a:extLst>
            </p:cNvPr>
            <p:cNvSpPr txBox="1"/>
            <p:nvPr/>
          </p:nvSpPr>
          <p:spPr>
            <a:xfrm>
              <a:off x="1823834" y="4076727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Написание документации</a:t>
              </a:r>
            </a:p>
          </p:txBody>
        </p:sp>
        <p:sp>
          <p:nvSpPr>
            <p:cNvPr id="104" name="Овал 103">
              <a:extLst>
                <a:ext uri="{FF2B5EF4-FFF2-40B4-BE49-F238E27FC236}">
                  <a16:creationId xmlns:a16="http://schemas.microsoft.com/office/drawing/2014/main" id="{FE9A29B7-9C21-0161-370D-C351192D459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251C82C-633F-02F5-A3E1-A28F58E711F2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8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57E72061-0326-35CD-7502-031AC6DF8209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2E39EDB8-CC07-61BA-40F9-9267EA1C9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DE42FD11-4D65-1E71-A130-4E864D680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7861B568-9BFB-A8DE-7C41-DFF3DCD86F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AA0B0C81-88BC-CFC8-10B6-A6078C099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49A77DED-66E0-75F1-86CA-2B0C09813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8" name="Рисунок 7">
              <a:extLst>
                <a:ext uri="{FF2B5EF4-FFF2-40B4-BE49-F238E27FC236}">
                  <a16:creationId xmlns:a16="http://schemas.microsoft.com/office/drawing/2014/main" id="{6BE7A0CF-D1CA-546A-9D92-2A52AEEA1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6429AD58-7E0F-D768-62BC-956BA7BB7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3BC7E875-5830-42C8-3183-AEEE775B1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919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3B0827-AFB6-532B-B761-50B7D3B01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23F8EAF-0262-FE35-D849-FD1D6F986986}"/>
              </a:ext>
            </a:extLst>
          </p:cNvPr>
          <p:cNvSpPr/>
          <p:nvPr/>
        </p:nvSpPr>
        <p:spPr>
          <a:xfrm>
            <a:off x="0" y="-4378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2ECC5591-9540-13BB-5CA5-D0D0E4ADD660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E4789D04-B874-0936-A5E3-48354220BFA8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A5281A58-86E2-8272-90E0-874349CA99D7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995BC5FB-ADB4-CC3B-7DFE-4F07990D0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EBDB9624-7C29-FC9B-B184-B55607BEDC76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FC6EB6D2-3F4C-3B83-6C62-9B8B4BACA594}"/>
              </a:ext>
            </a:extLst>
          </p:cNvPr>
          <p:cNvSpPr/>
          <p:nvPr/>
        </p:nvSpPr>
        <p:spPr>
          <a:xfrm>
            <a:off x="190500" y="3051031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9A97E7EB-391F-84B0-F5F9-EAADD472FADE}"/>
              </a:ext>
            </a:extLst>
          </p:cNvPr>
          <p:cNvGrpSpPr/>
          <p:nvPr/>
        </p:nvGrpSpPr>
        <p:grpSpPr>
          <a:xfrm>
            <a:off x="5559092" y="1288511"/>
            <a:ext cx="6508537" cy="1914424"/>
            <a:chOff x="3629659" y="1979926"/>
            <a:chExt cx="6508537" cy="1914424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873131DD-3525-A20D-887A-3E27DC1CC1CC}"/>
                </a:ext>
              </a:extLst>
            </p:cNvPr>
            <p:cNvSpPr/>
            <p:nvPr/>
          </p:nvSpPr>
          <p:spPr>
            <a:xfrm>
              <a:off x="3629659" y="1979926"/>
              <a:ext cx="6508537" cy="1914424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D0D5A9E4-3C66-0B64-BFC8-5B22C62089D5}"/>
                </a:ext>
              </a:extLst>
            </p:cNvPr>
            <p:cNvGrpSpPr/>
            <p:nvPr/>
          </p:nvGrpSpPr>
          <p:grpSpPr>
            <a:xfrm>
              <a:off x="3864831" y="2721986"/>
              <a:ext cx="5997900" cy="1057345"/>
              <a:chOff x="3014928" y="2777758"/>
              <a:chExt cx="5997900" cy="1057345"/>
            </a:xfrm>
          </p:grpSpPr>
          <p:pic>
            <p:nvPicPr>
              <p:cNvPr id="1046" name="Picture 22" descr="Vite color icon in PNG, SVG">
                <a:extLst>
                  <a:ext uri="{FF2B5EF4-FFF2-40B4-BE49-F238E27FC236}">
                    <a16:creationId xmlns:a16="http://schemas.microsoft.com/office/drawing/2014/main" id="{4549BD3D-3B47-1CEF-C454-093B58C7F5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8750" b="92917" l="8500" r="91000">
                            <a14:foregroundMark x1="8500" y1="22667" x2="8500" y2="22667"/>
                            <a14:foregroundMark x1="68333" y1="8750" x2="68333" y2="8750"/>
                            <a14:foregroundMark x1="91083" y1="20667" x2="91083" y2="20667"/>
                            <a14:foregroundMark x1="50167" y1="92917" x2="50167" y2="9291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98428" y="2849230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8" name="Picture 24">
                <a:extLst>
                  <a:ext uri="{FF2B5EF4-FFF2-40B4-BE49-F238E27FC236}">
                    <a16:creationId xmlns:a16="http://schemas.microsoft.com/office/drawing/2014/main" id="{C8AB69DF-4378-AA6F-8026-77E955B60F6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374416" y="2848025"/>
                <a:ext cx="1030140" cy="9168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2" name="Picture 28">
                <a:extLst>
                  <a:ext uri="{FF2B5EF4-FFF2-40B4-BE49-F238E27FC236}">
                    <a16:creationId xmlns:a16="http://schemas.microsoft.com/office/drawing/2014/main" id="{53FB5B16-0522-4A8F-2A9B-5241A284A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14928" y="2777758"/>
                <a:ext cx="1057345" cy="105734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8" name="Picture 34" descr="Typescript - Free brands and logotypes icons">
                <a:extLst>
                  <a:ext uri="{FF2B5EF4-FFF2-40B4-BE49-F238E27FC236}">
                    <a16:creationId xmlns:a16="http://schemas.microsoft.com/office/drawing/2014/main" id="{2C07C8E4-D0A9-AF31-0EEE-AB372C236DA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66144" y="2849230"/>
                <a:ext cx="914401" cy="9144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1986405D-5712-AEAA-0904-4FD626BC533F}"/>
              </a:ext>
            </a:extLst>
          </p:cNvPr>
          <p:cNvGrpSpPr/>
          <p:nvPr/>
        </p:nvGrpSpPr>
        <p:grpSpPr>
          <a:xfrm>
            <a:off x="5559093" y="3399222"/>
            <a:ext cx="6508536" cy="3135067"/>
            <a:chOff x="9060634" y="3105802"/>
            <a:chExt cx="6508536" cy="3135067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BDFE6510-BA33-FF06-8D09-100D456C1B97}"/>
                </a:ext>
              </a:extLst>
            </p:cNvPr>
            <p:cNvSpPr/>
            <p:nvPr/>
          </p:nvSpPr>
          <p:spPr>
            <a:xfrm>
              <a:off x="9060634" y="3105802"/>
              <a:ext cx="6508536" cy="313506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grpSp>
          <p:nvGrpSpPr>
            <p:cNvPr id="7" name="Группа 6">
              <a:extLst>
                <a:ext uri="{FF2B5EF4-FFF2-40B4-BE49-F238E27FC236}">
                  <a16:creationId xmlns:a16="http://schemas.microsoft.com/office/drawing/2014/main" id="{8069D545-447F-E14C-2B88-221DF1F068A2}"/>
                </a:ext>
              </a:extLst>
            </p:cNvPr>
            <p:cNvGrpSpPr/>
            <p:nvPr/>
          </p:nvGrpSpPr>
          <p:grpSpPr>
            <a:xfrm>
              <a:off x="9295805" y="4184571"/>
              <a:ext cx="6075141" cy="1201726"/>
              <a:chOff x="5460709" y="5501222"/>
              <a:chExt cx="6075141" cy="1201726"/>
            </a:xfrm>
          </p:grpSpPr>
          <p:pic>
            <p:nvPicPr>
              <p:cNvPr id="1036" name="Picture 12" descr="Докер – Бесплатные иконки: бренды и логотипы">
                <a:extLst>
                  <a:ext uri="{FF2B5EF4-FFF2-40B4-BE49-F238E27FC236}">
                    <a16:creationId xmlns:a16="http://schemas.microsoft.com/office/drawing/2014/main" id="{9A2FFD74-CE80-D6EB-3FD1-A30704DC29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060146" y="5644885"/>
                <a:ext cx="914400" cy="9144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2" name="Picture 18" descr="What - Docker Compose Logo Transparent Png,Compose Icon - free transparent  png images - pngaaa.com">
                <a:extLst>
                  <a:ext uri="{FF2B5EF4-FFF2-40B4-BE49-F238E27FC236}">
                    <a16:creationId xmlns:a16="http://schemas.microsoft.com/office/drawing/2014/main" id="{7E9763BB-2683-ED89-5CC3-CF25C38216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6693" b="93307" l="10000" r="90000">
                            <a14:foregroundMark x1="65444" y1="11513" x2="65444" y2="11513"/>
                            <a14:foregroundMark x1="68556" y1="6827" x2="68556" y2="6827"/>
                            <a14:foregroundMark x1="58889" y1="88086" x2="58889" y2="88086"/>
                            <a14:foregroundMark x1="59889" y1="89826" x2="59889" y2="89826"/>
                            <a14:foregroundMark x1="58556" y1="93307" x2="58556" y2="93307"/>
                            <a14:foregroundMark x1="51778" y1="55689" x2="51778" y2="55689"/>
                            <a14:foregroundMark x1="47778" y1="53548" x2="48889" y2="55823"/>
                            <a14:foregroundMark x1="50556" y1="51539" x2="53556" y2="56894"/>
                            <a14:backgroundMark x1="46444" y1="68541" x2="46444" y2="68541"/>
                            <a14:backgroundMark x1="59000" y1="68541" x2="59000" y2="68541"/>
                            <a14:backgroundMark x1="58111" y1="68273" x2="58111" y2="6827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895" r="18881"/>
              <a:stretch>
                <a:fillRect/>
              </a:stretch>
            </p:blipFill>
            <p:spPr bwMode="auto">
              <a:xfrm>
                <a:off x="10668444" y="5523587"/>
                <a:ext cx="867406" cy="11569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4" name="Picture 20">
                <a:extLst>
                  <a:ext uri="{FF2B5EF4-FFF2-40B4-BE49-F238E27FC236}">
                    <a16:creationId xmlns:a16="http://schemas.microsoft.com/office/drawing/2014/main" id="{9B4F8D2C-4B12-2484-E4C3-11BC084215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60709" y="5577154"/>
                <a:ext cx="1049861" cy="10498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0" name="Picture 46">
                <a:extLst>
                  <a:ext uri="{FF2B5EF4-FFF2-40B4-BE49-F238E27FC236}">
                    <a16:creationId xmlns:a16="http://schemas.microsoft.com/office/drawing/2014/main" id="{173F3D0E-1B87-D045-360C-BE6301DB66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0917"/>
              <a:stretch>
                <a:fillRect/>
              </a:stretch>
            </p:blipFill>
            <p:spPr bwMode="auto">
              <a:xfrm>
                <a:off x="7204468" y="5501222"/>
                <a:ext cx="1161780" cy="12017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973E8C4D-588F-57AF-7833-7559C28515AF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43" name="Прямоугольник: скругленные углы 42">
              <a:extLst>
                <a:ext uri="{FF2B5EF4-FFF2-40B4-BE49-F238E27FC236}">
                  <a16:creationId xmlns:a16="http://schemas.microsoft.com/office/drawing/2014/main" id="{E9ACE141-F4F1-10DF-74AE-C0F930441B5C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EFE8005-3671-45AD-3998-47ABD2B2BE67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6/9</a:t>
              </a:r>
            </a:p>
          </p:txBody>
        </p:sp>
      </p:grp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4B174EC-8FBB-83DE-A81F-594801E30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Средства разработки</a:t>
            </a:r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00E9408-7241-E106-0CA0-C4913B0AE106}"/>
              </a:ext>
            </a:extLst>
          </p:cNvPr>
          <p:cNvGrpSpPr/>
          <p:nvPr/>
        </p:nvGrpSpPr>
        <p:grpSpPr>
          <a:xfrm>
            <a:off x="861468" y="1288510"/>
            <a:ext cx="4397801" cy="1914425"/>
            <a:chOff x="126237" y="1900773"/>
            <a:chExt cx="4397801" cy="1914425"/>
          </a:xfrm>
        </p:grpSpPr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B02DE382-A648-2F8E-C0D7-ECB85B5BC814}"/>
                </a:ext>
              </a:extLst>
            </p:cNvPr>
            <p:cNvGrpSpPr/>
            <p:nvPr/>
          </p:nvGrpSpPr>
          <p:grpSpPr>
            <a:xfrm>
              <a:off x="126237" y="1900773"/>
              <a:ext cx="4397801" cy="1914425"/>
              <a:chOff x="-873883" y="564905"/>
              <a:chExt cx="4397801" cy="1914425"/>
            </a:xfrm>
          </p:grpSpPr>
          <p:sp>
            <p:nvSpPr>
              <p:cNvPr id="2" name="Прямоугольник: скругленные углы 1">
                <a:extLst>
                  <a:ext uri="{FF2B5EF4-FFF2-40B4-BE49-F238E27FC236}">
                    <a16:creationId xmlns:a16="http://schemas.microsoft.com/office/drawing/2014/main" id="{85586D6E-190F-65E8-1248-54D22741B042}"/>
                  </a:ext>
                </a:extLst>
              </p:cNvPr>
              <p:cNvSpPr/>
              <p:nvPr/>
            </p:nvSpPr>
            <p:spPr>
              <a:xfrm>
                <a:off x="-873883" y="564905"/>
                <a:ext cx="4397801" cy="1914425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056" name="Picture 32" descr="Mysql workbench - Free Icon PNG, SVG">
                <a:extLst>
                  <a:ext uri="{FF2B5EF4-FFF2-40B4-BE49-F238E27FC236}">
                    <a16:creationId xmlns:a16="http://schemas.microsoft.com/office/drawing/2014/main" id="{2DDCC42B-0AA1-7794-7ECD-9636B97CCE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202414" y="1193501"/>
                <a:ext cx="1155980" cy="11559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Рисунок 37" descr="Изображение выглядит как Графика, Шрифт, логотип, текст&#10;&#10;Содержимое, созданное искусственным интеллектом, может быть неверным.">
                <a:extLst>
                  <a:ext uri="{FF2B5EF4-FFF2-40B4-BE49-F238E27FC236}">
                    <a16:creationId xmlns:a16="http://schemas.microsoft.com/office/drawing/2014/main" id="{E684F69C-F7DD-4E54-5DB0-8B1B8D82D8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41763" y="1308947"/>
                <a:ext cx="961746" cy="961746"/>
              </a:xfrm>
              <a:prstGeom prst="rect">
                <a:avLst/>
              </a:prstGeom>
            </p:spPr>
          </p:pic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48CE6F-7A09-BC5B-B7C2-A0087E126D91}"/>
                </a:ext>
              </a:extLst>
            </p:cNvPr>
            <p:cNvSpPr txBox="1"/>
            <p:nvPr/>
          </p:nvSpPr>
          <p:spPr>
            <a:xfrm>
              <a:off x="126238" y="2043676"/>
              <a:ext cx="4397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БАЗА ДАННЫХ</a:t>
              </a:r>
            </a:p>
          </p:txBody>
        </p:sp>
      </p:grp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12874DC2-8EEB-DDB3-BD02-DA51787FA8B5}"/>
              </a:ext>
            </a:extLst>
          </p:cNvPr>
          <p:cNvGrpSpPr/>
          <p:nvPr/>
        </p:nvGrpSpPr>
        <p:grpSpPr>
          <a:xfrm>
            <a:off x="861467" y="3399222"/>
            <a:ext cx="4397802" cy="3131582"/>
            <a:chOff x="2463106" y="3150091"/>
            <a:chExt cx="4397802" cy="3131582"/>
          </a:xfrm>
        </p:grpSpPr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70EF6810-FC94-119D-00BB-260915AF2587}"/>
                </a:ext>
              </a:extLst>
            </p:cNvPr>
            <p:cNvGrpSpPr/>
            <p:nvPr/>
          </p:nvGrpSpPr>
          <p:grpSpPr>
            <a:xfrm>
              <a:off x="2463107" y="3150091"/>
              <a:ext cx="4397801" cy="3131582"/>
              <a:chOff x="-752666" y="3101899"/>
              <a:chExt cx="4397801" cy="3131582"/>
            </a:xfrm>
          </p:grpSpPr>
          <p:sp>
            <p:nvSpPr>
              <p:cNvPr id="3" name="Прямоугольник: скругленные углы 2">
                <a:extLst>
                  <a:ext uri="{FF2B5EF4-FFF2-40B4-BE49-F238E27FC236}">
                    <a16:creationId xmlns:a16="http://schemas.microsoft.com/office/drawing/2014/main" id="{FFFD35EF-466C-137B-737B-94D755C50971}"/>
                  </a:ext>
                </a:extLst>
              </p:cNvPr>
              <p:cNvSpPr/>
              <p:nvPr/>
            </p:nvSpPr>
            <p:spPr>
              <a:xfrm>
                <a:off x="-752666" y="3101899"/>
                <a:ext cx="4397801" cy="3131582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27" name="Группа 26">
                <a:extLst>
                  <a:ext uri="{FF2B5EF4-FFF2-40B4-BE49-F238E27FC236}">
                    <a16:creationId xmlns:a16="http://schemas.microsoft.com/office/drawing/2014/main" id="{C47C3A26-EF4B-A444-AC2D-B8C06BB901A4}"/>
                  </a:ext>
                </a:extLst>
              </p:cNvPr>
              <p:cNvGrpSpPr/>
              <p:nvPr/>
            </p:nvGrpSpPr>
            <p:grpSpPr>
              <a:xfrm>
                <a:off x="-179285" y="3791660"/>
                <a:ext cx="3104011" cy="2309583"/>
                <a:chOff x="2313833" y="1233487"/>
                <a:chExt cx="3104011" cy="2309583"/>
              </a:xfrm>
            </p:grpSpPr>
            <p:pic>
              <p:nvPicPr>
                <p:cNvPr id="9" name="Рисунок 8">
                  <a:extLst>
                    <a:ext uri="{FF2B5EF4-FFF2-40B4-BE49-F238E27FC236}">
                      <a16:creationId xmlns:a16="http://schemas.microsoft.com/office/drawing/2014/main" id="{F8F6AFAB-8690-7443-E42D-BC76C4EADA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>
                  <a:extLs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rcRect l="-9144" t="-3130" r="-6877" b="-1"/>
                <a:stretch>
                  <a:fillRect/>
                </a:stretch>
              </p:blipFill>
              <p:spPr>
                <a:xfrm>
                  <a:off x="4367980" y="1268574"/>
                  <a:ext cx="1049864" cy="1049862"/>
                </a:xfrm>
                <a:prstGeom prst="rect">
                  <a:avLst/>
                </a:prstGeom>
              </p:spPr>
            </p:pic>
            <p:pic>
              <p:nvPicPr>
                <p:cNvPr id="33" name="Рисунок 32" descr="Изображение выглядит как круг, Графика, символ, снимок экрана&#10;&#10;Содержимое, созданное искусственным интеллектом, может быть неверным.">
                  <a:extLst>
                    <a:ext uri="{FF2B5EF4-FFF2-40B4-BE49-F238E27FC236}">
                      <a16:creationId xmlns:a16="http://schemas.microsoft.com/office/drawing/2014/main" id="{FF0BB5BA-7288-0AC6-B572-35C37F2937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6098" y="2552755"/>
                  <a:ext cx="961746" cy="961746"/>
                </a:xfrm>
                <a:prstGeom prst="rect">
                  <a:avLst/>
                </a:prstGeom>
              </p:spPr>
            </p:pic>
            <p:pic>
              <p:nvPicPr>
                <p:cNvPr id="35" name="Рисунок 34" descr="Изображение выглядит как круг, Графика, снимок экрана, Шрифт&#10;&#10;Содержимое, созданное искусственным интеллектом, может быть неверным.">
                  <a:extLst>
                    <a:ext uri="{FF2B5EF4-FFF2-40B4-BE49-F238E27FC236}">
                      <a16:creationId xmlns:a16="http://schemas.microsoft.com/office/drawing/2014/main" id="{1626EC0B-86EB-9FF7-E192-0F4CD67A2F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11921" y="2601986"/>
                  <a:ext cx="941084" cy="941084"/>
                </a:xfrm>
                <a:prstGeom prst="rect">
                  <a:avLst/>
                </a:prstGeom>
              </p:spPr>
            </p:pic>
            <p:pic>
              <p:nvPicPr>
                <p:cNvPr id="1054" name="Picture 30">
                  <a:extLst>
                    <a:ext uri="{FF2B5EF4-FFF2-40B4-BE49-F238E27FC236}">
                      <a16:creationId xmlns:a16="http://schemas.microsoft.com/office/drawing/2014/main" id="{793F3BB0-07CE-CCE9-EAFE-6988999AA4A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313833" y="1233487"/>
                  <a:ext cx="1155980" cy="11559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41D9DA0-18FA-EC91-9647-DCB69DC4464F}"/>
                </a:ext>
              </a:extLst>
            </p:cNvPr>
            <p:cNvSpPr txBox="1"/>
            <p:nvPr/>
          </p:nvSpPr>
          <p:spPr>
            <a:xfrm>
              <a:off x="2463106" y="3330251"/>
              <a:ext cx="43977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Comfortaa Medium" pitchFamily="2" charset="0"/>
                </a:rPr>
                <a:t>API</a:t>
              </a:r>
              <a:endParaRPr lang="ru-RU" sz="2000" dirty="0">
                <a:latin typeface="Comfortaa Medium" pitchFamily="2" charset="0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5390C72-8E8A-9299-2558-5AF9300071CA}"/>
              </a:ext>
            </a:extLst>
          </p:cNvPr>
          <p:cNvSpPr txBox="1"/>
          <p:nvPr/>
        </p:nvSpPr>
        <p:spPr>
          <a:xfrm>
            <a:off x="5559092" y="3555621"/>
            <a:ext cx="6508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Comfortaa Medium" pitchFamily="2" charset="0"/>
              </a:rPr>
              <a:t>СЕРВЕР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D7BBB8-DDAD-B9CC-2D1A-CA1E2D917DCE}"/>
              </a:ext>
            </a:extLst>
          </p:cNvPr>
          <p:cNvSpPr txBox="1"/>
          <p:nvPr/>
        </p:nvSpPr>
        <p:spPr>
          <a:xfrm>
            <a:off x="5559092" y="1425807"/>
            <a:ext cx="6508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Comfortaa Medium" pitchFamily="2" charset="0"/>
              </a:rPr>
              <a:t>FRONTEND</a:t>
            </a:r>
            <a:endParaRPr lang="ru-RU" sz="2000" dirty="0">
              <a:latin typeface="Comfortaa Medium" pitchFamily="2" charset="0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88B5F2CB-5CC6-B44F-59F7-745B50F91234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8" name="Рисунок 7">
              <a:extLst>
                <a:ext uri="{FF2B5EF4-FFF2-40B4-BE49-F238E27FC236}">
                  <a16:creationId xmlns:a16="http://schemas.microsoft.com/office/drawing/2014/main" id="{369B30E6-D8D6-610F-538E-0302012D0F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28" name="Рисунок 27">
              <a:extLst>
                <a:ext uri="{FF2B5EF4-FFF2-40B4-BE49-F238E27FC236}">
                  <a16:creationId xmlns:a16="http://schemas.microsoft.com/office/drawing/2014/main" id="{F844DFE5-9C68-373A-36D5-AD14B8EB2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31" name="Рисунок 30">
              <a:extLst>
                <a:ext uri="{FF2B5EF4-FFF2-40B4-BE49-F238E27FC236}">
                  <a16:creationId xmlns:a16="http://schemas.microsoft.com/office/drawing/2014/main" id="{D4B96624-3BB7-4D6F-C105-7187565C4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48" name="Рисунок 47">
              <a:extLst>
                <a:ext uri="{FF2B5EF4-FFF2-40B4-BE49-F238E27FC236}">
                  <a16:creationId xmlns:a16="http://schemas.microsoft.com/office/drawing/2014/main" id="{99C9F645-34E6-B6CC-02ED-6203F2DE3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49" name="Рисунок 48">
              <a:extLst>
                <a:ext uri="{FF2B5EF4-FFF2-40B4-BE49-F238E27FC236}">
                  <a16:creationId xmlns:a16="http://schemas.microsoft.com/office/drawing/2014/main" id="{17BDECA0-64BA-53AE-38FE-70841EF546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50" name="Рисунок 49">
              <a:extLst>
                <a:ext uri="{FF2B5EF4-FFF2-40B4-BE49-F238E27FC236}">
                  <a16:creationId xmlns:a16="http://schemas.microsoft.com/office/drawing/2014/main" id="{112B0B88-7FEB-E58A-FF47-0A08252D0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51" name="Рисунок 50">
              <a:extLst>
                <a:ext uri="{FF2B5EF4-FFF2-40B4-BE49-F238E27FC236}">
                  <a16:creationId xmlns:a16="http://schemas.microsoft.com/office/drawing/2014/main" id="{61F2FF04-E2E2-50A9-53D6-0FA12AEAC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52" name="Рисунок 51">
              <a:extLst>
                <a:ext uri="{FF2B5EF4-FFF2-40B4-BE49-F238E27FC236}">
                  <a16:creationId xmlns:a16="http://schemas.microsoft.com/office/drawing/2014/main" id="{E233199D-407E-0015-FC8D-3976AAB3D8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00425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FCE6F3-C04C-904E-E83B-EDBF8EDD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3B271-FE32-CB06-4D0E-B9934524DF48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0D0D423C-6AFD-BFAE-5D78-E5C12DBF06B6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B9669050-1E86-6B3F-EFFB-CE56B808B13D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4" name="Прямоугольник: скругленные углы 13">
                <a:extLst>
                  <a:ext uri="{FF2B5EF4-FFF2-40B4-BE49-F238E27FC236}">
                    <a16:creationId xmlns:a16="http://schemas.microsoft.com/office/drawing/2014/main" id="{9E04CBF0-3D65-DCA5-5002-93A9235539E3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5" name="Рисунок 14">
                <a:extLst>
                  <a:ext uri="{FF2B5EF4-FFF2-40B4-BE49-F238E27FC236}">
                    <a16:creationId xmlns:a16="http://schemas.microsoft.com/office/drawing/2014/main" id="{2C9BB02E-7554-240B-5349-D128A27AC0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E1782D06-0C9F-8776-FBF8-743B28506790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A4A53AD-C18A-ECDD-99A7-1658B173A248}"/>
              </a:ext>
            </a:extLst>
          </p:cNvPr>
          <p:cNvSpPr/>
          <p:nvPr/>
        </p:nvSpPr>
        <p:spPr>
          <a:xfrm>
            <a:off x="190500" y="3594267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6190485-2E14-DC7D-33D1-05D10C9B251E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0BB7E734-9BE0-72B2-C7FD-FF9A5DFB0F9F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EA770EB-B744-D9DD-280C-F7B02BCEDB8F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7/9</a:t>
              </a:r>
            </a:p>
          </p:txBody>
        </p:sp>
      </p:grpSp>
      <p:sp>
        <p:nvSpPr>
          <p:cNvPr id="28" name="Заголовок 1">
            <a:extLst>
              <a:ext uri="{FF2B5EF4-FFF2-40B4-BE49-F238E27FC236}">
                <a16:creationId xmlns:a16="http://schemas.microsoft.com/office/drawing/2014/main" id="{3F94D7C6-18FA-60AE-2D55-C3CEC1743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Архитектура системы</a:t>
            </a:r>
          </a:p>
        </p:txBody>
      </p:sp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CAEADBD3-A672-DED4-B0F3-6D9C1F3A2B18}"/>
              </a:ext>
            </a:extLst>
          </p:cNvPr>
          <p:cNvGrpSpPr/>
          <p:nvPr/>
        </p:nvGrpSpPr>
        <p:grpSpPr>
          <a:xfrm>
            <a:off x="2979084" y="2284582"/>
            <a:ext cx="6970929" cy="3239077"/>
            <a:chOff x="2601696" y="2305050"/>
            <a:chExt cx="6970929" cy="3239077"/>
          </a:xfrm>
        </p:grpSpPr>
        <p:sp>
          <p:nvSpPr>
            <p:cNvPr id="34" name="Прямоугольник: скругленные углы 33">
              <a:extLst>
                <a:ext uri="{FF2B5EF4-FFF2-40B4-BE49-F238E27FC236}">
                  <a16:creationId xmlns:a16="http://schemas.microsoft.com/office/drawing/2014/main" id="{7BC65B17-085A-FD12-88AF-DE6936E11F0D}"/>
                </a:ext>
              </a:extLst>
            </p:cNvPr>
            <p:cNvSpPr/>
            <p:nvPr/>
          </p:nvSpPr>
          <p:spPr>
            <a:xfrm>
              <a:off x="2601696" y="2305050"/>
              <a:ext cx="6970929" cy="2066925"/>
            </a:xfrm>
            <a:prstGeom prst="roundRect">
              <a:avLst>
                <a:gd name="adj" fmla="val 4818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Сервер</a:t>
              </a: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1ECA7979-34F0-56C8-1C91-78FC075843F0}"/>
                </a:ext>
              </a:extLst>
            </p:cNvPr>
            <p:cNvSpPr/>
            <p:nvPr/>
          </p:nvSpPr>
          <p:spPr>
            <a:xfrm>
              <a:off x="5123884" y="4747046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Браузер</a:t>
              </a:r>
            </a:p>
          </p:txBody>
        </p:sp>
        <p:sp>
          <p:nvSpPr>
            <p:cNvPr id="33" name="Прямоугольник: скругленные углы 32">
              <a:extLst>
                <a:ext uri="{FF2B5EF4-FFF2-40B4-BE49-F238E27FC236}">
                  <a16:creationId xmlns:a16="http://schemas.microsoft.com/office/drawing/2014/main" id="{3299F8B5-F131-F5A5-45A3-2257B1A206A4}"/>
                </a:ext>
              </a:extLst>
            </p:cNvPr>
            <p:cNvSpPr/>
            <p:nvPr/>
          </p:nvSpPr>
          <p:spPr>
            <a:xfrm>
              <a:off x="5110162" y="3234977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mfortaa Medium" pitchFamily="2" charset="0"/>
                </a:rPr>
                <a:t>API</a:t>
              </a:r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8" name="Прямоугольник: скругленные углы 37">
              <a:extLst>
                <a:ext uri="{FF2B5EF4-FFF2-40B4-BE49-F238E27FC236}">
                  <a16:creationId xmlns:a16="http://schemas.microsoft.com/office/drawing/2014/main" id="{59038C30-FE58-AD58-814D-B120C0D96249}"/>
                </a:ext>
              </a:extLst>
            </p:cNvPr>
            <p:cNvSpPr/>
            <p:nvPr/>
          </p:nvSpPr>
          <p:spPr>
            <a:xfrm>
              <a:off x="2807948" y="3234977"/>
              <a:ext cx="1971676" cy="797081"/>
            </a:xfrm>
            <a:prstGeom prst="roundRect">
              <a:avLst>
                <a:gd name="adj" fmla="val 1308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База данных </a:t>
              </a:r>
              <a:r>
                <a:rPr lang="en-US" dirty="0">
                  <a:solidFill>
                    <a:schemeClr val="tx1"/>
                  </a:solidFill>
                  <a:latin typeface="Comfortaa Medium" pitchFamily="2" charset="0"/>
                </a:rPr>
                <a:t>MySQL</a:t>
              </a:r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9" name="Прямоугольник: скругленные углы 38">
              <a:extLst>
                <a:ext uri="{FF2B5EF4-FFF2-40B4-BE49-F238E27FC236}">
                  <a16:creationId xmlns:a16="http://schemas.microsoft.com/office/drawing/2014/main" id="{9341A8C8-B130-57BE-0385-BC9B3AA1B4AE}"/>
                </a:ext>
              </a:extLst>
            </p:cNvPr>
            <p:cNvSpPr/>
            <p:nvPr/>
          </p:nvSpPr>
          <p:spPr>
            <a:xfrm>
              <a:off x="7412376" y="3234977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Веб-сервер</a:t>
              </a:r>
            </a:p>
          </p:txBody>
        </p:sp>
        <p:cxnSp>
          <p:nvCxnSpPr>
            <p:cNvPr id="41" name="Прямая соединительная линия 40">
              <a:extLst>
                <a:ext uri="{FF2B5EF4-FFF2-40B4-BE49-F238E27FC236}">
                  <a16:creationId xmlns:a16="http://schemas.microsoft.com/office/drawing/2014/main" id="{C16EAF6B-7F79-F899-253B-35414FF68C85}"/>
                </a:ext>
              </a:extLst>
            </p:cNvPr>
            <p:cNvCxnSpPr>
              <a:cxnSpLocks/>
              <a:stCxn id="38" idx="3"/>
              <a:endCxn id="33" idx="1"/>
            </p:cNvCxnSpPr>
            <p:nvPr/>
          </p:nvCxnSpPr>
          <p:spPr>
            <a:xfrm>
              <a:off x="4779624" y="3633518"/>
              <a:ext cx="33053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Прямая соединительная линия 46">
              <a:extLst>
                <a:ext uri="{FF2B5EF4-FFF2-40B4-BE49-F238E27FC236}">
                  <a16:creationId xmlns:a16="http://schemas.microsoft.com/office/drawing/2014/main" id="{DA9AD919-4632-E802-E6C6-15E2A1CB3E67}"/>
                </a:ext>
              </a:extLst>
            </p:cNvPr>
            <p:cNvCxnSpPr>
              <a:cxnSpLocks/>
              <a:stCxn id="33" idx="3"/>
              <a:endCxn id="39" idx="1"/>
            </p:cNvCxnSpPr>
            <p:nvPr/>
          </p:nvCxnSpPr>
          <p:spPr>
            <a:xfrm>
              <a:off x="7081838" y="3633518"/>
              <a:ext cx="33053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Соединитель: уступ 50">
              <a:extLst>
                <a:ext uri="{FF2B5EF4-FFF2-40B4-BE49-F238E27FC236}">
                  <a16:creationId xmlns:a16="http://schemas.microsoft.com/office/drawing/2014/main" id="{8A84A74E-39D4-5756-0CCD-E3CF8627D16C}"/>
                </a:ext>
              </a:extLst>
            </p:cNvPr>
            <p:cNvCxnSpPr>
              <a:cxnSpLocks/>
              <a:stCxn id="39" idx="2"/>
              <a:endCxn id="35" idx="3"/>
            </p:cNvCxnSpPr>
            <p:nvPr/>
          </p:nvCxnSpPr>
          <p:spPr>
            <a:xfrm rot="5400000">
              <a:off x="7190123" y="3937495"/>
              <a:ext cx="1113529" cy="1302654"/>
            </a:xfrm>
            <a:prstGeom prst="bentConnector2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26740472-7580-231E-D13F-443F1740B779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49" name="Рисунок 48">
              <a:extLst>
                <a:ext uri="{FF2B5EF4-FFF2-40B4-BE49-F238E27FC236}">
                  <a16:creationId xmlns:a16="http://schemas.microsoft.com/office/drawing/2014/main" id="{75818ED5-65F8-8829-AFA3-99ACE214C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50" name="Рисунок 49">
              <a:extLst>
                <a:ext uri="{FF2B5EF4-FFF2-40B4-BE49-F238E27FC236}">
                  <a16:creationId xmlns:a16="http://schemas.microsoft.com/office/drawing/2014/main" id="{497B212D-8C1C-894D-2010-EC8EF9BBD7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52" name="Рисунок 51">
              <a:extLst>
                <a:ext uri="{FF2B5EF4-FFF2-40B4-BE49-F238E27FC236}">
                  <a16:creationId xmlns:a16="http://schemas.microsoft.com/office/drawing/2014/main" id="{19B9DC96-C94A-7CBA-E1E8-90F175EF1BF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53" name="Рисунок 52">
              <a:extLst>
                <a:ext uri="{FF2B5EF4-FFF2-40B4-BE49-F238E27FC236}">
                  <a16:creationId xmlns:a16="http://schemas.microsoft.com/office/drawing/2014/main" id="{DFBDA827-C11D-04CD-ED72-0FBE21BD1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54" name="Рисунок 53">
              <a:extLst>
                <a:ext uri="{FF2B5EF4-FFF2-40B4-BE49-F238E27FC236}">
                  <a16:creationId xmlns:a16="http://schemas.microsoft.com/office/drawing/2014/main" id="{38E7DA78-362B-7EC5-F0B2-614A0F8DEA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55" name="Рисунок 54">
              <a:extLst>
                <a:ext uri="{FF2B5EF4-FFF2-40B4-BE49-F238E27FC236}">
                  <a16:creationId xmlns:a16="http://schemas.microsoft.com/office/drawing/2014/main" id="{808C69F2-0D10-220B-49F5-DEAAE22194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56" name="Рисунок 55">
              <a:extLst>
                <a:ext uri="{FF2B5EF4-FFF2-40B4-BE49-F238E27FC236}">
                  <a16:creationId xmlns:a16="http://schemas.microsoft.com/office/drawing/2014/main" id="{6DD963DE-4EF3-1D08-547C-D8ADD2816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57" name="Рисунок 56">
              <a:extLst>
                <a:ext uri="{FF2B5EF4-FFF2-40B4-BE49-F238E27FC236}">
                  <a16:creationId xmlns:a16="http://schemas.microsoft.com/office/drawing/2014/main" id="{544C347A-88E2-B36E-902B-6E4626838E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8165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9926197-1136-7577-6121-15A73879C57D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6FA45285-0975-AE0D-3256-04576BBD9116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74E6B238-E687-AAFA-32B2-5F88AB55750D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10" name="Прямоугольник: скругленные углы 9">
                <a:extLst>
                  <a:ext uri="{FF2B5EF4-FFF2-40B4-BE49-F238E27FC236}">
                    <a16:creationId xmlns:a16="http://schemas.microsoft.com/office/drawing/2014/main" id="{976465C0-2BB6-D156-9768-C0017701B447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BEB37C2F-19A7-62CB-C1DC-32BC83720B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9" name="Прямая соединительная линия 8">
              <a:extLst>
                <a:ext uri="{FF2B5EF4-FFF2-40B4-BE49-F238E27FC236}">
                  <a16:creationId xmlns:a16="http://schemas.microsoft.com/office/drawing/2014/main" id="{E1A9EA72-9428-2202-F6BF-71B055226D7E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C6924A0-2668-63AB-8E8B-3D7EA854454D}"/>
              </a:ext>
            </a:extLst>
          </p:cNvPr>
          <p:cNvSpPr/>
          <p:nvPr/>
        </p:nvSpPr>
        <p:spPr>
          <a:xfrm>
            <a:off x="190500" y="4140166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ACDEFC85-D958-F805-43B0-03F4006179F7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25" name="Прямоугольник: скругленные углы 24">
              <a:extLst>
                <a:ext uri="{FF2B5EF4-FFF2-40B4-BE49-F238E27FC236}">
                  <a16:creationId xmlns:a16="http://schemas.microsoft.com/office/drawing/2014/main" id="{204D1476-FB00-4238-ECD1-7089C8F7F9AC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4079B6E-3210-FF5D-86AD-7651C07B9BEC}"/>
                </a:ext>
              </a:extLst>
            </p:cNvPr>
            <p:cNvSpPr txBox="1"/>
            <p:nvPr/>
          </p:nvSpPr>
          <p:spPr>
            <a:xfrm>
              <a:off x="11143122" y="221560"/>
              <a:ext cx="85837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8/9</a:t>
              </a:r>
            </a:p>
          </p:txBody>
        </p:sp>
      </p:grp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E45D4625-DDE0-06B6-6F55-AE453173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Преимущества проекта</a:t>
            </a:r>
          </a:p>
        </p:txBody>
      </p: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454F39D7-2DAE-C311-7C9F-E4ACD60B17F6}"/>
              </a:ext>
            </a:extLst>
          </p:cNvPr>
          <p:cNvGrpSpPr/>
          <p:nvPr/>
        </p:nvGrpSpPr>
        <p:grpSpPr>
          <a:xfrm>
            <a:off x="952500" y="1723424"/>
            <a:ext cx="2518287" cy="3732357"/>
            <a:chOff x="952500" y="1723424"/>
            <a:chExt cx="2518287" cy="3732357"/>
          </a:xfrm>
        </p:grpSpPr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E3169C10-CA12-291D-CBD4-2F177882C89D}"/>
                </a:ext>
              </a:extLst>
            </p:cNvPr>
            <p:cNvGrpSpPr/>
            <p:nvPr/>
          </p:nvGrpSpPr>
          <p:grpSpPr>
            <a:xfrm>
              <a:off x="952500" y="1723424"/>
              <a:ext cx="2518287" cy="3732357"/>
              <a:chOff x="1041394" y="1667282"/>
              <a:chExt cx="3156980" cy="3732357"/>
            </a:xfrm>
          </p:grpSpPr>
          <p:sp>
            <p:nvSpPr>
              <p:cNvPr id="36" name="Прямоугольник: скругленные углы 35">
                <a:extLst>
                  <a:ext uri="{FF2B5EF4-FFF2-40B4-BE49-F238E27FC236}">
                    <a16:creationId xmlns:a16="http://schemas.microsoft.com/office/drawing/2014/main" id="{B6F1861F-5083-0700-2D25-599413660F3C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AE0352C-BA42-4CC9-10B1-08DA098C4611}"/>
                  </a:ext>
                </a:extLst>
              </p:cNvPr>
              <p:cNvSpPr txBox="1"/>
              <p:nvPr/>
            </p:nvSpPr>
            <p:spPr>
              <a:xfrm>
                <a:off x="1041394" y="4412577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Скорость</a:t>
                </a:r>
              </a:p>
            </p:txBody>
          </p:sp>
        </p:grpSp>
        <p:pic>
          <p:nvPicPr>
            <p:cNvPr id="43" name="Picture 4" descr="Максимальная скорость – Бесплатные иконки:">
              <a:extLst>
                <a:ext uri="{FF2B5EF4-FFF2-40B4-BE49-F238E27FC236}">
                  <a16:creationId xmlns:a16="http://schemas.microsoft.com/office/drawing/2014/main" id="{B90749CF-5A1E-B9BC-B6EB-1320F2FA94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6069" y="2319232"/>
              <a:ext cx="1691148" cy="16911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7DB1BE3D-E594-4CB9-64FE-403FE1860352}"/>
              </a:ext>
            </a:extLst>
          </p:cNvPr>
          <p:cNvGrpSpPr/>
          <p:nvPr/>
        </p:nvGrpSpPr>
        <p:grpSpPr>
          <a:xfrm>
            <a:off x="3729944" y="1719321"/>
            <a:ext cx="2668883" cy="3732357"/>
            <a:chOff x="3729944" y="1719321"/>
            <a:chExt cx="2668883" cy="3732357"/>
          </a:xfrm>
        </p:grpSpPr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561B926A-111A-C405-BDA2-7E41806723C8}"/>
                </a:ext>
              </a:extLst>
            </p:cNvPr>
            <p:cNvGrpSpPr/>
            <p:nvPr/>
          </p:nvGrpSpPr>
          <p:grpSpPr>
            <a:xfrm>
              <a:off x="3729944" y="1719321"/>
              <a:ext cx="2668883" cy="3732357"/>
              <a:chOff x="1041394" y="1667282"/>
              <a:chExt cx="3156980" cy="3732357"/>
            </a:xfrm>
          </p:grpSpPr>
          <p:sp>
            <p:nvSpPr>
              <p:cNvPr id="33" name="Прямоугольник: скругленные углы 32">
                <a:extLst>
                  <a:ext uri="{FF2B5EF4-FFF2-40B4-BE49-F238E27FC236}">
                    <a16:creationId xmlns:a16="http://schemas.microsoft.com/office/drawing/2014/main" id="{DDEBCA52-EAA7-E1EC-6E91-B19882DB1F7B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05B4375-81D1-80A6-4372-F5FD97576521}"/>
                  </a:ext>
                </a:extLst>
              </p:cNvPr>
              <p:cNvSpPr txBox="1"/>
              <p:nvPr/>
            </p:nvSpPr>
            <p:spPr>
              <a:xfrm>
                <a:off x="1041394" y="4429331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Контроль</a:t>
                </a:r>
              </a:p>
            </p:txBody>
          </p:sp>
        </p:grpSp>
        <p:pic>
          <p:nvPicPr>
            <p:cNvPr id="45" name="Picture 6" descr="Пнг Проверка 27 фото">
              <a:extLst>
                <a:ext uri="{FF2B5EF4-FFF2-40B4-BE49-F238E27FC236}">
                  <a16:creationId xmlns:a16="http://schemas.microsoft.com/office/drawing/2014/main" id="{9F18291D-E2C3-239D-CBFE-C60703029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84090" y="2284511"/>
              <a:ext cx="1760590" cy="1760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Группа 51">
            <a:extLst>
              <a:ext uri="{FF2B5EF4-FFF2-40B4-BE49-F238E27FC236}">
                <a16:creationId xmlns:a16="http://schemas.microsoft.com/office/drawing/2014/main" id="{9944D1C2-5A77-4EE5-936D-CC91B844D1DE}"/>
              </a:ext>
            </a:extLst>
          </p:cNvPr>
          <p:cNvGrpSpPr/>
          <p:nvPr/>
        </p:nvGrpSpPr>
        <p:grpSpPr>
          <a:xfrm>
            <a:off x="6657984" y="1717270"/>
            <a:ext cx="2544097" cy="3732357"/>
            <a:chOff x="6657984" y="1717270"/>
            <a:chExt cx="2544097" cy="3732357"/>
          </a:xfrm>
        </p:grpSpPr>
        <p:grpSp>
          <p:nvGrpSpPr>
            <p:cNvPr id="28" name="Группа 27">
              <a:extLst>
                <a:ext uri="{FF2B5EF4-FFF2-40B4-BE49-F238E27FC236}">
                  <a16:creationId xmlns:a16="http://schemas.microsoft.com/office/drawing/2014/main" id="{C56951AD-4FEF-31EF-20E3-443AF3A31A7D}"/>
                </a:ext>
              </a:extLst>
            </p:cNvPr>
            <p:cNvGrpSpPr/>
            <p:nvPr/>
          </p:nvGrpSpPr>
          <p:grpSpPr>
            <a:xfrm>
              <a:off x="6657984" y="1717270"/>
              <a:ext cx="2544097" cy="3732357"/>
              <a:chOff x="1041394" y="1667282"/>
              <a:chExt cx="3156980" cy="3732357"/>
            </a:xfrm>
          </p:grpSpPr>
          <p:sp>
            <p:nvSpPr>
              <p:cNvPr id="29" name="Прямоугольник: скругленные углы 28">
                <a:extLst>
                  <a:ext uri="{FF2B5EF4-FFF2-40B4-BE49-F238E27FC236}">
                    <a16:creationId xmlns:a16="http://schemas.microsoft.com/office/drawing/2014/main" id="{9CCD54FC-01B4-DA7C-0B0D-C24CFC60A382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39969A3-1104-B7DA-0ACB-E9D64297761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249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Расширение</a:t>
                </a:r>
              </a:p>
            </p:txBody>
          </p:sp>
        </p:grpSp>
        <p:pic>
          <p:nvPicPr>
            <p:cNvPr id="4108" name="Picture 12" descr="Значок расширения Символ вектора расширения Простой черный значок  увеличения | Премиум вектор">
              <a:extLst>
                <a:ext uri="{FF2B5EF4-FFF2-40B4-BE49-F238E27FC236}">
                  <a16:creationId xmlns:a16="http://schemas.microsoft.com/office/drawing/2014/main" id="{D2676F6E-FE8E-4681-A7BF-2E50725396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95706" y="2230480"/>
              <a:ext cx="1868652" cy="18686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11A99480-9063-F93E-9C84-EE15662BE76B}"/>
              </a:ext>
            </a:extLst>
          </p:cNvPr>
          <p:cNvGrpSpPr/>
          <p:nvPr/>
        </p:nvGrpSpPr>
        <p:grpSpPr>
          <a:xfrm>
            <a:off x="9461237" y="1721372"/>
            <a:ext cx="2518287" cy="3732357"/>
            <a:chOff x="9461237" y="1721372"/>
            <a:chExt cx="2518287" cy="3732357"/>
          </a:xfrm>
        </p:grpSpPr>
        <p:grpSp>
          <p:nvGrpSpPr>
            <p:cNvPr id="40" name="Группа 39">
              <a:extLst>
                <a:ext uri="{FF2B5EF4-FFF2-40B4-BE49-F238E27FC236}">
                  <a16:creationId xmlns:a16="http://schemas.microsoft.com/office/drawing/2014/main" id="{2B2FB407-8656-C708-9628-EDB011C815FE}"/>
                </a:ext>
              </a:extLst>
            </p:cNvPr>
            <p:cNvGrpSpPr/>
            <p:nvPr/>
          </p:nvGrpSpPr>
          <p:grpSpPr>
            <a:xfrm>
              <a:off x="9461237" y="1721372"/>
              <a:ext cx="2518287" cy="3732357"/>
              <a:chOff x="1041394" y="1667282"/>
              <a:chExt cx="3156980" cy="3732357"/>
            </a:xfrm>
          </p:grpSpPr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B95AF9D4-EDC3-59ED-A483-A44010E06A68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C2C9C01-DA66-3821-6207-B0D5B9E482D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Удобство</a:t>
                </a:r>
              </a:p>
            </p:txBody>
          </p:sp>
        </p:grpSp>
        <p:pic>
          <p:nvPicPr>
            <p:cNvPr id="50" name="Picture 22" descr="Диван – Бесплатные иконки: мебель и дом">
              <a:extLst>
                <a:ext uri="{FF2B5EF4-FFF2-40B4-BE49-F238E27FC236}">
                  <a16:creationId xmlns:a16="http://schemas.microsoft.com/office/drawing/2014/main" id="{AA8D93C2-9AFF-9532-825A-F97EAD03F0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52220" y="2196646"/>
              <a:ext cx="1936320" cy="19363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E35E4182-6093-3650-512A-F9686B90AEB1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3" name="Рисунок 2">
              <a:extLst>
                <a:ext uri="{FF2B5EF4-FFF2-40B4-BE49-F238E27FC236}">
                  <a16:creationId xmlns:a16="http://schemas.microsoft.com/office/drawing/2014/main" id="{B2FA3FF8-1607-9B0F-8DB1-D09CDDE84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31101E77-3338-A487-9425-676433FC1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4F8302C8-2660-6ED9-9B72-B126CF602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43E50FE8-94E6-D0E0-7F69-3B7B6F3D0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30" name="Рисунок 29">
              <a:extLst>
                <a:ext uri="{FF2B5EF4-FFF2-40B4-BE49-F238E27FC236}">
                  <a16:creationId xmlns:a16="http://schemas.microsoft.com/office/drawing/2014/main" id="{C77FB3AC-CF7F-1D8F-DB7D-9406D44593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38" name="Рисунок 37">
              <a:extLst>
                <a:ext uri="{FF2B5EF4-FFF2-40B4-BE49-F238E27FC236}">
                  <a16:creationId xmlns:a16="http://schemas.microsoft.com/office/drawing/2014/main" id="{5E7F89D6-0BC9-4677-3EDC-9D01B3EA9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39" name="Рисунок 38">
              <a:extLst>
                <a:ext uri="{FF2B5EF4-FFF2-40B4-BE49-F238E27FC236}">
                  <a16:creationId xmlns:a16="http://schemas.microsoft.com/office/drawing/2014/main" id="{53CB7E3E-7EB6-F354-9E59-693D62E5C1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44" name="Рисунок 43">
              <a:extLst>
                <a:ext uri="{FF2B5EF4-FFF2-40B4-BE49-F238E27FC236}">
                  <a16:creationId xmlns:a16="http://schemas.microsoft.com/office/drawing/2014/main" id="{F36723E6-3A20-D640-8695-DA7F7826F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75004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91C3C3-0077-AE1D-E5AC-241A664FF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52EF1444-38C3-63CD-B542-F451150A0E00}"/>
              </a:ext>
            </a:extLst>
          </p:cNvPr>
          <p:cNvSpPr/>
          <p:nvPr/>
        </p:nvSpPr>
        <p:spPr>
          <a:xfrm>
            <a:off x="0" y="0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>
            <a:extLst>
              <a:ext uri="{FF2B5EF4-FFF2-40B4-BE49-F238E27FC236}">
                <a16:creationId xmlns:a16="http://schemas.microsoft.com/office/drawing/2014/main" id="{B6B3E1B2-2F8E-F12D-D273-FEBA9978C34E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58" name="Группа 57">
              <a:extLst>
                <a:ext uri="{FF2B5EF4-FFF2-40B4-BE49-F238E27FC236}">
                  <a16:creationId xmlns:a16="http://schemas.microsoft.com/office/drawing/2014/main" id="{6D33B6DA-B0B4-4E58-4069-2B2A930DF680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60" name="Прямоугольник: скругленные углы 59">
                <a:extLst>
                  <a:ext uri="{FF2B5EF4-FFF2-40B4-BE49-F238E27FC236}">
                    <a16:creationId xmlns:a16="http://schemas.microsoft.com/office/drawing/2014/main" id="{AD8B2754-1AEB-9ED1-0FC7-814707174E8F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61" name="Рисунок 60">
                <a:extLst>
                  <a:ext uri="{FF2B5EF4-FFF2-40B4-BE49-F238E27FC236}">
                    <a16:creationId xmlns:a16="http://schemas.microsoft.com/office/drawing/2014/main" id="{B443EF93-234A-2FF4-D1E0-C6B9053004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59" name="Прямая соединительная линия 58">
              <a:extLst>
                <a:ext uri="{FF2B5EF4-FFF2-40B4-BE49-F238E27FC236}">
                  <a16:creationId xmlns:a16="http://schemas.microsoft.com/office/drawing/2014/main" id="{2CBF6736-DCBD-C993-1769-072D41536B1F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Прямоугольник: скругленные углы 61">
            <a:extLst>
              <a:ext uri="{FF2B5EF4-FFF2-40B4-BE49-F238E27FC236}">
                <a16:creationId xmlns:a16="http://schemas.microsoft.com/office/drawing/2014/main" id="{0425D387-9444-9F67-AAD2-EF221B23AA9F}"/>
              </a:ext>
            </a:extLst>
          </p:cNvPr>
          <p:cNvSpPr/>
          <p:nvPr/>
        </p:nvSpPr>
        <p:spPr>
          <a:xfrm>
            <a:off x="190500" y="4658151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3AB0061F-BE6E-AE34-0B5E-F731ABC2BC85}"/>
              </a:ext>
            </a:extLst>
          </p:cNvPr>
          <p:cNvGrpSpPr/>
          <p:nvPr/>
        </p:nvGrpSpPr>
        <p:grpSpPr>
          <a:xfrm>
            <a:off x="861468" y="106931"/>
            <a:ext cx="11206162" cy="786262"/>
            <a:chOff x="883444" y="90039"/>
            <a:chExt cx="11206162" cy="786262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90862BC6-CEE1-63FB-3A2E-3BB9920A453F}"/>
                </a:ext>
              </a:extLst>
            </p:cNvPr>
            <p:cNvSpPr/>
            <p:nvPr/>
          </p:nvSpPr>
          <p:spPr>
            <a:xfrm>
              <a:off x="883444" y="90039"/>
              <a:ext cx="11206162" cy="78626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692D4BA-6AB7-88E0-741A-61FDB63687D6}"/>
                </a:ext>
              </a:extLst>
            </p:cNvPr>
            <p:cNvSpPr txBox="1"/>
            <p:nvPr/>
          </p:nvSpPr>
          <p:spPr>
            <a:xfrm>
              <a:off x="11013826" y="221560"/>
              <a:ext cx="9876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9/9</a:t>
              </a:r>
            </a:p>
          </p:txBody>
        </p:sp>
      </p:grp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0CEC60D4-0CAA-05CF-C9C5-D87E1C2CC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6324" y="228389"/>
            <a:ext cx="10066797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Заключение</a:t>
            </a: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4B137328-195C-C343-7370-C4A755526655}"/>
              </a:ext>
            </a:extLst>
          </p:cNvPr>
          <p:cNvGrpSpPr/>
          <p:nvPr/>
        </p:nvGrpSpPr>
        <p:grpSpPr>
          <a:xfrm>
            <a:off x="1729466" y="2695636"/>
            <a:ext cx="3121184" cy="1466727"/>
            <a:chOff x="2341062" y="2335789"/>
            <a:chExt cx="3121184" cy="1466727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2EBD1A73-8D4A-E3F6-00E3-78341FF8385F}"/>
                </a:ext>
              </a:extLst>
            </p:cNvPr>
            <p:cNvSpPr/>
            <p:nvPr/>
          </p:nvSpPr>
          <p:spPr>
            <a:xfrm>
              <a:off x="2341062" y="2335789"/>
              <a:ext cx="3121184" cy="146672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rgbClr val="FFA72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9B5968C-50DC-1C00-843C-0492E03E7144}"/>
                </a:ext>
              </a:extLst>
            </p:cNvPr>
            <p:cNvSpPr txBox="1"/>
            <p:nvPr/>
          </p:nvSpPr>
          <p:spPr>
            <a:xfrm>
              <a:off x="2460074" y="2468988"/>
              <a:ext cx="288316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 b="0" i="0" u="none" strike="noStrike" cap="none" dirty="0">
                  <a:solidFill>
                    <a:srgbClr val="0E0E0E"/>
                  </a:solidFill>
                  <a:latin typeface="Comfortaa Medium" pitchFamily="2" charset="0"/>
                  <a:ea typeface="Poppins"/>
                  <a:cs typeface="Poppins"/>
                  <a:sym typeface="Poppins"/>
                </a:rPr>
                <a:t>Поставленная цель достигнута и вс</a:t>
              </a:r>
              <a:r>
                <a:rPr lang="ru-RU" sz="1800" dirty="0">
                  <a:solidFill>
                    <a:srgbClr val="0E0E0E"/>
                  </a:solidFill>
                  <a:latin typeface="Comfortaa Medium" pitchFamily="2" charset="0"/>
                  <a:ea typeface="Poppins"/>
                  <a:cs typeface="Poppins"/>
                  <a:sym typeface="Poppins"/>
                </a:rPr>
                <a:t>е компетенции закрыты</a:t>
              </a:r>
              <a:endParaRPr lang="ru-RU" sz="1800" b="0" i="0" u="none" strike="noStrike" cap="none" dirty="0">
                <a:solidFill>
                  <a:schemeClr val="dk1"/>
                </a:solidFill>
                <a:latin typeface="Comfortaa Medium" pitchFamily="2" charset="0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6" name="Picture 4" descr="Скачать картинки Куча бумаг, стоковые фото Куча бумаг в ...">
            <a:extLst>
              <a:ext uri="{FF2B5EF4-FFF2-40B4-BE49-F238E27FC236}">
                <a16:creationId xmlns:a16="http://schemas.microsoft.com/office/drawing/2014/main" id="{540B2C80-8D04-FB8B-4928-983FE16B08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80912" y1="32432" x2="75169" y2="20120"/>
                        <a14:foregroundMark x1="75169" y1="20120" x2="84122" y2="23423"/>
                        <a14:foregroundMark x1="88851" y1="15015" x2="80236" y2="14715"/>
                        <a14:foregroundMark x1="72128" y1="85886" x2="86149" y2="89189"/>
                        <a14:foregroundMark x1="86149" y1="89189" x2="88682" y2="87387"/>
                        <a14:foregroundMark x1="58446" y1="88589" x2="58108" y2="42643"/>
                        <a14:foregroundMark x1="58108" y1="42643" x2="44595" y2="40841"/>
                        <a14:foregroundMark x1="44595" y1="40841" x2="40114" y2="55131"/>
                        <a14:foregroundMark x1="39311" y1="64993" x2="40034" y2="74174"/>
                        <a14:foregroundMark x1="40034" y1="74174" x2="55574" y2="88889"/>
                        <a14:foregroundMark x1="55574" y1="88889" x2="58615" y2="89189"/>
                        <a14:foregroundMark x1="9966" y1="68168" x2="24324" y2="68468"/>
                        <a14:foregroundMark x1="24324" y1="68468" x2="27365" y2="86486"/>
                        <a14:foregroundMark x1="27365" y1="86486" x2="16723" y2="86186"/>
                        <a14:foregroundMark x1="16723" y1="86186" x2="10473" y2="74775"/>
                        <a14:foregroundMark x1="10473" y1="74775" x2="10642" y2="70270"/>
                        <a14:backgroundMark x1="39020" y1="54955" x2="38514" y2="648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022" t="10350" r="8680" b="7103"/>
          <a:stretch>
            <a:fillRect/>
          </a:stretch>
        </p:blipFill>
        <p:spPr bwMode="auto">
          <a:xfrm flipH="1">
            <a:off x="5562450" y="1764648"/>
            <a:ext cx="5525585" cy="3131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Стрелка: вправо 7">
            <a:extLst>
              <a:ext uri="{FF2B5EF4-FFF2-40B4-BE49-F238E27FC236}">
                <a16:creationId xmlns:a16="http://schemas.microsoft.com/office/drawing/2014/main" id="{AC877CA2-9573-9DE1-22A3-0618212CB73B}"/>
              </a:ext>
            </a:extLst>
          </p:cNvPr>
          <p:cNvSpPr/>
          <p:nvPr/>
        </p:nvSpPr>
        <p:spPr>
          <a:xfrm>
            <a:off x="5562450" y="4940403"/>
            <a:ext cx="5525585" cy="167330"/>
          </a:xfrm>
          <a:prstGeom prst="rightArrow">
            <a:avLst>
              <a:gd name="adj1" fmla="val 50000"/>
              <a:gd name="adj2" fmla="val 150859"/>
            </a:avLst>
          </a:prstGeom>
          <a:solidFill>
            <a:srgbClr val="FFA726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F23AB188-0DF7-04C6-CA18-23E2A5A1D16E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1EF7AA81-A177-C8A5-0A23-BEF9FB4C0A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3" name="Рисунок 12">
              <a:extLst>
                <a:ext uri="{FF2B5EF4-FFF2-40B4-BE49-F238E27FC236}">
                  <a16:creationId xmlns:a16="http://schemas.microsoft.com/office/drawing/2014/main" id="{73A79F4E-25E8-F7A7-F502-9181A2DFE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326E63CA-3C9D-FC8A-E3B2-CEED64A9C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32D8176F-7FC8-069A-9D6E-5D287BAFF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23928D34-FA7A-A4AD-7A1F-8C70B60B055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12FBA527-C771-DF00-E7E8-B1F2945CA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2294445E-4BA4-640E-A53E-6AB3B8030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A3C543EC-ABD7-14FE-50CC-9E9C48507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8902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3386C5-3FA0-8597-300C-56A3A49C1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B52B7A1-5536-3368-1FC6-FA2156E5FA99}"/>
              </a:ext>
            </a:extLst>
          </p:cNvPr>
          <p:cNvSpPr/>
          <p:nvPr/>
        </p:nvSpPr>
        <p:spPr>
          <a:xfrm>
            <a:off x="-1" y="-4281"/>
            <a:ext cx="762000" cy="6858000"/>
          </a:xfrm>
          <a:prstGeom prst="rect">
            <a:avLst/>
          </a:prstGeom>
          <a:solidFill>
            <a:srgbClr val="FFA7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9259D605-D79B-BBAF-ED9F-612B2856AA62}"/>
              </a:ext>
            </a:extLst>
          </p:cNvPr>
          <p:cNvSpPr/>
          <p:nvPr/>
        </p:nvSpPr>
        <p:spPr>
          <a:xfrm>
            <a:off x="1041394" y="6188619"/>
            <a:ext cx="10960105" cy="560572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CA8AA589-064A-6E80-6ABD-AC2FE43C0A29}"/>
              </a:ext>
            </a:extLst>
          </p:cNvPr>
          <p:cNvSpPr/>
          <p:nvPr/>
        </p:nvSpPr>
        <p:spPr>
          <a:xfrm>
            <a:off x="1041394" y="2425796"/>
            <a:ext cx="10960105" cy="1107666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97B9EFBB-FC6D-A943-3BD0-5C3D8EB5568E}"/>
              </a:ext>
            </a:extLst>
          </p:cNvPr>
          <p:cNvSpPr/>
          <p:nvPr/>
        </p:nvSpPr>
        <p:spPr>
          <a:xfrm>
            <a:off x="1041394" y="13983"/>
            <a:ext cx="10960105" cy="2202153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78B96E-7226-0466-04E1-1E93BF15EA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49446" y="108808"/>
            <a:ext cx="9144000" cy="1892300"/>
          </a:xfrm>
        </p:spPr>
        <p:txBody>
          <a:bodyPr>
            <a:normAutofit fontScale="90000"/>
          </a:bodyPr>
          <a:lstStyle/>
          <a:p>
            <a:r>
              <a:rPr lang="ru-RU" sz="1800" dirty="0"/>
              <a:t>ФЕДЕРАЛЬНОЕ ГОСУДАРСТВЕННОЕ БЮДЖЕТНОЕ ОБРАЗОВАТЕЛЬНОЕ</a:t>
            </a:r>
            <a:br>
              <a:rPr lang="ru-RU" sz="1800" dirty="0"/>
            </a:br>
            <a:r>
              <a:rPr lang="ru-RU" sz="1800" dirty="0"/>
              <a:t>УЧРЕЖДЕНИЕ ВЫСШЕГО ОБРАЗОВАНИЯ</a:t>
            </a:r>
            <a:br>
              <a:rPr lang="ru-RU" sz="1800" dirty="0"/>
            </a:br>
            <a:r>
              <a:rPr lang="ru-RU" sz="1800" dirty="0"/>
              <a:t>«САНКТ-ПЕТЕРБУРГСКИЙ ГОСУДАРСТВЕННЫЙ УНИВЕРСИТЕТ</a:t>
            </a:r>
            <a:br>
              <a:rPr lang="ru-RU" sz="1800" dirty="0"/>
            </a:br>
            <a:r>
              <a:rPr lang="ru-RU" sz="1800" dirty="0"/>
              <a:t>ТЕЛЕКОММУНИКАЦИЙ ИМ. ПРОФ. М.А. БОНЧ-БРУЕВИЧА»</a:t>
            </a:r>
            <a:br>
              <a:rPr lang="ru-RU" sz="1800" dirty="0"/>
            </a:br>
            <a:r>
              <a:rPr lang="ru-RU" sz="1800" dirty="0"/>
              <a:t>(СПбГУТ)</a:t>
            </a:r>
            <a:br>
              <a:rPr lang="ru-RU" sz="1800" dirty="0"/>
            </a:br>
            <a:r>
              <a:rPr lang="ru-RU" sz="1800" dirty="0"/>
              <a:t>АРХАНГЕЛЬСКИЙ КОЛЛЕДЖ ТЕЛЕКОММУНИКАЦИЙ</a:t>
            </a:r>
            <a:br>
              <a:rPr lang="ru-RU" sz="1800" dirty="0"/>
            </a:br>
            <a:r>
              <a:rPr lang="ru-RU" sz="1800" dirty="0"/>
              <a:t>ИМ. Б.Л. РОЗИНГА (ФИЛИАЛ) СПбГУТ</a:t>
            </a:r>
            <a:br>
              <a:rPr lang="ru-RU" sz="1800" dirty="0"/>
            </a:br>
            <a:r>
              <a:rPr lang="ru-RU" sz="1800" dirty="0"/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0E00C9-CBE1-F8E9-855E-FC72F125048F}"/>
              </a:ext>
            </a:extLst>
          </p:cNvPr>
          <p:cNvSpPr txBox="1"/>
          <p:nvPr/>
        </p:nvSpPr>
        <p:spPr>
          <a:xfrm>
            <a:off x="3473446" y="628423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Архангельск, 2025</a:t>
            </a:r>
          </a:p>
        </p:txBody>
      </p: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47B27502-B663-3079-12C5-1C65CE1963B1}"/>
              </a:ext>
            </a:extLst>
          </p:cNvPr>
          <p:cNvGrpSpPr/>
          <p:nvPr/>
        </p:nvGrpSpPr>
        <p:grpSpPr>
          <a:xfrm>
            <a:off x="102394" y="190499"/>
            <a:ext cx="557212" cy="532449"/>
            <a:chOff x="102394" y="190499"/>
            <a:chExt cx="557212" cy="532449"/>
          </a:xfrm>
        </p:grpSpPr>
        <p:grpSp>
          <p:nvGrpSpPr>
            <p:cNvPr id="46" name="Группа 45">
              <a:extLst>
                <a:ext uri="{FF2B5EF4-FFF2-40B4-BE49-F238E27FC236}">
                  <a16:creationId xmlns:a16="http://schemas.microsoft.com/office/drawing/2014/main" id="{D17199FB-3A9E-A640-B8F4-46A790585344}"/>
                </a:ext>
              </a:extLst>
            </p:cNvPr>
            <p:cNvGrpSpPr/>
            <p:nvPr/>
          </p:nvGrpSpPr>
          <p:grpSpPr>
            <a:xfrm>
              <a:off x="190500" y="190499"/>
              <a:ext cx="381000" cy="381000"/>
              <a:chOff x="190500" y="190499"/>
              <a:chExt cx="381000" cy="381000"/>
            </a:xfrm>
          </p:grpSpPr>
          <p:sp>
            <p:nvSpPr>
              <p:cNvPr id="21" name="Прямоугольник: скругленные углы 20">
                <a:extLst>
                  <a:ext uri="{FF2B5EF4-FFF2-40B4-BE49-F238E27FC236}">
                    <a16:creationId xmlns:a16="http://schemas.microsoft.com/office/drawing/2014/main" id="{EC2EF9F9-862D-4A5C-0171-E04C08930345}"/>
                  </a:ext>
                </a:extLst>
              </p:cNvPr>
              <p:cNvSpPr/>
              <p:nvPr/>
            </p:nvSpPr>
            <p:spPr>
              <a:xfrm>
                <a:off x="190500" y="190499"/>
                <a:ext cx="381000" cy="381000"/>
              </a:xfrm>
              <a:prstGeom prst="roundRect">
                <a:avLst/>
              </a:prstGeom>
              <a:solidFill>
                <a:srgbClr val="FFB951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20" name="Рисунок 19">
                <a:extLst>
                  <a:ext uri="{FF2B5EF4-FFF2-40B4-BE49-F238E27FC236}">
                    <a16:creationId xmlns:a16="http://schemas.microsoft.com/office/drawing/2014/main" id="{759BA008-8F6A-FE25-BFDD-239F1E1D92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1937" y="261936"/>
                <a:ext cx="238126" cy="238126"/>
              </a:xfrm>
              <a:prstGeom prst="rect">
                <a:avLst/>
              </a:prstGeom>
              <a:ln>
                <a:noFill/>
              </a:ln>
            </p:spPr>
          </p:pic>
        </p:grp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FF1AA469-F92A-B293-57C5-C97B66E7C08B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4" y="722948"/>
              <a:ext cx="55721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: скругленные углы 43">
            <a:extLst>
              <a:ext uri="{FF2B5EF4-FFF2-40B4-BE49-F238E27FC236}">
                <a16:creationId xmlns:a16="http://schemas.microsoft.com/office/drawing/2014/main" id="{339DDBDB-9DAA-1C71-1501-E257B106DA01}"/>
              </a:ext>
            </a:extLst>
          </p:cNvPr>
          <p:cNvSpPr/>
          <p:nvPr/>
        </p:nvSpPr>
        <p:spPr>
          <a:xfrm>
            <a:off x="190500" y="895339"/>
            <a:ext cx="381000" cy="381000"/>
          </a:xfrm>
          <a:prstGeom prst="roundRect">
            <a:avLst/>
          </a:prstGeom>
          <a:solidFill>
            <a:srgbClr val="FFB951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45B83577-4423-EBDB-AEBA-E002CC48FAE2}"/>
              </a:ext>
            </a:extLst>
          </p:cNvPr>
          <p:cNvGrpSpPr/>
          <p:nvPr/>
        </p:nvGrpSpPr>
        <p:grpSpPr>
          <a:xfrm>
            <a:off x="1041393" y="3810289"/>
            <a:ext cx="10960105" cy="936757"/>
            <a:chOff x="1041393" y="3810289"/>
            <a:chExt cx="10960105" cy="936757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692223D9-0EA9-7AB5-FBBE-94F3A097ACC0}"/>
                </a:ext>
              </a:extLst>
            </p:cNvPr>
            <p:cNvSpPr/>
            <p:nvPr/>
          </p:nvSpPr>
          <p:spPr>
            <a:xfrm>
              <a:off x="1041393" y="3810289"/>
              <a:ext cx="10960105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0D419E4-3024-2398-CA3A-64B33290224B}"/>
                </a:ext>
              </a:extLst>
            </p:cNvPr>
            <p:cNvSpPr txBox="1"/>
            <p:nvPr/>
          </p:nvSpPr>
          <p:spPr>
            <a:xfrm>
              <a:off x="1823834" y="3951615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/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Студент ИСПП-21</a:t>
              </a:r>
              <a:endParaRPr lang="en-US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AADD2C1E-19DB-BFB4-4872-5BEAF8853009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E4AC184-97A1-09BB-FA57-7DC4F6405745}"/>
                </a:ext>
              </a:extLst>
            </p:cNvPr>
            <p:cNvSpPr txBox="1"/>
            <p:nvPr/>
          </p:nvSpPr>
          <p:spPr>
            <a:xfrm>
              <a:off x="1169392" y="4047835"/>
              <a:ext cx="6544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2400" dirty="0">
                  <a:solidFill>
                    <a:schemeClr val="bg1"/>
                  </a:solidFill>
                </a:rPr>
                <a:t>ЕВ</a:t>
              </a:r>
            </a:p>
          </p:txBody>
        </p:sp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7687226C-1213-A9AF-8E74-C06102A7EC7E}"/>
              </a:ext>
            </a:extLst>
          </p:cNvPr>
          <p:cNvGrpSpPr/>
          <p:nvPr/>
        </p:nvGrpSpPr>
        <p:grpSpPr>
          <a:xfrm>
            <a:off x="1041393" y="4984592"/>
            <a:ext cx="10960105" cy="936757"/>
            <a:chOff x="1041393" y="3810289"/>
            <a:chExt cx="10960105" cy="936757"/>
          </a:xfrm>
        </p:grpSpPr>
        <p:sp>
          <p:nvSpPr>
            <p:cNvPr id="34" name="Прямоугольник: скругленные углы 33">
              <a:extLst>
                <a:ext uri="{FF2B5EF4-FFF2-40B4-BE49-F238E27FC236}">
                  <a16:creationId xmlns:a16="http://schemas.microsoft.com/office/drawing/2014/main" id="{75955B45-9E31-2F2B-8C07-E124D54BF85E}"/>
                </a:ext>
              </a:extLst>
            </p:cNvPr>
            <p:cNvSpPr/>
            <p:nvPr/>
          </p:nvSpPr>
          <p:spPr>
            <a:xfrm>
              <a:off x="1041393" y="3810289"/>
              <a:ext cx="10960105" cy="9367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E7E9074-430A-933C-5DAA-0AB35224E746}"/>
                </a:ext>
              </a:extLst>
            </p:cNvPr>
            <p:cNvSpPr txBox="1"/>
            <p:nvPr/>
          </p:nvSpPr>
          <p:spPr>
            <a:xfrm>
              <a:off x="1823834" y="3951615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/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Руководитель</a:t>
              </a:r>
              <a:endParaRPr lang="en-US" dirty="0"/>
            </a:p>
          </p:txBody>
        </p:sp>
        <p:sp>
          <p:nvSpPr>
            <p:cNvPr id="38" name="Овал 37">
              <a:extLst>
                <a:ext uri="{FF2B5EF4-FFF2-40B4-BE49-F238E27FC236}">
                  <a16:creationId xmlns:a16="http://schemas.microsoft.com/office/drawing/2014/main" id="{653993F3-A0E7-E989-DEEF-9F3ADA682F50}"/>
                </a:ext>
              </a:extLst>
            </p:cNvPr>
            <p:cNvSpPr/>
            <p:nvPr/>
          </p:nvSpPr>
          <p:spPr>
            <a:xfrm>
              <a:off x="1217221" y="3987648"/>
              <a:ext cx="558787" cy="558787"/>
            </a:xfrm>
            <a:prstGeom prst="ellipse">
              <a:avLst/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4405FE6-40EA-AE98-8FC5-2C272C0505A8}"/>
                </a:ext>
              </a:extLst>
            </p:cNvPr>
            <p:cNvSpPr txBox="1"/>
            <p:nvPr/>
          </p:nvSpPr>
          <p:spPr>
            <a:xfrm>
              <a:off x="1169394" y="4066986"/>
              <a:ext cx="65444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2000" dirty="0">
                  <a:solidFill>
                    <a:schemeClr val="bg1"/>
                  </a:solidFill>
                </a:rPr>
                <a:t>МЮ</a:t>
              </a:r>
            </a:p>
          </p:txBody>
        </p:sp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2A9FE88E-DC20-EB0A-9815-04ABF47411D6}"/>
              </a:ext>
            </a:extLst>
          </p:cNvPr>
          <p:cNvGrpSpPr/>
          <p:nvPr/>
        </p:nvGrpSpPr>
        <p:grpSpPr>
          <a:xfrm>
            <a:off x="279395" y="984234"/>
            <a:ext cx="203210" cy="3966022"/>
            <a:chOff x="279395" y="984234"/>
            <a:chExt cx="203210" cy="3966022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852A145A-737D-D96B-62F9-E69E9FCDB6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984234"/>
              <a:ext cx="203210" cy="203210"/>
            </a:xfrm>
            <a:prstGeom prst="rect">
              <a:avLst/>
            </a:prstGeom>
          </p:spPr>
        </p:pic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E4FD6315-AEE4-F80F-E5F9-9DDE72298D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1521779"/>
              <a:ext cx="203210" cy="203210"/>
            </a:xfrm>
            <a:prstGeom prst="rect">
              <a:avLst/>
            </a:prstGeom>
          </p:spPr>
        </p:pic>
        <p:pic>
          <p:nvPicPr>
            <p:cNvPr id="13" name="Рисунок 12">
              <a:extLst>
                <a:ext uri="{FF2B5EF4-FFF2-40B4-BE49-F238E27FC236}">
                  <a16:creationId xmlns:a16="http://schemas.microsoft.com/office/drawing/2014/main" id="{0CAE4583-2B1D-C4A0-9D5C-31E0118191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134414"/>
              <a:ext cx="203210" cy="203210"/>
            </a:xfrm>
            <a:prstGeom prst="rect">
              <a:avLst/>
            </a:prstGeom>
          </p:spPr>
        </p:pic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2636B2CF-7F76-2E70-5C57-71307AAA8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596869"/>
              <a:ext cx="203210" cy="203210"/>
            </a:xfrm>
            <a:prstGeom prst="rect">
              <a:avLst/>
            </a:prstGeom>
          </p:spPr>
        </p:pic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12F58EB4-D268-4A29-5B3E-F082690AE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3671959"/>
              <a:ext cx="203210" cy="203210"/>
            </a:xfrm>
            <a:prstGeom prst="rect">
              <a:avLst/>
            </a:prstGeom>
          </p:spPr>
        </p:pic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CB55522-ABEB-48F1-416F-AE198FC8960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209504"/>
              <a:ext cx="203210" cy="203210"/>
            </a:xfrm>
            <a:prstGeom prst="rect">
              <a:avLst/>
            </a:prstGeom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A9F50C00-4326-E93F-20C7-911C8D81C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2059324"/>
              <a:ext cx="203210" cy="203210"/>
            </a:xfrm>
            <a:prstGeom prst="rect">
              <a:avLst/>
            </a:prstGeom>
          </p:spPr>
        </p:pic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2F73CC1C-5A86-3775-3155-1A59291BF13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395" y="4747046"/>
              <a:ext cx="203210" cy="203210"/>
            </a:xfrm>
            <a:prstGeom prst="rect">
              <a:avLst/>
            </a:prstGeom>
          </p:spPr>
        </p:pic>
      </p:grp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D7FD623B-0103-FC8B-33DC-3B8AF7E45C15}"/>
              </a:ext>
            </a:extLst>
          </p:cNvPr>
          <p:cNvSpPr txBox="1">
            <a:spLocks/>
          </p:cNvSpPr>
          <p:nvPr/>
        </p:nvSpPr>
        <p:spPr>
          <a:xfrm>
            <a:off x="1949446" y="2682215"/>
            <a:ext cx="9144000" cy="890180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3200" dirty="0">
                <a:latin typeface="Comfortaa Medium" pitchFamily="2" charset="0"/>
              </a:rPr>
              <a:t>КУРСОВОЙ ПРОЕКТ</a:t>
            </a:r>
          </a:p>
          <a:p>
            <a:r>
              <a:rPr lang="ru-RU" dirty="0">
                <a:latin typeface="Comfortaa Medium" pitchFamily="2" charset="0"/>
              </a:rPr>
              <a:t>РАЗРАБОТКА ПОДССИТЕМЫ УЧЕТА НОМЕРНОГО ФОНДА ОБЩЕЖИТИЯ</a:t>
            </a:r>
          </a:p>
        </p:txBody>
      </p:sp>
    </p:spTree>
    <p:extLst>
      <p:ext uri="{BB962C8B-B14F-4D97-AF65-F5344CB8AC3E}">
        <p14:creationId xmlns:p14="http://schemas.microsoft.com/office/powerpoint/2010/main" val="3378014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2563</TotalTime>
  <Words>253</Words>
  <Application>Microsoft Office PowerPoint</Application>
  <PresentationFormat>Широкоэкранный</PresentationFormat>
  <Paragraphs>74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Bahnschrift</vt:lpstr>
      <vt:lpstr>Calibri</vt:lpstr>
      <vt:lpstr>Comfortaa Medium</vt:lpstr>
      <vt:lpstr>Comfortaa SemiBold</vt:lpstr>
      <vt:lpstr>Тема Office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Преимущества проекта</vt:lpstr>
      <vt:lpstr>Заключение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Вячеслав Екимов</dc:creator>
  <cp:lastModifiedBy>Вячеслав Екимов</cp:lastModifiedBy>
  <cp:revision>109</cp:revision>
  <dcterms:created xsi:type="dcterms:W3CDTF">2025-11-25T06:59:53Z</dcterms:created>
  <dcterms:modified xsi:type="dcterms:W3CDTF">2025-12-05T08:29:55Z</dcterms:modified>
</cp:coreProperties>
</file>