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7" r:id="rId2"/>
    <p:sldId id="258" r:id="rId3"/>
    <p:sldId id="260" r:id="rId4"/>
    <p:sldId id="261" r:id="rId5"/>
    <p:sldId id="262" r:id="rId6"/>
    <p:sldId id="269" r:id="rId7"/>
    <p:sldId id="263" r:id="rId8"/>
    <p:sldId id="264" r:id="rId9"/>
    <p:sldId id="265" r:id="rId10"/>
    <p:sldId id="268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50BD95-F608-64F7-6F20-62898EB5AE6C}" name="Вячеслав Екимов" initials="ВЕ" userId="04c4849db6b4c79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7FB"/>
    <a:srgbClr val="CAC8CE"/>
    <a:srgbClr val="F7941D"/>
    <a:srgbClr val="0A0A0A"/>
    <a:srgbClr val="FFA726"/>
    <a:srgbClr val="FFB951"/>
    <a:srgbClr val="9292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39" autoAdjust="0"/>
  </p:normalViewPr>
  <p:slideViewPr>
    <p:cSldViewPr snapToGrid="0">
      <p:cViewPr varScale="1">
        <p:scale>
          <a:sx n="101" d="100"/>
          <a:sy n="101" d="100"/>
        </p:scale>
        <p:origin x="100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A30F77-5712-483B-AA1A-1F3B9FE8DBCC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9357B-58AA-43FF-A802-AA7AB61A6A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7197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6614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29357B-58AA-43FF-A802-AA7AB61A6AAB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059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8380A-9423-2FA2-D5B0-1884D26FF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C58BE93-EAB7-280F-4E4E-47DC5C93A6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8EDCCC-CB26-05BD-EB00-4A466F7C1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E28CEF-2613-447E-A53E-0B077C5C5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2D2E5-4245-A3E0-986A-AA845A3C9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91847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EB4F7E-8AAC-86DB-EDDB-BBAD29251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EF1258-D76E-86DB-DD8D-A3EA43D73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9CB4EF-8C33-79E9-2955-949B5E16C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E019E2-97A8-9962-D7CB-1E0B42D67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13C3A7-7402-86CA-A688-BD198E0A0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637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227D42-223C-CEA8-E53A-C05B95640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93D0B1-E7FF-6E4D-A4D0-D1A01EAAA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4DBE74-4D71-17C6-CA0A-72CABFCAD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30C87C-5C6A-D94A-7794-EAE815FC8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402E7E-6609-FBF0-514C-F9BAC7936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2083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D7E511-99A9-4B55-82A6-A73F8C5CA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D85C66-692E-F451-2184-8A0EAA3BC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A5A45D7-ADC5-59A5-F117-9B68A79018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CBD10DE-9FA8-E6D5-9D1C-10966A0AA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ADCCAC7-E2EB-8727-A432-A2946AEAC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232C931-7E70-59B8-BD06-2629946AF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3871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0552F1-CBC9-5DD3-C255-9B8AB5FAE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4D7C40-B426-B4B7-8713-0D00C0A52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57E514-E9A5-85BF-66C3-A810B7FEDD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AFE8D6B-466B-AAFA-2F41-20F8C6E204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F473CE1-EFC0-3E97-5C64-25215F619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B3B9AD8-2963-5D05-DA6F-26449F08C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990D777-8084-B2C3-6FD5-B72C4932B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383464-126A-CCC4-6D07-1CCDE521C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9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4672D1-435A-6695-AAE9-5F924AF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F82470A-E085-C7C9-6BDF-0D6F06DC5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6C6E97-CB7E-95D0-F6CE-46AA7187A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D1E3BC-9138-F0BD-25C1-B1EE77962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69961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4519456-965A-DA34-8428-C1A7DC138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D729651-A699-8B52-EDA2-21A03763D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0D4FA4E-6223-F4EC-24AB-17720F0F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4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266867-88EA-2FF0-B4B2-69DCC6293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775021-FCD5-A2D0-5683-05376AAA9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F8C158-A641-C1F7-E093-9E373DCE5E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02E973-2D7A-19F2-C6AC-E3FD35DDF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F6C5D14-CE5D-82CC-9EDA-6426A88FF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B67F6E-1729-AEA0-F202-9939B031C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037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836381-11AA-8B03-FFF1-465632E98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580EA58-73A3-3B60-EB50-ACD1FFC2E4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987F52-A28E-FC4D-6B40-609EB4C862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38D6CA6-DFEF-8458-D736-A7F6BD954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BE3E6FF-10EC-DE97-017C-F7C03CD27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975476-3897-E9A6-7E95-677BD246A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346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1C38F8-4770-2885-AF17-C5F3FFFF1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9C00799-4BDE-F0FC-444C-0608172216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53DAC9-7E3F-D195-057D-0C32D49D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118733-EC5E-1FF3-7182-EC9B7D2B3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DFB00AB-1CF5-B41F-84F4-FE741EC69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7272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9709855-26B2-5DD6-3BDB-9D07932BD5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F0A37B5-0ACC-8920-70B8-CDC7DAA89D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3CC0B8-57C2-B1C8-69B2-D838D6D85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FEFB77-1A27-A578-FF6F-A8585369F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81010E-3908-1AE9-BAD4-9150E5C2E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075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5618BC-B3D9-6BE4-E43A-C9540C199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292D365-AB0A-5BBF-6B17-F8C8678F5D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69308B-300F-DF38-C580-C50C822D75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3FD95-13B8-4D9F-981D-7E2051AFE206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6BDA14-0170-9FF8-D6E9-60BB2D5723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789941-67FE-9B0F-DDCA-026D8FEB3D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CAA902-6E3C-42E3-813A-F7B0A3E989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120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microsoft.com/office/2007/relationships/hdphoto" Target="../media/hdphoto3.wdp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5.png"/><Relationship Id="rId17" Type="http://schemas.openxmlformats.org/officeDocument/2006/relationships/image" Target="../media/image19.png"/><Relationship Id="rId2" Type="http://schemas.openxmlformats.org/officeDocument/2006/relationships/image" Target="../media/image6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4.png"/><Relationship Id="rId5" Type="http://schemas.openxmlformats.org/officeDocument/2006/relationships/image" Target="../media/image9.png"/><Relationship Id="rId15" Type="http://schemas.openxmlformats.org/officeDocument/2006/relationships/image" Target="../media/image17.png"/><Relationship Id="rId10" Type="http://schemas.microsoft.com/office/2007/relationships/hdphoto" Target="../media/hdphoto4.wdp"/><Relationship Id="rId4" Type="http://schemas.openxmlformats.org/officeDocument/2006/relationships/image" Target="../media/image8.svg"/><Relationship Id="rId9" Type="http://schemas.openxmlformats.org/officeDocument/2006/relationships/image" Target="../media/image13.png"/><Relationship Id="rId14" Type="http://schemas.microsoft.com/office/2007/relationships/hdphoto" Target="../media/hdphoto5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DC20C-B974-7D50-DE3D-F4AE2E02B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Овал 50">
            <a:extLst>
              <a:ext uri="{FF2B5EF4-FFF2-40B4-BE49-F238E27FC236}">
                <a16:creationId xmlns:a16="http://schemas.microsoft.com/office/drawing/2014/main" id="{1A48AAD8-6144-9780-7F06-C30A4B2A1A41}"/>
              </a:ext>
            </a:extLst>
          </p:cNvPr>
          <p:cNvSpPr/>
          <p:nvPr/>
        </p:nvSpPr>
        <p:spPr>
          <a:xfrm>
            <a:off x="8023370" y="3286998"/>
            <a:ext cx="5481380" cy="548138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616325C3-EFE7-4BDB-1551-6B7CB9DF0A09}"/>
              </a:ext>
            </a:extLst>
          </p:cNvPr>
          <p:cNvSpPr/>
          <p:nvPr/>
        </p:nvSpPr>
        <p:spPr>
          <a:xfrm>
            <a:off x="-4296229" y="-3556000"/>
            <a:ext cx="8076071" cy="798566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AB9DA4-E4CA-C2E1-47CE-6C9568A852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689"/>
            <a:ext cx="9144000" cy="1789967"/>
          </a:xfrm>
        </p:spPr>
        <p:txBody>
          <a:bodyPr>
            <a:normAutofit fontScale="90000"/>
          </a:bodyPr>
          <a:lstStyle/>
          <a:p>
            <a:r>
              <a:rPr lang="ru-RU" sz="1800" dirty="0">
                <a:latin typeface="Comfortaa Medium" pitchFamily="2" charset="0"/>
              </a:rPr>
              <a:t>ФЕДЕРАЛЬНОЕ ГОСУДАРСТВЕННОЕ БЮДЖЕТНОЕ ОБРАЗОВАТЕЛЬНОЕ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УЧРЕЖДЕНИЕ ВЫСШЕГО ОБРАЗОВАНИЯ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«САНКТ-ПЕТЕРБУРГСКИЙ ГОСУДАРСТВЕННЫЙ УНИВЕРСИТЕТ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ТЕЛЕКОММУНИКАЦИЙ ИМ. ПРОФ. М.А. БОНЧ-БРУЕВИЧА»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(СПбГУТ)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АРХАНГЕЛЬСКИЙ КОЛЛЕДЖ ТЕЛЕКОММУНИКАЦИЙ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ИМ. Б.Л. РОЗИНГА (ФИЛИАЛ) СПбГУТ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21CD4C-39F8-5AB1-A900-3DDA4842C56E}"/>
              </a:ext>
            </a:extLst>
          </p:cNvPr>
          <p:cNvSpPr txBox="1"/>
          <p:nvPr/>
        </p:nvSpPr>
        <p:spPr>
          <a:xfrm>
            <a:off x="161921" y="6254515"/>
            <a:ext cx="11814238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0A0A0A"/>
                </a:solidFill>
                <a:latin typeface="Comfortaa Medium" pitchFamily="2" charset="0"/>
              </a:rPr>
              <a:t>Архангельск 2026</a:t>
            </a:r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AD85015E-7D46-3E84-D99E-72E645489E2A}"/>
              </a:ext>
            </a:extLst>
          </p:cNvPr>
          <p:cNvGrpSpPr/>
          <p:nvPr/>
        </p:nvGrpSpPr>
        <p:grpSpPr>
          <a:xfrm>
            <a:off x="396683" y="4447382"/>
            <a:ext cx="7445845" cy="646331"/>
            <a:chOff x="302493" y="3951615"/>
            <a:chExt cx="7445845" cy="64633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4F83941-24F9-4C65-E887-ED78DBD9BA03}"/>
                </a:ext>
              </a:extLst>
            </p:cNvPr>
            <p:cNvSpPr txBox="1"/>
            <p:nvPr/>
          </p:nvSpPr>
          <p:spPr>
            <a:xfrm>
              <a:off x="1057275" y="3951615"/>
              <a:ext cx="669106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Екимов Вячеслав Андреевич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Студент ИСПП-21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C56813F5-9AA5-14C3-41A3-9E6A35314B3A}"/>
                </a:ext>
              </a:extLst>
            </p:cNvPr>
            <p:cNvGrpSpPr/>
            <p:nvPr/>
          </p:nvGrpSpPr>
          <p:grpSpPr>
            <a:xfrm>
              <a:off x="302493" y="3992823"/>
              <a:ext cx="656149" cy="558787"/>
              <a:chOff x="1169726" y="3999274"/>
              <a:chExt cx="656149" cy="558787"/>
            </a:xfrm>
          </p:grpSpPr>
          <p:sp>
            <p:nvSpPr>
              <p:cNvPr id="14" name="Овал 13">
                <a:extLst>
                  <a:ext uri="{FF2B5EF4-FFF2-40B4-BE49-F238E27FC236}">
                    <a16:creationId xmlns:a16="http://schemas.microsoft.com/office/drawing/2014/main" id="{ED0394F8-5703-1198-BD2B-A14DD074DBC5}"/>
                  </a:ext>
                </a:extLst>
              </p:cNvPr>
              <p:cNvSpPr/>
              <p:nvPr/>
            </p:nvSpPr>
            <p:spPr>
              <a:xfrm>
                <a:off x="1217679" y="3999274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4FAFDF-A957-9B2B-70B5-B612DA3D90B7}"/>
                  </a:ext>
                </a:extLst>
              </p:cNvPr>
              <p:cNvSpPr txBox="1"/>
              <p:nvPr/>
            </p:nvSpPr>
            <p:spPr>
              <a:xfrm>
                <a:off x="1169726" y="4114784"/>
                <a:ext cx="65614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ЕВ</a:t>
                </a:r>
                <a:endParaRPr lang="ru-RU" dirty="0">
                  <a:solidFill>
                    <a:schemeClr val="bg1"/>
                  </a:solidFill>
                  <a:latin typeface="Comfortaa Medium" pitchFamily="2" charset="0"/>
                </a:endParaRPr>
              </a:p>
            </p:txBody>
          </p:sp>
        </p:grpSp>
      </p:grp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33F6D357-730F-9F96-71BB-4E6519630FF1}"/>
              </a:ext>
            </a:extLst>
          </p:cNvPr>
          <p:cNvGrpSpPr/>
          <p:nvPr/>
        </p:nvGrpSpPr>
        <p:grpSpPr>
          <a:xfrm>
            <a:off x="342763" y="5325049"/>
            <a:ext cx="7499765" cy="646331"/>
            <a:chOff x="248573" y="5125918"/>
            <a:chExt cx="7499765" cy="646331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4053BD7-399E-F3C5-6D32-5B88110F9CF6}"/>
                </a:ext>
              </a:extLst>
            </p:cNvPr>
            <p:cNvSpPr txBox="1"/>
            <p:nvPr/>
          </p:nvSpPr>
          <p:spPr>
            <a:xfrm>
              <a:off x="1057276" y="5125918"/>
              <a:ext cx="6691062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Маломан Юлия Сергеевна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Руководитель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1" name="Группа 30">
              <a:extLst>
                <a:ext uri="{FF2B5EF4-FFF2-40B4-BE49-F238E27FC236}">
                  <a16:creationId xmlns:a16="http://schemas.microsoft.com/office/drawing/2014/main" id="{DC9F433C-E88C-0EF2-4364-4B4793046D49}"/>
                </a:ext>
              </a:extLst>
            </p:cNvPr>
            <p:cNvGrpSpPr/>
            <p:nvPr/>
          </p:nvGrpSpPr>
          <p:grpSpPr>
            <a:xfrm>
              <a:off x="248573" y="5173577"/>
              <a:ext cx="763987" cy="558787"/>
              <a:chOff x="1115612" y="5161951"/>
              <a:chExt cx="763987" cy="558787"/>
            </a:xfrm>
          </p:grpSpPr>
          <p:sp>
            <p:nvSpPr>
              <p:cNvPr id="38" name="Овал 37">
                <a:extLst>
                  <a:ext uri="{FF2B5EF4-FFF2-40B4-BE49-F238E27FC236}">
                    <a16:creationId xmlns:a16="http://schemas.microsoft.com/office/drawing/2014/main" id="{A28C6147-73C2-AE23-E8A6-4FE47C79D092}"/>
                  </a:ext>
                </a:extLst>
              </p:cNvPr>
              <p:cNvSpPr/>
              <p:nvPr/>
            </p:nvSpPr>
            <p:spPr>
              <a:xfrm>
                <a:off x="1217221" y="5161951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6885912-CBAF-F984-FD36-F3664EB563B4}"/>
                  </a:ext>
                </a:extLst>
              </p:cNvPr>
              <p:cNvSpPr txBox="1"/>
              <p:nvPr/>
            </p:nvSpPr>
            <p:spPr>
              <a:xfrm>
                <a:off x="1115612" y="5279806"/>
                <a:ext cx="76398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МЮ</a:t>
                </a:r>
              </a:p>
            </p:txBody>
          </p:sp>
        </p:grpSp>
      </p:grpSp>
      <p:sp>
        <p:nvSpPr>
          <p:cNvPr id="29" name="Подзаголовок 2">
            <a:extLst>
              <a:ext uri="{FF2B5EF4-FFF2-40B4-BE49-F238E27FC236}">
                <a16:creationId xmlns:a16="http://schemas.microsoft.com/office/drawing/2014/main" id="{D18717F3-75BD-60DC-E9B0-7FC3309B3F3F}"/>
              </a:ext>
            </a:extLst>
          </p:cNvPr>
          <p:cNvSpPr txBox="1">
            <a:spLocks/>
          </p:cNvSpPr>
          <p:nvPr/>
        </p:nvSpPr>
        <p:spPr>
          <a:xfrm>
            <a:off x="161921" y="2203791"/>
            <a:ext cx="11868159" cy="17899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5200" dirty="0">
                <a:latin typeface="Comfortaa Medium" pitchFamily="2" charset="0"/>
              </a:rPr>
              <a:t>ДИПЛОМНЫЙ ПРОЕКТ</a:t>
            </a:r>
          </a:p>
          <a:p>
            <a:pPr algn="l"/>
            <a:r>
              <a:rPr lang="ru-RU" sz="2600" dirty="0">
                <a:latin typeface="Comfortaa Medium" pitchFamily="2" charset="0"/>
              </a:rPr>
              <a:t>РАЗРАБОТКА ИНФОРМАЦИОННЫЙ СИСТЕМЫ УЧЕТА НОМЕРНОГО ФОНДА ОБЩЕЖИТИЯ</a:t>
            </a:r>
          </a:p>
        </p:txBody>
      </p:sp>
    </p:spTree>
    <p:extLst>
      <p:ext uri="{BB962C8B-B14F-4D97-AF65-F5344CB8AC3E}">
        <p14:creationId xmlns:p14="http://schemas.microsoft.com/office/powerpoint/2010/main" val="3589948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098A26E4-6008-04F1-A835-622B51F65FCB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0" name="Овал 89">
            <a:extLst>
              <a:ext uri="{FF2B5EF4-FFF2-40B4-BE49-F238E27FC236}">
                <a16:creationId xmlns:a16="http://schemas.microsoft.com/office/drawing/2014/main" id="{EE661BD3-8ABE-F6AF-1581-DD5D1F6B1B9D}"/>
              </a:ext>
            </a:extLst>
          </p:cNvPr>
          <p:cNvSpPr/>
          <p:nvPr/>
        </p:nvSpPr>
        <p:spPr>
          <a:xfrm>
            <a:off x="6858000" y="-446583"/>
            <a:ext cx="7975563" cy="7975563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052" name="Picture 4" descr="Скачать картинки Куча бумаг, стоковые фото Куча бумаг в ...">
            <a:extLst>
              <a:ext uri="{FF2B5EF4-FFF2-40B4-BE49-F238E27FC236}">
                <a16:creationId xmlns:a16="http://schemas.microsoft.com/office/drawing/2014/main" id="{46FCE9F9-7F4E-6496-A377-697DCB8F10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80912" y1="32432" x2="75169" y2="20120"/>
                        <a14:foregroundMark x1="75169" y1="20120" x2="84122" y2="23423"/>
                        <a14:foregroundMark x1="88851" y1="15015" x2="80236" y2="14715"/>
                        <a14:foregroundMark x1="72128" y1="85886" x2="86149" y2="89189"/>
                        <a14:foregroundMark x1="86149" y1="89189" x2="88682" y2="87387"/>
                        <a14:foregroundMark x1="58446" y1="88589" x2="58108" y2="42643"/>
                        <a14:foregroundMark x1="58108" y1="42643" x2="44595" y2="40841"/>
                        <a14:foregroundMark x1="44595" y1="40841" x2="40114" y2="55131"/>
                        <a14:foregroundMark x1="39311" y1="64993" x2="40034" y2="74174"/>
                        <a14:foregroundMark x1="40034" y1="74174" x2="55574" y2="88889"/>
                        <a14:foregroundMark x1="55574" y1="88889" x2="58615" y2="89189"/>
                        <a14:foregroundMark x1="9966" y1="68168" x2="24324" y2="68468"/>
                        <a14:foregroundMark x1="24324" y1="68468" x2="27365" y2="86486"/>
                        <a14:foregroundMark x1="27365" y1="86486" x2="16723" y2="86186"/>
                        <a14:foregroundMark x1="16723" y1="86186" x2="10473" y2="74775"/>
                        <a14:foregroundMark x1="10473" y1="74775" x2="10642" y2="70270"/>
                        <a14:backgroundMark x1="39020" y1="54955" x2="38514" y2="648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022" t="10350" r="8680" b="7103"/>
          <a:stretch>
            <a:fillRect/>
          </a:stretch>
        </p:blipFill>
        <p:spPr bwMode="auto">
          <a:xfrm>
            <a:off x="621569" y="1975596"/>
            <a:ext cx="5617102" cy="3131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3" name="Стрелка: вправо 92">
            <a:extLst>
              <a:ext uri="{FF2B5EF4-FFF2-40B4-BE49-F238E27FC236}">
                <a16:creationId xmlns:a16="http://schemas.microsoft.com/office/drawing/2014/main" id="{89B02C87-EA98-D2D3-171E-8F8682601E35}"/>
              </a:ext>
            </a:extLst>
          </p:cNvPr>
          <p:cNvSpPr/>
          <p:nvPr/>
        </p:nvSpPr>
        <p:spPr>
          <a:xfrm>
            <a:off x="621569" y="5245151"/>
            <a:ext cx="5525585" cy="167330"/>
          </a:xfrm>
          <a:prstGeom prst="rightArrow">
            <a:avLst>
              <a:gd name="adj1" fmla="val 50000"/>
              <a:gd name="adj2" fmla="val 150859"/>
            </a:avLst>
          </a:prstGeom>
          <a:solidFill>
            <a:srgbClr val="F7941D"/>
          </a:solidFill>
          <a:ln>
            <a:solidFill>
              <a:srgbClr val="F7941D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>
            <a:extLst>
              <a:ext uri="{FF2B5EF4-FFF2-40B4-BE49-F238E27FC236}">
                <a16:creationId xmlns:a16="http://schemas.microsoft.com/office/drawing/2014/main" id="{DC7D9FDD-6B0B-CF79-AE70-C373A0A68BD0}"/>
              </a:ext>
            </a:extLst>
          </p:cNvPr>
          <p:cNvSpPr/>
          <p:nvPr/>
        </p:nvSpPr>
        <p:spPr>
          <a:xfrm>
            <a:off x="-8740573" y="-7109361"/>
            <a:ext cx="8076071" cy="798566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2EBA9C0-B33C-92B7-9338-3413A14F9A5B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5BB8AFC-DF29-AB66-823A-6608C13F3DDE}"/>
              </a:ext>
            </a:extLst>
          </p:cNvPr>
          <p:cNvSpPr/>
          <p:nvPr/>
        </p:nvSpPr>
        <p:spPr>
          <a:xfrm>
            <a:off x="-3572" y="6690671"/>
            <a:ext cx="1527572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B45FB0-A546-4878-5B8B-7AEECEA52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Актуальность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DBC4A07-BC32-ED40-CCE7-415E8FEEE04D}"/>
              </a:ext>
            </a:extLst>
          </p:cNvPr>
          <p:cNvSpPr txBox="1"/>
          <p:nvPr/>
        </p:nvSpPr>
        <p:spPr>
          <a:xfrm>
            <a:off x="7432610" y="2140526"/>
            <a:ext cx="4568890" cy="2801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Comfortaa Medium" pitchFamily="2" charset="0"/>
              </a:rPr>
              <a:t>Отсутствие единой системы учета осложняет управление фондом студенческих общежитий</a:t>
            </a:r>
            <a:r>
              <a:rPr lang="ru-RU" dirty="0">
                <a:solidFill>
                  <a:schemeClr val="bg1"/>
                </a:solidFill>
                <a:latin typeface="Comfortaa Medium" pitchFamily="2" charset="0"/>
              </a:rPr>
              <a:t>.</a:t>
            </a:r>
            <a:endParaRPr lang="ru-RU" sz="1800" b="0" i="0" u="none" strike="noStrike" cap="none" dirty="0">
              <a:solidFill>
                <a:schemeClr val="bg1"/>
              </a:solidFill>
              <a:latin typeface="Comfortaa Medium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B5F6E4C-5E1C-65B4-0E40-A930FB628E6E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157273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C2D230-5E2F-E325-51E5-751E18A28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6D646FD-AFE7-01D7-1566-607136C799C5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123FEB-B6A9-F4DE-7E3C-CC2187FFE58F}"/>
              </a:ext>
            </a:extLst>
          </p:cNvPr>
          <p:cNvSpPr/>
          <p:nvPr/>
        </p:nvSpPr>
        <p:spPr>
          <a:xfrm>
            <a:off x="-3573" y="6690671"/>
            <a:ext cx="2956323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Овал 50">
            <a:extLst>
              <a:ext uri="{FF2B5EF4-FFF2-40B4-BE49-F238E27FC236}">
                <a16:creationId xmlns:a16="http://schemas.microsoft.com/office/drawing/2014/main" id="{C7361E6E-5035-820A-E110-11E3FB21F576}"/>
              </a:ext>
            </a:extLst>
          </p:cNvPr>
          <p:cNvSpPr/>
          <p:nvPr/>
        </p:nvSpPr>
        <p:spPr>
          <a:xfrm>
            <a:off x="-2794135" y="-770761"/>
            <a:ext cx="7975563" cy="7975563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EF581E-062D-5219-D5E2-E90588C873A5}"/>
              </a:ext>
            </a:extLst>
          </p:cNvPr>
          <p:cNvSpPr txBox="1"/>
          <p:nvPr/>
        </p:nvSpPr>
        <p:spPr>
          <a:xfrm>
            <a:off x="635598" y="2286918"/>
            <a:ext cx="43555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u="none" strike="noStrike" cap="none" dirty="0">
                <a:solidFill>
                  <a:schemeClr val="bg1"/>
                </a:solidFill>
                <a:latin typeface="Comfortaa SemiBold" pitchFamily="2" charset="0"/>
                <a:ea typeface="Pacifico"/>
                <a:cs typeface="Pacifico"/>
                <a:sym typeface="Pacifico"/>
              </a:rPr>
              <a:t>Создание программного решени</a:t>
            </a:r>
            <a:r>
              <a:rPr lang="ru-RU" sz="2400" b="1" dirty="0">
                <a:solidFill>
                  <a:schemeClr val="bg1"/>
                </a:solidFill>
                <a:latin typeface="Comfortaa SemiBold" pitchFamily="2" charset="0"/>
                <a:ea typeface="Pacifico"/>
                <a:cs typeface="Pacifico"/>
                <a:sym typeface="Pacifico"/>
              </a:rPr>
              <a:t>я</a:t>
            </a:r>
            <a:endParaRPr lang="ru-RU" sz="2400" b="1" i="0" u="none" strike="noStrike" cap="none" dirty="0">
              <a:solidFill>
                <a:schemeClr val="bg1"/>
              </a:solidFill>
              <a:latin typeface="Comfortaa SemiBold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F0EA88D-FEF7-72B0-DCF0-3D156DDF4C27}"/>
              </a:ext>
            </a:extLst>
          </p:cNvPr>
          <p:cNvSpPr txBox="1"/>
          <p:nvPr/>
        </p:nvSpPr>
        <p:spPr>
          <a:xfrm>
            <a:off x="635598" y="3217020"/>
            <a:ext cx="4250727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solidFill>
                  <a:schemeClr val="bg1"/>
                </a:solidFill>
                <a:latin typeface="Calibri"/>
                <a:ea typeface="Calibri"/>
                <a:cs typeface="Poppins"/>
                <a:sym typeface="Poppins"/>
              </a:rPr>
              <a:t>для сотрудников администрации, которое будет обеспечивать упрощенную форму учета данных о студентах проживающих в общежитии и оборудовании</a:t>
            </a:r>
            <a:endParaRPr lang="ru-RU" sz="20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 descr="Цель – Бесплатные иконки: бизнес">
            <a:extLst>
              <a:ext uri="{FF2B5EF4-FFF2-40B4-BE49-F238E27FC236}">
                <a16:creationId xmlns:a16="http://schemas.microsoft.com/office/drawing/2014/main" id="{422E6DCE-A80C-89A9-EE64-8B16C7C2A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2483" y="1982084"/>
            <a:ext cx="3602803" cy="360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42EAAD7-8ADF-7777-3EEE-D69618D0ED0D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3</a:t>
            </a:r>
          </a:p>
        </p:txBody>
      </p: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B0166C61-C690-81AE-91B8-293C4A8C2B44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Заголовок 1">
            <a:extLst>
              <a:ext uri="{FF2B5EF4-FFF2-40B4-BE49-F238E27FC236}">
                <a16:creationId xmlns:a16="http://schemas.microsoft.com/office/drawing/2014/main" id="{6220976A-07CC-FCE4-4415-4766270E53DE}"/>
              </a:ext>
            </a:extLst>
          </p:cNvPr>
          <p:cNvSpPr txBox="1">
            <a:spLocks/>
          </p:cNvSpPr>
          <p:nvPr/>
        </p:nvSpPr>
        <p:spPr>
          <a:xfrm>
            <a:off x="190500" y="228389"/>
            <a:ext cx="10952621" cy="509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dirty="0">
                <a:latin typeface="Comfortaa Medium" pitchFamily="2" charset="0"/>
              </a:rPr>
              <a:t>Цель</a:t>
            </a:r>
          </a:p>
        </p:txBody>
      </p:sp>
      <p:sp>
        <p:nvSpPr>
          <p:cNvPr id="45" name="Овал 44">
            <a:extLst>
              <a:ext uri="{FF2B5EF4-FFF2-40B4-BE49-F238E27FC236}">
                <a16:creationId xmlns:a16="http://schemas.microsoft.com/office/drawing/2014/main" id="{5BD3DABE-5DF2-128B-E6D7-AC63FF832B54}"/>
              </a:ext>
            </a:extLst>
          </p:cNvPr>
          <p:cNvSpPr/>
          <p:nvPr/>
        </p:nvSpPr>
        <p:spPr>
          <a:xfrm>
            <a:off x="-3573" y="-8876123"/>
            <a:ext cx="7975563" cy="7975563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0040A7-9D13-3975-CCB1-C0D2432A2952}"/>
              </a:ext>
            </a:extLst>
          </p:cNvPr>
          <p:cNvSpPr txBox="1"/>
          <p:nvPr/>
        </p:nvSpPr>
        <p:spPr>
          <a:xfrm>
            <a:off x="571037" y="-6289014"/>
            <a:ext cx="4568890" cy="2801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2400" dirty="0">
                <a:solidFill>
                  <a:schemeClr val="bg1"/>
                </a:solidFill>
                <a:latin typeface="Comfortaa Medium" pitchFamily="2" charset="0"/>
              </a:rPr>
              <a:t>Отсутствие единой системы учета осложняет управление фондом студенческих общежитий</a:t>
            </a:r>
            <a:r>
              <a:rPr lang="ru-RU" dirty="0">
                <a:solidFill>
                  <a:schemeClr val="bg1"/>
                </a:solidFill>
                <a:latin typeface="Comfortaa Medium" pitchFamily="2" charset="0"/>
              </a:rPr>
              <a:t>.</a:t>
            </a:r>
            <a:endParaRPr lang="ru-RU" sz="1800" b="0" i="0" u="none" strike="noStrike" cap="none" dirty="0">
              <a:solidFill>
                <a:schemeClr val="bg1"/>
              </a:solidFill>
              <a:latin typeface="Comfortaa Medium" pitchFamily="2" charset="0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42029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C4A3A-E7AE-1EEA-AACD-F062DA6D1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2263EF27-B39A-9D88-784C-0C80A129C85A}"/>
              </a:ext>
            </a:extLst>
          </p:cNvPr>
          <p:cNvGrpSpPr/>
          <p:nvPr/>
        </p:nvGrpSpPr>
        <p:grpSpPr>
          <a:xfrm>
            <a:off x="436132" y="1289769"/>
            <a:ext cx="5322678" cy="936757"/>
            <a:chOff x="1041393" y="3810289"/>
            <a:chExt cx="5322678" cy="936757"/>
          </a:xfrm>
        </p:grpSpPr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92C194BA-5EF5-48BB-CE7F-F40D7A20A382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22992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882F559-3189-FD6D-CC17-85E342FDFB88}"/>
                </a:ext>
              </a:extLst>
            </p:cNvPr>
            <p:cNvSpPr txBox="1"/>
            <p:nvPr/>
          </p:nvSpPr>
          <p:spPr>
            <a:xfrm>
              <a:off x="1776007" y="3908537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Анализ потребностей целевой аудитории</a:t>
              </a:r>
            </a:p>
          </p:txBody>
        </p:sp>
        <p:sp>
          <p:nvSpPr>
            <p:cNvPr id="37" name="Овал 36">
              <a:extLst>
                <a:ext uri="{FF2B5EF4-FFF2-40B4-BE49-F238E27FC236}">
                  <a16:creationId xmlns:a16="http://schemas.microsoft.com/office/drawing/2014/main" id="{37CC72B0-36C1-57A8-7F89-1E194456A5D6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983E0A2-6B81-46A5-B265-C1EA26B6798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1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5A63F0CE-C1CC-70F9-F254-34F0EF7ECB05}"/>
              </a:ext>
            </a:extLst>
          </p:cNvPr>
          <p:cNvGrpSpPr/>
          <p:nvPr/>
        </p:nvGrpSpPr>
        <p:grpSpPr>
          <a:xfrm>
            <a:off x="436132" y="2639994"/>
            <a:ext cx="5322678" cy="936757"/>
            <a:chOff x="1041393" y="3810289"/>
            <a:chExt cx="5322678" cy="936757"/>
          </a:xfrm>
        </p:grpSpPr>
        <p:sp>
          <p:nvSpPr>
            <p:cNvPr id="40" name="Прямоугольник: скругленные углы 39">
              <a:extLst>
                <a:ext uri="{FF2B5EF4-FFF2-40B4-BE49-F238E27FC236}">
                  <a16:creationId xmlns:a16="http://schemas.microsoft.com/office/drawing/2014/main" id="{6952F47D-2E87-8CE6-29F6-A324D10A5AA1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892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F6D3810-38BB-1761-006F-0474B15F1129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Проектирование архитектуры</a:t>
              </a:r>
            </a:p>
          </p:txBody>
        </p:sp>
        <p:sp>
          <p:nvSpPr>
            <p:cNvPr id="42" name="Овал 41">
              <a:extLst>
                <a:ext uri="{FF2B5EF4-FFF2-40B4-BE49-F238E27FC236}">
                  <a16:creationId xmlns:a16="http://schemas.microsoft.com/office/drawing/2014/main" id="{B873F9C1-4DAC-FFC7-9855-93FD64CFA06A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CA39B19-AD61-34FC-D388-1E9203487C3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2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56" name="Группа 55">
            <a:extLst>
              <a:ext uri="{FF2B5EF4-FFF2-40B4-BE49-F238E27FC236}">
                <a16:creationId xmlns:a16="http://schemas.microsoft.com/office/drawing/2014/main" id="{B3A554DB-15EF-3D4D-D54C-0C50BDCE5843}"/>
              </a:ext>
            </a:extLst>
          </p:cNvPr>
          <p:cNvGrpSpPr/>
          <p:nvPr/>
        </p:nvGrpSpPr>
        <p:grpSpPr>
          <a:xfrm>
            <a:off x="436132" y="3990219"/>
            <a:ext cx="5322678" cy="936757"/>
            <a:chOff x="1041393" y="3810289"/>
            <a:chExt cx="5322678" cy="936757"/>
          </a:xfrm>
        </p:grpSpPr>
        <p:sp>
          <p:nvSpPr>
            <p:cNvPr id="57" name="Прямоугольник: скругленные углы 56">
              <a:extLst>
                <a:ext uri="{FF2B5EF4-FFF2-40B4-BE49-F238E27FC236}">
                  <a16:creationId xmlns:a16="http://schemas.microsoft.com/office/drawing/2014/main" id="{C9430649-466A-CBF3-28E0-E630717422D1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8925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AAB5DCA-D418-676C-5262-9C98DFBE982A}"/>
                </a:ext>
              </a:extLst>
            </p:cNvPr>
            <p:cNvSpPr txBox="1"/>
            <p:nvPr/>
          </p:nvSpPr>
          <p:spPr>
            <a:xfrm>
              <a:off x="1823834" y="3947562"/>
              <a:ext cx="4272166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структуры базы данных</a:t>
              </a:r>
            </a:p>
          </p:txBody>
        </p:sp>
        <p:sp>
          <p:nvSpPr>
            <p:cNvPr id="59" name="Овал 58">
              <a:extLst>
                <a:ext uri="{FF2B5EF4-FFF2-40B4-BE49-F238E27FC236}">
                  <a16:creationId xmlns:a16="http://schemas.microsoft.com/office/drawing/2014/main" id="{0D0F482E-98A4-5127-C6FA-62B0A6B27197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2B39EB9-1922-6491-8896-469708E04313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3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81" name="Группа 80">
            <a:extLst>
              <a:ext uri="{FF2B5EF4-FFF2-40B4-BE49-F238E27FC236}">
                <a16:creationId xmlns:a16="http://schemas.microsoft.com/office/drawing/2014/main" id="{0E569526-ED5C-D578-CA4C-406EB7C8FA19}"/>
              </a:ext>
            </a:extLst>
          </p:cNvPr>
          <p:cNvGrpSpPr/>
          <p:nvPr/>
        </p:nvGrpSpPr>
        <p:grpSpPr>
          <a:xfrm>
            <a:off x="478410" y="5340444"/>
            <a:ext cx="5322678" cy="936757"/>
            <a:chOff x="1041393" y="3810289"/>
            <a:chExt cx="5322678" cy="936757"/>
          </a:xfrm>
        </p:grpSpPr>
        <p:sp>
          <p:nvSpPr>
            <p:cNvPr id="82" name="Прямоугольник: скругленные углы 81">
              <a:extLst>
                <a:ext uri="{FF2B5EF4-FFF2-40B4-BE49-F238E27FC236}">
                  <a16:creationId xmlns:a16="http://schemas.microsoft.com/office/drawing/2014/main" id="{2847B3B2-5F0C-7EF4-01C0-E18EC0D67E7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24008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86343CC-571B-B925-5202-E163532D84F6}"/>
                </a:ext>
              </a:extLst>
            </p:cNvPr>
            <p:cNvSpPr txBox="1"/>
            <p:nvPr/>
          </p:nvSpPr>
          <p:spPr>
            <a:xfrm>
              <a:off x="1823834" y="4078252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Разработка интерфейса</a:t>
              </a:r>
            </a:p>
          </p:txBody>
        </p:sp>
        <p:sp>
          <p:nvSpPr>
            <p:cNvPr id="84" name="Овал 83">
              <a:extLst>
                <a:ext uri="{FF2B5EF4-FFF2-40B4-BE49-F238E27FC236}">
                  <a16:creationId xmlns:a16="http://schemas.microsoft.com/office/drawing/2014/main" id="{D70F06E0-0109-B4AD-1416-9D3A92A8BA8C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BE52EEE-79B3-7B66-F062-86C16AB1680C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4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D49125A3-F675-F4DD-E9A3-93C7FB6F573E}"/>
              </a:ext>
            </a:extLst>
          </p:cNvPr>
          <p:cNvGrpSpPr/>
          <p:nvPr/>
        </p:nvGrpSpPr>
        <p:grpSpPr>
          <a:xfrm>
            <a:off x="6337222" y="1289769"/>
            <a:ext cx="5322678" cy="936757"/>
            <a:chOff x="1041393" y="3810289"/>
            <a:chExt cx="5322678" cy="936757"/>
          </a:xfrm>
        </p:grpSpPr>
        <p:sp>
          <p:nvSpPr>
            <p:cNvPr id="87" name="Прямоугольник: скругленные углы 86">
              <a:extLst>
                <a:ext uri="{FF2B5EF4-FFF2-40B4-BE49-F238E27FC236}">
                  <a16:creationId xmlns:a16="http://schemas.microsoft.com/office/drawing/2014/main" id="{A74C4349-9036-FD47-3B91-331CDCE29D4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7908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C977B90-0D6B-545E-9150-C52B003AAECF}"/>
                </a:ext>
              </a:extLst>
            </p:cNvPr>
            <p:cNvSpPr txBox="1"/>
            <p:nvPr/>
          </p:nvSpPr>
          <p:spPr>
            <a:xfrm>
              <a:off x="1871662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Реализация модулей системы</a:t>
              </a:r>
            </a:p>
          </p:txBody>
        </p:sp>
        <p:sp>
          <p:nvSpPr>
            <p:cNvPr id="89" name="Овал 88">
              <a:extLst>
                <a:ext uri="{FF2B5EF4-FFF2-40B4-BE49-F238E27FC236}">
                  <a16:creationId xmlns:a16="http://schemas.microsoft.com/office/drawing/2014/main" id="{6CE8D0CD-C3DA-5705-5D42-91B602A3A0BE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74B672B9-DC29-1452-951F-38FF820D9F6C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5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91" name="Группа 90">
            <a:extLst>
              <a:ext uri="{FF2B5EF4-FFF2-40B4-BE49-F238E27FC236}">
                <a16:creationId xmlns:a16="http://schemas.microsoft.com/office/drawing/2014/main" id="{345F01F0-B088-3785-3A8C-2F8CDBD49F23}"/>
              </a:ext>
            </a:extLst>
          </p:cNvPr>
          <p:cNvGrpSpPr/>
          <p:nvPr/>
        </p:nvGrpSpPr>
        <p:grpSpPr>
          <a:xfrm>
            <a:off x="6337222" y="2639994"/>
            <a:ext cx="5322678" cy="936757"/>
            <a:chOff x="1041393" y="3810289"/>
            <a:chExt cx="5322678" cy="936757"/>
          </a:xfrm>
        </p:grpSpPr>
        <p:sp>
          <p:nvSpPr>
            <p:cNvPr id="92" name="Прямоугольник: скругленные углы 91">
              <a:extLst>
                <a:ext uri="{FF2B5EF4-FFF2-40B4-BE49-F238E27FC236}">
                  <a16:creationId xmlns:a16="http://schemas.microsoft.com/office/drawing/2014/main" id="{33F2B824-5F8C-0ADE-653B-46149B735067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20958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6AF28F16-75AB-8E3F-EDBD-9FDE2E3FE063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Интеграция модулей системы</a:t>
              </a:r>
            </a:p>
          </p:txBody>
        </p:sp>
        <p:sp>
          <p:nvSpPr>
            <p:cNvPr id="94" name="Овал 93">
              <a:extLst>
                <a:ext uri="{FF2B5EF4-FFF2-40B4-BE49-F238E27FC236}">
                  <a16:creationId xmlns:a16="http://schemas.microsoft.com/office/drawing/2014/main" id="{637AB873-927D-319F-9235-B2339B0F6688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FE43FCC-80F1-B174-00F1-9CB02613598B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6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96" name="Группа 95">
            <a:extLst>
              <a:ext uri="{FF2B5EF4-FFF2-40B4-BE49-F238E27FC236}">
                <a16:creationId xmlns:a16="http://schemas.microsoft.com/office/drawing/2014/main" id="{E3671830-AE90-189A-31C0-344E2F4BCF5D}"/>
              </a:ext>
            </a:extLst>
          </p:cNvPr>
          <p:cNvGrpSpPr/>
          <p:nvPr/>
        </p:nvGrpSpPr>
        <p:grpSpPr>
          <a:xfrm>
            <a:off x="6337222" y="3990219"/>
            <a:ext cx="5322678" cy="936757"/>
            <a:chOff x="1041393" y="3810289"/>
            <a:chExt cx="5322678" cy="936757"/>
          </a:xfrm>
        </p:grpSpPr>
        <p:sp>
          <p:nvSpPr>
            <p:cNvPr id="97" name="Прямоугольник: скругленные углы 96">
              <a:extLst>
                <a:ext uri="{FF2B5EF4-FFF2-40B4-BE49-F238E27FC236}">
                  <a16:creationId xmlns:a16="http://schemas.microsoft.com/office/drawing/2014/main" id="{AE842E35-53A4-9DEF-B4EF-F4527A6AD5E2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892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0A5374B-0F1A-AD12-4C5B-0360B6CA5AE3}"/>
                </a:ext>
              </a:extLst>
            </p:cNvPr>
            <p:cNvSpPr txBox="1"/>
            <p:nvPr/>
          </p:nvSpPr>
          <p:spPr>
            <a:xfrm>
              <a:off x="1823834" y="4094001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Тестирование</a:t>
              </a:r>
              <a:endParaRPr lang="ru-RU" dirty="0">
                <a:latin typeface="Comfortaa Medium" pitchFamily="2" charset="0"/>
              </a:endParaRPr>
            </a:p>
          </p:txBody>
        </p:sp>
        <p:sp>
          <p:nvSpPr>
            <p:cNvPr id="99" name="Овал 98">
              <a:extLst>
                <a:ext uri="{FF2B5EF4-FFF2-40B4-BE49-F238E27FC236}">
                  <a16:creationId xmlns:a16="http://schemas.microsoft.com/office/drawing/2014/main" id="{87CC053A-D08C-BDD4-72A1-B8C70ACABEFD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C0DFAE3-07E5-4E43-AE89-406C3D869B7E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7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grpSp>
        <p:nvGrpSpPr>
          <p:cNvPr id="101" name="Группа 100">
            <a:extLst>
              <a:ext uri="{FF2B5EF4-FFF2-40B4-BE49-F238E27FC236}">
                <a16:creationId xmlns:a16="http://schemas.microsoft.com/office/drawing/2014/main" id="{6E052527-A590-97E5-4362-F31CEABFD083}"/>
              </a:ext>
            </a:extLst>
          </p:cNvPr>
          <p:cNvGrpSpPr/>
          <p:nvPr/>
        </p:nvGrpSpPr>
        <p:grpSpPr>
          <a:xfrm>
            <a:off x="6337222" y="5340444"/>
            <a:ext cx="5322678" cy="936757"/>
            <a:chOff x="1041393" y="3810289"/>
            <a:chExt cx="5322678" cy="936757"/>
          </a:xfrm>
        </p:grpSpPr>
        <p:sp>
          <p:nvSpPr>
            <p:cNvPr id="102" name="Прямоугольник: скругленные углы 101">
              <a:extLst>
                <a:ext uri="{FF2B5EF4-FFF2-40B4-BE49-F238E27FC236}">
                  <a16:creationId xmlns:a16="http://schemas.microsoft.com/office/drawing/2014/main" id="{CA7DA645-5C1A-5198-CE42-9D548E147063}"/>
                </a:ext>
              </a:extLst>
            </p:cNvPr>
            <p:cNvSpPr/>
            <p:nvPr/>
          </p:nvSpPr>
          <p:spPr>
            <a:xfrm>
              <a:off x="1041393" y="3810289"/>
              <a:ext cx="5322678" cy="936757"/>
            </a:xfrm>
            <a:prstGeom prst="roundRect">
              <a:avLst>
                <a:gd name="adj" fmla="val 17908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5B235CAE-EA30-97E0-3795-76B385EAFF4C}"/>
                </a:ext>
              </a:extLst>
            </p:cNvPr>
            <p:cNvSpPr txBox="1"/>
            <p:nvPr/>
          </p:nvSpPr>
          <p:spPr>
            <a:xfrm>
              <a:off x="1823834" y="4076727"/>
              <a:ext cx="427216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rgbClr val="0E0E0E"/>
                  </a:solidFill>
                  <a:latin typeface="Comfortaa Medium" pitchFamily="2" charset="0"/>
                  <a:ea typeface="Pacifico"/>
                  <a:cs typeface="Poppins" panose="020B0604020202020204" charset="0"/>
                  <a:sym typeface="Pacifico"/>
                </a:rPr>
                <a:t>Написание документации</a:t>
              </a:r>
            </a:p>
          </p:txBody>
        </p:sp>
        <p:sp>
          <p:nvSpPr>
            <p:cNvPr id="104" name="Овал 103">
              <a:extLst>
                <a:ext uri="{FF2B5EF4-FFF2-40B4-BE49-F238E27FC236}">
                  <a16:creationId xmlns:a16="http://schemas.microsoft.com/office/drawing/2014/main" id="{FE9A29B7-9C21-0161-370D-C351192D459C}"/>
                </a:ext>
              </a:extLst>
            </p:cNvPr>
            <p:cNvSpPr/>
            <p:nvPr/>
          </p:nvSpPr>
          <p:spPr>
            <a:xfrm>
              <a:off x="1217220" y="3999274"/>
              <a:ext cx="558787" cy="558787"/>
            </a:xfrm>
            <a:prstGeom prst="ellipse">
              <a:avLst/>
            </a:prstGeom>
            <a:solidFill>
              <a:srgbClr val="F794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400" dirty="0">
                <a:latin typeface="Bahnschrift" panose="020B0502040204020203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251C82C-633F-02F5-A3E1-A28F58E711F2}"/>
                </a:ext>
              </a:extLst>
            </p:cNvPr>
            <p:cNvSpPr txBox="1"/>
            <p:nvPr/>
          </p:nvSpPr>
          <p:spPr>
            <a:xfrm>
              <a:off x="1169392" y="4109390"/>
              <a:ext cx="65444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Comfortaa Medium" pitchFamily="2" charset="0"/>
                </a:rPr>
                <a:t>8</a:t>
              </a:r>
              <a:endParaRPr lang="ru-RU" dirty="0">
                <a:solidFill>
                  <a:schemeClr val="bg1"/>
                </a:solidFill>
                <a:latin typeface="Comfortaa Medium" pitchFamily="2" charset="0"/>
              </a:endParaRPr>
            </a:p>
          </p:txBody>
        </p: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BF4E0A3-1F76-D75A-D515-73C0DDAA34D8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F47DF1B-FD6C-BD5A-BA39-790DFBA706DC}"/>
              </a:ext>
            </a:extLst>
          </p:cNvPr>
          <p:cNvSpPr/>
          <p:nvPr/>
        </p:nvSpPr>
        <p:spPr>
          <a:xfrm>
            <a:off x="-3573" y="6690671"/>
            <a:ext cx="4813697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126E88E7-CE0B-47B2-1C1C-620FB16D1957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Заголовок 1">
            <a:extLst>
              <a:ext uri="{FF2B5EF4-FFF2-40B4-BE49-F238E27FC236}">
                <a16:creationId xmlns:a16="http://schemas.microsoft.com/office/drawing/2014/main" id="{8D212F61-8D0C-8495-3FBC-7B9741F2D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Задачи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586CA7F-9D84-0C75-036F-244FFB2F1350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09196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3B0827-AFB6-532B-B761-50B7D3B01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FCC5EFB-5E08-8625-E4AB-37A6CA10194E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4C0D245-857A-E2E9-6AF3-E3A6EBB1609F}"/>
              </a:ext>
            </a:extLst>
          </p:cNvPr>
          <p:cNvSpPr/>
          <p:nvPr/>
        </p:nvSpPr>
        <p:spPr>
          <a:xfrm>
            <a:off x="-3572" y="6687203"/>
            <a:ext cx="6213872" cy="17079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B71C67-FB67-15DB-F06A-208B3A64BF14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5</a:t>
            </a:r>
          </a:p>
        </p:txBody>
      </p:sp>
      <p:grpSp>
        <p:nvGrpSpPr>
          <p:cNvPr id="59" name="Группа 58">
            <a:extLst>
              <a:ext uri="{FF2B5EF4-FFF2-40B4-BE49-F238E27FC236}">
                <a16:creationId xmlns:a16="http://schemas.microsoft.com/office/drawing/2014/main" id="{B668F218-94DA-241A-1D25-F78CB22DA5A5}"/>
              </a:ext>
            </a:extLst>
          </p:cNvPr>
          <p:cNvGrpSpPr/>
          <p:nvPr/>
        </p:nvGrpSpPr>
        <p:grpSpPr>
          <a:xfrm>
            <a:off x="680265" y="1562822"/>
            <a:ext cx="3156980" cy="3732357"/>
            <a:chOff x="1041394" y="1667282"/>
            <a:chExt cx="3156980" cy="3732357"/>
          </a:xfrm>
        </p:grpSpPr>
        <p:sp>
          <p:nvSpPr>
            <p:cNvPr id="60" name="Прямоугольник: скругленные углы 59">
              <a:extLst>
                <a:ext uri="{FF2B5EF4-FFF2-40B4-BE49-F238E27FC236}">
                  <a16:creationId xmlns:a16="http://schemas.microsoft.com/office/drawing/2014/main" id="{672A310A-91B1-96D1-7256-D923F900F72E}"/>
                </a:ext>
              </a:extLst>
            </p:cNvPr>
            <p:cNvSpPr/>
            <p:nvPr/>
          </p:nvSpPr>
          <p:spPr>
            <a:xfrm>
              <a:off x="1041394" y="1667282"/>
              <a:ext cx="3156980" cy="373235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3074" name="Picture 2" descr="Более 70 работ на тему «колледж парк иллюстрации»: стоковые фото, картинки  и изображения royalty-free - iStock">
              <a:extLst>
                <a:ext uri="{FF2B5EF4-FFF2-40B4-BE49-F238E27FC236}">
                  <a16:creationId xmlns:a16="http://schemas.microsoft.com/office/drawing/2014/main" id="{B27A964A-CB08-4BCA-764A-2AD159EAD6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biLevel thresh="5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24673" b="75817" l="24510" r="74510">
                          <a14:foregroundMark x1="30229" y1="41993" x2="29902" y2="41993"/>
                          <a14:foregroundMark x1="27778" y1="54085" x2="27778" y2="54085"/>
                          <a14:foregroundMark x1="50163" y1="50163" x2="50163" y2="50163"/>
                          <a14:foregroundMark x1="72712" y1="53105" x2="72712" y2="53105"/>
                          <a14:foregroundMark x1="74510" y1="46242" x2="74510" y2="46242"/>
                          <a14:foregroundMark x1="64216" y1="73366" x2="64216" y2="73366"/>
                          <a14:foregroundMark x1="50490" y1="74183" x2="50490" y2="74183"/>
                          <a14:foregroundMark x1="47876" y1="74346" x2="47876" y2="74346"/>
                          <a14:foregroundMark x1="24673" y1="74183" x2="24673" y2="74183"/>
                          <a14:foregroundMark x1="27288" y1="75817" x2="27288" y2="75817"/>
                          <a14:foregroundMark x1="55229" y1="27124" x2="55229" y2="27124"/>
                          <a14:foregroundMark x1="49673" y1="24673" x2="49673" y2="2467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326" t="22494" r="22676" b="22296"/>
            <a:stretch>
              <a:fillRect/>
            </a:stretch>
          </p:blipFill>
          <p:spPr bwMode="auto">
            <a:xfrm>
              <a:off x="1561772" y="2135385"/>
              <a:ext cx="2116224" cy="20864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ABC9447-49B4-8D28-5198-E2812D3E99EE}"/>
                </a:ext>
              </a:extLst>
            </p:cNvPr>
            <p:cNvSpPr txBox="1"/>
            <p:nvPr/>
          </p:nvSpPr>
          <p:spPr>
            <a:xfrm>
              <a:off x="1041394" y="4544874"/>
              <a:ext cx="31569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ru-RU" dirty="0">
                  <a:latin typeface="Comfortaa Medium" pitchFamily="2" charset="0"/>
                </a:rPr>
                <a:t>Сотрудники колледжа </a:t>
              </a:r>
            </a:p>
          </p:txBody>
        </p:sp>
      </p:grpSp>
      <p:grpSp>
        <p:nvGrpSpPr>
          <p:cNvPr id="62" name="Группа 61">
            <a:extLst>
              <a:ext uri="{FF2B5EF4-FFF2-40B4-BE49-F238E27FC236}">
                <a16:creationId xmlns:a16="http://schemas.microsoft.com/office/drawing/2014/main" id="{69C73553-D1F0-BC41-C3CF-0E6A4AA3A655}"/>
              </a:ext>
            </a:extLst>
          </p:cNvPr>
          <p:cNvGrpSpPr/>
          <p:nvPr/>
        </p:nvGrpSpPr>
        <p:grpSpPr>
          <a:xfrm>
            <a:off x="4517510" y="1562822"/>
            <a:ext cx="3156980" cy="3732357"/>
            <a:chOff x="4932510" y="1703727"/>
            <a:chExt cx="3156980" cy="3732357"/>
          </a:xfrm>
        </p:grpSpPr>
        <p:grpSp>
          <p:nvGrpSpPr>
            <p:cNvPr id="63" name="Группа 62">
              <a:extLst>
                <a:ext uri="{FF2B5EF4-FFF2-40B4-BE49-F238E27FC236}">
                  <a16:creationId xmlns:a16="http://schemas.microsoft.com/office/drawing/2014/main" id="{1CA3B8BC-5630-AB17-C767-29D1F630DE41}"/>
                </a:ext>
              </a:extLst>
            </p:cNvPr>
            <p:cNvGrpSpPr/>
            <p:nvPr/>
          </p:nvGrpSpPr>
          <p:grpSpPr>
            <a:xfrm>
              <a:off x="4932510" y="1703727"/>
              <a:ext cx="3156980" cy="3732357"/>
              <a:chOff x="4836648" y="1703727"/>
              <a:chExt cx="3156980" cy="3732357"/>
            </a:xfrm>
          </p:grpSpPr>
          <p:sp>
            <p:nvSpPr>
              <p:cNvPr id="1025" name="Прямоугольник: скругленные углы 1024">
                <a:extLst>
                  <a:ext uri="{FF2B5EF4-FFF2-40B4-BE49-F238E27FC236}">
                    <a16:creationId xmlns:a16="http://schemas.microsoft.com/office/drawing/2014/main" id="{B1B5234B-2937-EF70-546B-A8F040F243C2}"/>
                  </a:ext>
                </a:extLst>
              </p:cNvPr>
              <p:cNvSpPr/>
              <p:nvPr/>
            </p:nvSpPr>
            <p:spPr>
              <a:xfrm>
                <a:off x="4836648" y="1703727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6" name="TextBox 1025">
                <a:extLst>
                  <a:ext uri="{FF2B5EF4-FFF2-40B4-BE49-F238E27FC236}">
                    <a16:creationId xmlns:a16="http://schemas.microsoft.com/office/drawing/2014/main" id="{E5B6AC38-B55B-1EE9-B637-F6B36BDE7F5D}"/>
                  </a:ext>
                </a:extLst>
              </p:cNvPr>
              <p:cNvSpPr txBox="1"/>
              <p:nvPr/>
            </p:nvSpPr>
            <p:spPr>
              <a:xfrm>
                <a:off x="4836648" y="4581319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ru-RU" dirty="0">
                    <a:latin typeface="Comfortaa Medium" pitchFamily="2" charset="0"/>
                  </a:rPr>
                  <a:t>Коменданты</a:t>
                </a:r>
              </a:p>
            </p:txBody>
          </p:sp>
        </p:grpSp>
        <p:pic>
          <p:nvPicPr>
            <p:cNvPr id="1024" name="Picture 4" descr="Корпуса и корпуса для ноутбуков Компьютерные иконки, Ноутбук, электроника,  прямоугольник png | PNGEgg">
              <a:extLst>
                <a:ext uri="{FF2B5EF4-FFF2-40B4-BE49-F238E27FC236}">
                  <a16:creationId xmlns:a16="http://schemas.microsoft.com/office/drawing/2014/main" id="{4AADC2EE-5AAB-B45D-9931-67E3DE0A185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934" t="8844" r="20935" b="8844"/>
            <a:stretch>
              <a:fillRect/>
            </a:stretch>
          </p:blipFill>
          <p:spPr bwMode="auto">
            <a:xfrm>
              <a:off x="5401022" y="2486555"/>
              <a:ext cx="2219956" cy="1788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27" name="Группа 1026">
            <a:extLst>
              <a:ext uri="{FF2B5EF4-FFF2-40B4-BE49-F238E27FC236}">
                <a16:creationId xmlns:a16="http://schemas.microsoft.com/office/drawing/2014/main" id="{9B7602A2-2FDF-C8B2-6C24-54325DC86F6D}"/>
              </a:ext>
            </a:extLst>
          </p:cNvPr>
          <p:cNvGrpSpPr/>
          <p:nvPr/>
        </p:nvGrpSpPr>
        <p:grpSpPr>
          <a:xfrm>
            <a:off x="8354755" y="1562822"/>
            <a:ext cx="3156980" cy="3732357"/>
            <a:chOff x="8587653" y="1703727"/>
            <a:chExt cx="3156980" cy="3732357"/>
          </a:xfrm>
        </p:grpSpPr>
        <p:grpSp>
          <p:nvGrpSpPr>
            <p:cNvPr id="1028" name="Группа 1027">
              <a:extLst>
                <a:ext uri="{FF2B5EF4-FFF2-40B4-BE49-F238E27FC236}">
                  <a16:creationId xmlns:a16="http://schemas.microsoft.com/office/drawing/2014/main" id="{1D97C07C-3177-14F0-6015-F83B72D7CD23}"/>
                </a:ext>
              </a:extLst>
            </p:cNvPr>
            <p:cNvGrpSpPr/>
            <p:nvPr/>
          </p:nvGrpSpPr>
          <p:grpSpPr>
            <a:xfrm>
              <a:off x="8587653" y="1703727"/>
              <a:ext cx="3156980" cy="3732357"/>
              <a:chOff x="8351680" y="1703727"/>
              <a:chExt cx="3156980" cy="3732357"/>
            </a:xfrm>
          </p:grpSpPr>
          <p:sp>
            <p:nvSpPr>
              <p:cNvPr id="1030" name="Прямоугольник: скругленные углы 1029">
                <a:extLst>
                  <a:ext uri="{FF2B5EF4-FFF2-40B4-BE49-F238E27FC236}">
                    <a16:creationId xmlns:a16="http://schemas.microsoft.com/office/drawing/2014/main" id="{24239B64-5F5D-6950-4554-29F0D85EBE6B}"/>
                  </a:ext>
                </a:extLst>
              </p:cNvPr>
              <p:cNvSpPr/>
              <p:nvPr/>
            </p:nvSpPr>
            <p:spPr>
              <a:xfrm>
                <a:off x="8351680" y="1703727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691BCC79-35C4-2EB1-2432-E8814CE9A578}"/>
                  </a:ext>
                </a:extLst>
              </p:cNvPr>
              <p:cNvSpPr txBox="1"/>
              <p:nvPr/>
            </p:nvSpPr>
            <p:spPr>
              <a:xfrm>
                <a:off x="8351680" y="4581319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ru-RU" dirty="0">
                    <a:latin typeface="Comfortaa Medium" pitchFamily="2" charset="0"/>
                  </a:rPr>
                  <a:t>Воспитатели</a:t>
                </a:r>
              </a:p>
            </p:txBody>
          </p:sp>
        </p:grpSp>
        <p:pic>
          <p:nvPicPr>
            <p:cNvPr id="1029" name="Picture 6" descr="Иконка «Мобильный телефон» | MyWebIcons">
              <a:extLst>
                <a:ext uri="{FF2B5EF4-FFF2-40B4-BE49-F238E27FC236}">
                  <a16:creationId xmlns:a16="http://schemas.microsoft.com/office/drawing/2014/main" id="{3279BDCE-9155-491C-28A0-84D474BAFA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27067" y="2241592"/>
              <a:ext cx="2278152" cy="2278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32" name="Прямоугольник: скругленные углы 1031">
            <a:extLst>
              <a:ext uri="{FF2B5EF4-FFF2-40B4-BE49-F238E27FC236}">
                <a16:creationId xmlns:a16="http://schemas.microsoft.com/office/drawing/2014/main" id="{F7CF8F26-F7D9-1A9A-571B-B3F1C4886E47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33" name="Заголовок 1">
            <a:extLst>
              <a:ext uri="{FF2B5EF4-FFF2-40B4-BE49-F238E27FC236}">
                <a16:creationId xmlns:a16="http://schemas.microsoft.com/office/drawing/2014/main" id="{DFFF0764-BE0C-F6BF-AAE0-F908237A0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Целевая аудитория</a:t>
            </a:r>
          </a:p>
        </p:txBody>
      </p:sp>
    </p:spTree>
    <p:extLst>
      <p:ext uri="{BB962C8B-B14F-4D97-AF65-F5344CB8AC3E}">
        <p14:creationId xmlns:p14="http://schemas.microsoft.com/office/powerpoint/2010/main" val="1600425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35C5F6-3378-F4F8-05A1-763E97AD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C673DEBC-B840-9506-6B7A-234A75099D0B}"/>
              </a:ext>
            </a:extLst>
          </p:cNvPr>
          <p:cNvGrpSpPr/>
          <p:nvPr/>
        </p:nvGrpSpPr>
        <p:grpSpPr>
          <a:xfrm>
            <a:off x="95250" y="1128760"/>
            <a:ext cx="5189355" cy="1914425"/>
            <a:chOff x="126237" y="1900773"/>
            <a:chExt cx="5189355" cy="1914425"/>
          </a:xfrm>
        </p:grpSpPr>
        <p:grpSp>
          <p:nvGrpSpPr>
            <p:cNvPr id="36" name="Группа 35">
              <a:extLst>
                <a:ext uri="{FF2B5EF4-FFF2-40B4-BE49-F238E27FC236}">
                  <a16:creationId xmlns:a16="http://schemas.microsoft.com/office/drawing/2014/main" id="{D3830C61-5EB3-4B90-1EFA-E49B61F2E52C}"/>
                </a:ext>
              </a:extLst>
            </p:cNvPr>
            <p:cNvGrpSpPr/>
            <p:nvPr/>
          </p:nvGrpSpPr>
          <p:grpSpPr>
            <a:xfrm>
              <a:off x="126237" y="1900773"/>
              <a:ext cx="5189355" cy="1914425"/>
              <a:chOff x="-873883" y="564905"/>
              <a:chExt cx="5189355" cy="1914425"/>
            </a:xfrm>
          </p:grpSpPr>
          <p:sp>
            <p:nvSpPr>
              <p:cNvPr id="2" name="Прямоугольник: скругленные углы 1">
                <a:extLst>
                  <a:ext uri="{FF2B5EF4-FFF2-40B4-BE49-F238E27FC236}">
                    <a16:creationId xmlns:a16="http://schemas.microsoft.com/office/drawing/2014/main" id="{AC6F7DCE-F8FF-329B-0A1D-233B1E9ACD8C}"/>
                  </a:ext>
                </a:extLst>
              </p:cNvPr>
              <p:cNvSpPr/>
              <p:nvPr/>
            </p:nvSpPr>
            <p:spPr>
              <a:xfrm>
                <a:off x="-873883" y="564905"/>
                <a:ext cx="5189355" cy="1914425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pic>
            <p:nvPicPr>
              <p:cNvPr id="1056" name="Picture 32" descr="Mysql workbench - Free Icon PNG, SVG">
                <a:extLst>
                  <a:ext uri="{FF2B5EF4-FFF2-40B4-BE49-F238E27FC236}">
                    <a16:creationId xmlns:a16="http://schemas.microsoft.com/office/drawing/2014/main" id="{51B312B1-0EF1-D4EE-DE15-B602875779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-143344" y="1175277"/>
                <a:ext cx="1155980" cy="11559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8" name="Рисунок 37" descr="Изображение выглядит как Графика, Шрифт, логотип, текст&#10;&#10;Содержимое, созданное искусственным интеллектом, может быть неверным.">
                <a:extLst>
                  <a:ext uri="{FF2B5EF4-FFF2-40B4-BE49-F238E27FC236}">
                    <a16:creationId xmlns:a16="http://schemas.microsoft.com/office/drawing/2014/main" id="{0833D493-4C65-7357-6648-2E37729B9C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00833" y="1290723"/>
                <a:ext cx="961746" cy="961746"/>
              </a:xfrm>
              <a:prstGeom prst="rect">
                <a:avLst/>
              </a:prstGeom>
            </p:spPr>
          </p:pic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3DD384F-519F-B084-1FF9-0B3E0617F612}"/>
                </a:ext>
              </a:extLst>
            </p:cNvPr>
            <p:cNvSpPr txBox="1"/>
            <p:nvPr/>
          </p:nvSpPr>
          <p:spPr>
            <a:xfrm>
              <a:off x="126238" y="2043676"/>
              <a:ext cx="4397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omfortaa Medium" pitchFamily="2" charset="0"/>
                </a:rPr>
                <a:t>БАЗА ДАННЫХ</a:t>
              </a:r>
            </a:p>
          </p:txBody>
        </p:sp>
      </p:grpSp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760B5C48-696B-9F2A-801C-7BB4EAE27F48}"/>
              </a:ext>
            </a:extLst>
          </p:cNvPr>
          <p:cNvGrpSpPr/>
          <p:nvPr/>
        </p:nvGrpSpPr>
        <p:grpSpPr>
          <a:xfrm>
            <a:off x="95792" y="3294676"/>
            <a:ext cx="5188813" cy="3131582"/>
            <a:chOff x="2463106" y="3150091"/>
            <a:chExt cx="5188813" cy="3131582"/>
          </a:xfrm>
        </p:grpSpPr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71738136-2A00-365E-28A1-B9C1A5BEF6EA}"/>
                </a:ext>
              </a:extLst>
            </p:cNvPr>
            <p:cNvGrpSpPr/>
            <p:nvPr/>
          </p:nvGrpSpPr>
          <p:grpSpPr>
            <a:xfrm>
              <a:off x="2463107" y="3150091"/>
              <a:ext cx="5188812" cy="3131582"/>
              <a:chOff x="-752666" y="3101899"/>
              <a:chExt cx="5188812" cy="3131582"/>
            </a:xfrm>
          </p:grpSpPr>
          <p:sp>
            <p:nvSpPr>
              <p:cNvPr id="3" name="Прямоугольник: скругленные углы 2">
                <a:extLst>
                  <a:ext uri="{FF2B5EF4-FFF2-40B4-BE49-F238E27FC236}">
                    <a16:creationId xmlns:a16="http://schemas.microsoft.com/office/drawing/2014/main" id="{41EAB47F-264D-BC7B-DB96-283A0F1AC8F8}"/>
                  </a:ext>
                </a:extLst>
              </p:cNvPr>
              <p:cNvSpPr/>
              <p:nvPr/>
            </p:nvSpPr>
            <p:spPr>
              <a:xfrm>
                <a:off x="-752666" y="3101899"/>
                <a:ext cx="5188812" cy="3131582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27" name="Группа 26">
                <a:extLst>
                  <a:ext uri="{FF2B5EF4-FFF2-40B4-BE49-F238E27FC236}">
                    <a16:creationId xmlns:a16="http://schemas.microsoft.com/office/drawing/2014/main" id="{31BE1093-7A55-8350-70D6-5FE35A22E216}"/>
                  </a:ext>
                </a:extLst>
              </p:cNvPr>
              <p:cNvGrpSpPr/>
              <p:nvPr/>
            </p:nvGrpSpPr>
            <p:grpSpPr>
              <a:xfrm>
                <a:off x="-120758" y="3803033"/>
                <a:ext cx="3104011" cy="2309583"/>
                <a:chOff x="2372360" y="1244860"/>
                <a:chExt cx="3104011" cy="2309583"/>
              </a:xfrm>
            </p:grpSpPr>
            <p:pic>
              <p:nvPicPr>
                <p:cNvPr id="9" name="Рисунок 8">
                  <a:extLst>
                    <a:ext uri="{FF2B5EF4-FFF2-40B4-BE49-F238E27FC236}">
                      <a16:creationId xmlns:a16="http://schemas.microsoft.com/office/drawing/2014/main" id="{51C288CB-7F45-0F73-A0A1-335A3D1C8B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-9144" t="-3130" r="-6877" b="-1"/>
                <a:stretch>
                  <a:fillRect/>
                </a:stretch>
              </p:blipFill>
              <p:spPr>
                <a:xfrm>
                  <a:off x="4426507" y="1279947"/>
                  <a:ext cx="1049864" cy="1049862"/>
                </a:xfrm>
                <a:prstGeom prst="rect">
                  <a:avLst/>
                </a:prstGeom>
              </p:spPr>
            </p:pic>
            <p:pic>
              <p:nvPicPr>
                <p:cNvPr id="33" name="Рисунок 32" descr="Изображение выглядит как круг, Графика, символ, снимок экрана&#10;&#10;Содержимое, созданное искусственным интеллектом, может быть неверным.">
                  <a:extLst>
                    <a:ext uri="{FF2B5EF4-FFF2-40B4-BE49-F238E27FC236}">
                      <a16:creationId xmlns:a16="http://schemas.microsoft.com/office/drawing/2014/main" id="{FB10391F-598B-BD24-7E12-1D04345805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14625" y="2564128"/>
                  <a:ext cx="961746" cy="961746"/>
                </a:xfrm>
                <a:prstGeom prst="rect">
                  <a:avLst/>
                </a:prstGeom>
              </p:spPr>
            </p:pic>
            <p:pic>
              <p:nvPicPr>
                <p:cNvPr id="35" name="Рисунок 34" descr="Изображение выглядит как круг, Графика, снимок экрана, Шрифт&#10;&#10;Содержимое, созданное искусственным интеллектом, может быть неверным.">
                  <a:extLst>
                    <a:ext uri="{FF2B5EF4-FFF2-40B4-BE49-F238E27FC236}">
                      <a16:creationId xmlns:a16="http://schemas.microsoft.com/office/drawing/2014/main" id="{AFF10FA3-DD66-A5A8-5855-5A8DBA1351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470448" y="2613359"/>
                  <a:ext cx="941084" cy="941084"/>
                </a:xfrm>
                <a:prstGeom prst="rect">
                  <a:avLst/>
                </a:prstGeom>
              </p:spPr>
            </p:pic>
            <p:pic>
              <p:nvPicPr>
                <p:cNvPr id="1054" name="Picture 30">
                  <a:extLst>
                    <a:ext uri="{FF2B5EF4-FFF2-40B4-BE49-F238E27FC236}">
                      <a16:creationId xmlns:a16="http://schemas.microsoft.com/office/drawing/2014/main" id="{74BE1B59-854B-CCB1-DE92-EB65221C5F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372360" y="1244860"/>
                  <a:ext cx="1155980" cy="115598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927CEF3-06AB-1876-C1FF-71460B73B26B}"/>
                </a:ext>
              </a:extLst>
            </p:cNvPr>
            <p:cNvSpPr txBox="1"/>
            <p:nvPr/>
          </p:nvSpPr>
          <p:spPr>
            <a:xfrm>
              <a:off x="2463106" y="3330251"/>
              <a:ext cx="439779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Comfortaa Medium" pitchFamily="2" charset="0"/>
                </a:rPr>
                <a:t>API</a:t>
              </a:r>
              <a:endParaRPr lang="ru-RU" sz="2000" dirty="0">
                <a:latin typeface="Comfortaa Medium" pitchFamily="2" charset="0"/>
              </a:endParaRPr>
            </a:p>
          </p:txBody>
        </p:sp>
      </p:grp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2D9BCE78-80E8-1ADA-1FB4-AB73F040E07D}"/>
              </a:ext>
            </a:extLst>
          </p:cNvPr>
          <p:cNvGrpSpPr/>
          <p:nvPr/>
        </p:nvGrpSpPr>
        <p:grpSpPr>
          <a:xfrm>
            <a:off x="5526299" y="3300645"/>
            <a:ext cx="6508537" cy="3135067"/>
            <a:chOff x="5559092" y="3399222"/>
            <a:chExt cx="6508537" cy="3135067"/>
          </a:xfrm>
        </p:grpSpPr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8BBCBEFE-E898-E46B-EAB1-9D07CED3F0DF}"/>
                </a:ext>
              </a:extLst>
            </p:cNvPr>
            <p:cNvGrpSpPr/>
            <p:nvPr/>
          </p:nvGrpSpPr>
          <p:grpSpPr>
            <a:xfrm>
              <a:off x="5592863" y="3399222"/>
              <a:ext cx="6474766" cy="3135067"/>
              <a:chOff x="9094404" y="3105802"/>
              <a:chExt cx="6474766" cy="3135067"/>
            </a:xfrm>
          </p:grpSpPr>
          <p:sp>
            <p:nvSpPr>
              <p:cNvPr id="30" name="Прямоугольник: скругленные углы 29">
                <a:extLst>
                  <a:ext uri="{FF2B5EF4-FFF2-40B4-BE49-F238E27FC236}">
                    <a16:creationId xmlns:a16="http://schemas.microsoft.com/office/drawing/2014/main" id="{F2CE65FE-4597-7281-A722-5134FCC053E8}"/>
                  </a:ext>
                </a:extLst>
              </p:cNvPr>
              <p:cNvSpPr/>
              <p:nvPr/>
            </p:nvSpPr>
            <p:spPr>
              <a:xfrm>
                <a:off x="9094404" y="3105802"/>
                <a:ext cx="6474766" cy="313506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7" name="Группа 6">
                <a:extLst>
                  <a:ext uri="{FF2B5EF4-FFF2-40B4-BE49-F238E27FC236}">
                    <a16:creationId xmlns:a16="http://schemas.microsoft.com/office/drawing/2014/main" id="{C828BFC2-C5A9-D901-0DFE-091DC60B5576}"/>
                  </a:ext>
                </a:extLst>
              </p:cNvPr>
              <p:cNvGrpSpPr/>
              <p:nvPr/>
            </p:nvGrpSpPr>
            <p:grpSpPr>
              <a:xfrm>
                <a:off x="9295805" y="4184571"/>
                <a:ext cx="6075141" cy="1201726"/>
                <a:chOff x="5460709" y="5501222"/>
                <a:chExt cx="6075141" cy="1201726"/>
              </a:xfrm>
            </p:grpSpPr>
            <p:pic>
              <p:nvPicPr>
                <p:cNvPr id="1036" name="Picture 12" descr="Докер – Бесплатные иконки: бренды и логотипы">
                  <a:extLst>
                    <a:ext uri="{FF2B5EF4-FFF2-40B4-BE49-F238E27FC236}">
                      <a16:creationId xmlns:a16="http://schemas.microsoft.com/office/drawing/2014/main" id="{9A79A14D-5671-1AAE-6856-3A6ACCB719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060146" y="5644885"/>
                  <a:ext cx="914400" cy="91440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2" name="Picture 18" descr="What - Docker Compose Logo Transparent Png,Compose Icon - free transparent  png images - pngaaa.com">
                  <a:extLst>
                    <a:ext uri="{FF2B5EF4-FFF2-40B4-BE49-F238E27FC236}">
                      <a16:creationId xmlns:a16="http://schemas.microsoft.com/office/drawing/2014/main" id="{8E0F4AE6-6C70-79DA-0CB1-AA7B4EE1076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backgroundRemoval t="6693" b="93307" l="10000" r="90000">
                              <a14:foregroundMark x1="65444" y1="11513" x2="65444" y2="11513"/>
                              <a14:foregroundMark x1="68556" y1="6827" x2="68556" y2="6827"/>
                              <a14:foregroundMark x1="58889" y1="88086" x2="58889" y2="88086"/>
                              <a14:foregroundMark x1="59889" y1="89826" x2="59889" y2="89826"/>
                              <a14:foregroundMark x1="58556" y1="93307" x2="58556" y2="93307"/>
                              <a14:foregroundMark x1="51778" y1="55689" x2="51778" y2="55689"/>
                              <a14:foregroundMark x1="47778" y1="53548" x2="48889" y2="55823"/>
                              <a14:foregroundMark x1="50556" y1="51539" x2="53556" y2="56894"/>
                              <a14:backgroundMark x1="46444" y1="68541" x2="46444" y2="68541"/>
                              <a14:backgroundMark x1="59000" y1="68541" x2="59000" y2="68541"/>
                              <a14:backgroundMark x1="58111" y1="68273" x2="58111" y2="68273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8895" r="18881"/>
                <a:stretch>
                  <a:fillRect/>
                </a:stretch>
              </p:blipFill>
              <p:spPr bwMode="auto">
                <a:xfrm>
                  <a:off x="10668444" y="5523587"/>
                  <a:ext cx="867406" cy="1156996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4" name="Picture 20">
                  <a:extLst>
                    <a:ext uri="{FF2B5EF4-FFF2-40B4-BE49-F238E27FC236}">
                      <a16:creationId xmlns:a16="http://schemas.microsoft.com/office/drawing/2014/main" id="{464CD113-0D78-0EB4-A331-81C71C2BF3E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460709" y="5577154"/>
                  <a:ext cx="1049861" cy="104986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70" name="Picture 46">
                  <a:extLst>
                    <a:ext uri="{FF2B5EF4-FFF2-40B4-BE49-F238E27FC236}">
                      <a16:creationId xmlns:a16="http://schemas.microsoft.com/office/drawing/2014/main" id="{AC96E036-2433-6091-BC1A-E0F75A90B80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70917"/>
                <a:stretch>
                  <a:fillRect/>
                </a:stretch>
              </p:blipFill>
              <p:spPr bwMode="auto">
                <a:xfrm>
                  <a:off x="7204468" y="5501222"/>
                  <a:ext cx="1161780" cy="1201726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B613B8F-287A-FB90-4EBD-86DBB404EAEC}"/>
                </a:ext>
              </a:extLst>
            </p:cNvPr>
            <p:cNvSpPr txBox="1"/>
            <p:nvPr/>
          </p:nvSpPr>
          <p:spPr>
            <a:xfrm>
              <a:off x="5559092" y="3555621"/>
              <a:ext cx="65085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omfortaa Medium" pitchFamily="2" charset="0"/>
                </a:rPr>
                <a:t>СЕРВЕР</a:t>
              </a:r>
            </a:p>
          </p:txBody>
        </p:sp>
      </p:grpSp>
      <p:grpSp>
        <p:nvGrpSpPr>
          <p:cNvPr id="56" name="Группа 55">
            <a:extLst>
              <a:ext uri="{FF2B5EF4-FFF2-40B4-BE49-F238E27FC236}">
                <a16:creationId xmlns:a16="http://schemas.microsoft.com/office/drawing/2014/main" id="{557AD496-4CC1-8A5A-0B0B-CB853E40BA11}"/>
              </a:ext>
            </a:extLst>
          </p:cNvPr>
          <p:cNvGrpSpPr/>
          <p:nvPr/>
        </p:nvGrpSpPr>
        <p:grpSpPr>
          <a:xfrm>
            <a:off x="5560070" y="1131261"/>
            <a:ext cx="6508537" cy="1914424"/>
            <a:chOff x="5559092" y="1288511"/>
            <a:chExt cx="6508537" cy="1914424"/>
          </a:xfrm>
        </p:grpSpPr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397D9150-90CD-3E39-B0AD-F3D7E2836DCE}"/>
                </a:ext>
              </a:extLst>
            </p:cNvPr>
            <p:cNvGrpSpPr/>
            <p:nvPr/>
          </p:nvGrpSpPr>
          <p:grpSpPr>
            <a:xfrm>
              <a:off x="5559092" y="1288511"/>
              <a:ext cx="6508537" cy="1914424"/>
              <a:chOff x="3629659" y="1979926"/>
              <a:chExt cx="6508537" cy="1914424"/>
            </a:xfrm>
          </p:grpSpPr>
          <p:sp>
            <p:nvSpPr>
              <p:cNvPr id="4" name="Прямоугольник: скругленные углы 3">
                <a:extLst>
                  <a:ext uri="{FF2B5EF4-FFF2-40B4-BE49-F238E27FC236}">
                    <a16:creationId xmlns:a16="http://schemas.microsoft.com/office/drawing/2014/main" id="{7AC27E85-6937-0972-3A98-41F1A4B2D029}"/>
                  </a:ext>
                </a:extLst>
              </p:cNvPr>
              <p:cNvSpPr/>
              <p:nvPr/>
            </p:nvSpPr>
            <p:spPr>
              <a:xfrm>
                <a:off x="3629659" y="1979926"/>
                <a:ext cx="6508537" cy="1914424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grpSp>
            <p:nvGrpSpPr>
              <p:cNvPr id="5" name="Группа 4">
                <a:extLst>
                  <a:ext uri="{FF2B5EF4-FFF2-40B4-BE49-F238E27FC236}">
                    <a16:creationId xmlns:a16="http://schemas.microsoft.com/office/drawing/2014/main" id="{D23A6329-DF53-CE67-5DC6-9F18E06620E5}"/>
                  </a:ext>
                </a:extLst>
              </p:cNvPr>
              <p:cNvGrpSpPr/>
              <p:nvPr/>
            </p:nvGrpSpPr>
            <p:grpSpPr>
              <a:xfrm>
                <a:off x="3864831" y="2721986"/>
                <a:ext cx="5997900" cy="1057345"/>
                <a:chOff x="3014928" y="2777758"/>
                <a:chExt cx="5997900" cy="1057345"/>
              </a:xfrm>
            </p:grpSpPr>
            <p:pic>
              <p:nvPicPr>
                <p:cNvPr id="1046" name="Picture 22" descr="Vite color icon in PNG, SVG">
                  <a:extLst>
                    <a:ext uri="{FF2B5EF4-FFF2-40B4-BE49-F238E27FC236}">
                      <a16:creationId xmlns:a16="http://schemas.microsoft.com/office/drawing/2014/main" id="{B2C4E98C-90EA-3A3E-BA43-05E37DD01F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backgroundRemoval t="8750" b="92917" l="8500" r="91000">
                              <a14:foregroundMark x1="8500" y1="22667" x2="8500" y2="22667"/>
                              <a14:foregroundMark x1="68333" y1="8750" x2="68333" y2="8750"/>
                              <a14:foregroundMark x1="91083" y1="20667" x2="91083" y2="20667"/>
                              <a14:foregroundMark x1="50167" y1="92917" x2="50167" y2="92917"/>
                            </a14:backgroundRemoval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098428" y="2849230"/>
                  <a:ext cx="914400" cy="914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8" name="Picture 24">
                  <a:extLst>
                    <a:ext uri="{FF2B5EF4-FFF2-40B4-BE49-F238E27FC236}">
                      <a16:creationId xmlns:a16="http://schemas.microsoft.com/office/drawing/2014/main" id="{6C592F3B-3DEB-C5B4-CCB2-E6C7D6577A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374416" y="2848025"/>
                  <a:ext cx="1030140" cy="91681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2" name="Picture 28">
                  <a:extLst>
                    <a:ext uri="{FF2B5EF4-FFF2-40B4-BE49-F238E27FC236}">
                      <a16:creationId xmlns:a16="http://schemas.microsoft.com/office/drawing/2014/main" id="{1BBFB894-65E2-7321-C8C4-4303B4C346A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014928" y="2777758"/>
                  <a:ext cx="1057345" cy="105734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8" name="Picture 34" descr="Typescript - Free brands and logotypes icons">
                  <a:extLst>
                    <a:ext uri="{FF2B5EF4-FFF2-40B4-BE49-F238E27FC236}">
                      <a16:creationId xmlns:a16="http://schemas.microsoft.com/office/drawing/2014/main" id="{C985CBF1-461F-7E3B-9ADB-2D7BA557021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766144" y="2849230"/>
                  <a:ext cx="914401" cy="914401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27CBB24-A96F-AF7B-B629-5BE5BE7A53C3}"/>
                </a:ext>
              </a:extLst>
            </p:cNvPr>
            <p:cNvSpPr txBox="1"/>
            <p:nvPr/>
          </p:nvSpPr>
          <p:spPr>
            <a:xfrm>
              <a:off x="5559092" y="1425807"/>
              <a:ext cx="650853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Comfortaa Medium" pitchFamily="2" charset="0"/>
                </a:rPr>
                <a:t>FRONTEND</a:t>
              </a:r>
              <a:endParaRPr lang="ru-RU" sz="2000" dirty="0">
                <a:latin typeface="Comfortaa Medium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0134A57-FA0D-CAA2-9DA4-8ED9CE37A0BE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41B1E05-075D-1618-9F71-6A5963B3520F}"/>
              </a:ext>
            </a:extLst>
          </p:cNvPr>
          <p:cNvSpPr/>
          <p:nvPr/>
        </p:nvSpPr>
        <p:spPr>
          <a:xfrm>
            <a:off x="-3572" y="6690671"/>
            <a:ext cx="7071122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1A34A352-4669-4085-2D3D-ADFE950BD393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B28B4489-6DF0-9537-91F8-FA61B26D4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Средства разработки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9A5CAC-87EE-9DEB-81CB-54AEAD85E5AA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34339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FCE6F3-C04C-904E-E83B-EDBF8EDD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CAEADBD3-A672-DED4-B0F3-6D9C1F3A2B18}"/>
              </a:ext>
            </a:extLst>
          </p:cNvPr>
          <p:cNvGrpSpPr/>
          <p:nvPr/>
        </p:nvGrpSpPr>
        <p:grpSpPr>
          <a:xfrm>
            <a:off x="2229540" y="2099092"/>
            <a:ext cx="7732920" cy="3593140"/>
            <a:chOff x="2601696" y="2305050"/>
            <a:chExt cx="6970929" cy="3239077"/>
          </a:xfrm>
        </p:grpSpPr>
        <p:sp>
          <p:nvSpPr>
            <p:cNvPr id="34" name="Прямоугольник: скругленные углы 33">
              <a:extLst>
                <a:ext uri="{FF2B5EF4-FFF2-40B4-BE49-F238E27FC236}">
                  <a16:creationId xmlns:a16="http://schemas.microsoft.com/office/drawing/2014/main" id="{7BC65B17-085A-FD12-88AF-DE6936E11F0D}"/>
                </a:ext>
              </a:extLst>
            </p:cNvPr>
            <p:cNvSpPr/>
            <p:nvPr/>
          </p:nvSpPr>
          <p:spPr>
            <a:xfrm>
              <a:off x="2601696" y="2305050"/>
              <a:ext cx="6970929" cy="2066925"/>
            </a:xfrm>
            <a:prstGeom prst="roundRect">
              <a:avLst>
                <a:gd name="adj" fmla="val 4818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Сервер</a:t>
              </a: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  <a:p>
              <a:pPr algn="ctr"/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5" name="Прямоугольник: скругленные углы 34">
              <a:extLst>
                <a:ext uri="{FF2B5EF4-FFF2-40B4-BE49-F238E27FC236}">
                  <a16:creationId xmlns:a16="http://schemas.microsoft.com/office/drawing/2014/main" id="{1ECA7979-34F0-56C8-1C91-78FC075843F0}"/>
                </a:ext>
              </a:extLst>
            </p:cNvPr>
            <p:cNvSpPr/>
            <p:nvPr/>
          </p:nvSpPr>
          <p:spPr>
            <a:xfrm>
              <a:off x="5123884" y="4747046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Браузер</a:t>
              </a:r>
            </a:p>
          </p:txBody>
        </p:sp>
        <p:sp>
          <p:nvSpPr>
            <p:cNvPr id="33" name="Прямоугольник: скругленные углы 32">
              <a:extLst>
                <a:ext uri="{FF2B5EF4-FFF2-40B4-BE49-F238E27FC236}">
                  <a16:creationId xmlns:a16="http://schemas.microsoft.com/office/drawing/2014/main" id="{3299F8B5-F131-F5A5-45A3-2257B1A206A4}"/>
                </a:ext>
              </a:extLst>
            </p:cNvPr>
            <p:cNvSpPr/>
            <p:nvPr/>
          </p:nvSpPr>
          <p:spPr>
            <a:xfrm>
              <a:off x="5110162" y="3234977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Comfortaa Medium" pitchFamily="2" charset="0"/>
                </a:rPr>
                <a:t>API</a:t>
              </a:r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8" name="Прямоугольник: скругленные углы 37">
              <a:extLst>
                <a:ext uri="{FF2B5EF4-FFF2-40B4-BE49-F238E27FC236}">
                  <a16:creationId xmlns:a16="http://schemas.microsoft.com/office/drawing/2014/main" id="{59038C30-FE58-AD58-814D-B120C0D96249}"/>
                </a:ext>
              </a:extLst>
            </p:cNvPr>
            <p:cNvSpPr/>
            <p:nvPr/>
          </p:nvSpPr>
          <p:spPr>
            <a:xfrm>
              <a:off x="2807948" y="3234977"/>
              <a:ext cx="1971676" cy="797081"/>
            </a:xfrm>
            <a:prstGeom prst="roundRect">
              <a:avLst>
                <a:gd name="adj" fmla="val 1308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База данных </a:t>
              </a:r>
              <a:r>
                <a:rPr lang="en-US" dirty="0">
                  <a:solidFill>
                    <a:schemeClr val="tx1"/>
                  </a:solidFill>
                  <a:latin typeface="Comfortaa Medium" pitchFamily="2" charset="0"/>
                </a:rPr>
                <a:t>MySQL</a:t>
              </a:r>
              <a:endParaRPr lang="ru-RU" dirty="0">
                <a:solidFill>
                  <a:schemeClr val="tx1"/>
                </a:solidFill>
                <a:latin typeface="Comfortaa Medium" pitchFamily="2" charset="0"/>
              </a:endParaRPr>
            </a:p>
          </p:txBody>
        </p:sp>
        <p:sp>
          <p:nvSpPr>
            <p:cNvPr id="39" name="Прямоугольник: скругленные углы 38">
              <a:extLst>
                <a:ext uri="{FF2B5EF4-FFF2-40B4-BE49-F238E27FC236}">
                  <a16:creationId xmlns:a16="http://schemas.microsoft.com/office/drawing/2014/main" id="{9341A8C8-B130-57BE-0385-BC9B3AA1B4AE}"/>
                </a:ext>
              </a:extLst>
            </p:cNvPr>
            <p:cNvSpPr/>
            <p:nvPr/>
          </p:nvSpPr>
          <p:spPr>
            <a:xfrm>
              <a:off x="7412376" y="3234977"/>
              <a:ext cx="1971676" cy="797081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  <a:latin typeface="Comfortaa Medium" pitchFamily="2" charset="0"/>
                </a:rPr>
                <a:t>Веб-сервер</a:t>
              </a:r>
            </a:p>
          </p:txBody>
        </p:sp>
        <p:cxnSp>
          <p:nvCxnSpPr>
            <p:cNvPr id="41" name="Прямая соединительная линия 40">
              <a:extLst>
                <a:ext uri="{FF2B5EF4-FFF2-40B4-BE49-F238E27FC236}">
                  <a16:creationId xmlns:a16="http://schemas.microsoft.com/office/drawing/2014/main" id="{C16EAF6B-7F79-F899-253B-35414FF68C85}"/>
                </a:ext>
              </a:extLst>
            </p:cNvPr>
            <p:cNvCxnSpPr>
              <a:cxnSpLocks/>
              <a:stCxn id="38" idx="3"/>
              <a:endCxn id="33" idx="1"/>
            </p:cNvCxnSpPr>
            <p:nvPr/>
          </p:nvCxnSpPr>
          <p:spPr>
            <a:xfrm>
              <a:off x="4779624" y="3633518"/>
              <a:ext cx="33053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Прямая соединительная линия 46">
              <a:extLst>
                <a:ext uri="{FF2B5EF4-FFF2-40B4-BE49-F238E27FC236}">
                  <a16:creationId xmlns:a16="http://schemas.microsoft.com/office/drawing/2014/main" id="{DA9AD919-4632-E802-E6C6-15E2A1CB3E67}"/>
                </a:ext>
              </a:extLst>
            </p:cNvPr>
            <p:cNvCxnSpPr>
              <a:cxnSpLocks/>
              <a:stCxn id="33" idx="3"/>
              <a:endCxn id="39" idx="1"/>
            </p:cNvCxnSpPr>
            <p:nvPr/>
          </p:nvCxnSpPr>
          <p:spPr>
            <a:xfrm>
              <a:off x="7081838" y="3633518"/>
              <a:ext cx="33053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Соединитель: уступ 50">
              <a:extLst>
                <a:ext uri="{FF2B5EF4-FFF2-40B4-BE49-F238E27FC236}">
                  <a16:creationId xmlns:a16="http://schemas.microsoft.com/office/drawing/2014/main" id="{8A84A74E-39D4-5756-0CCD-E3CF8627D16C}"/>
                </a:ext>
              </a:extLst>
            </p:cNvPr>
            <p:cNvCxnSpPr>
              <a:cxnSpLocks/>
              <a:stCxn id="39" idx="2"/>
              <a:endCxn id="35" idx="3"/>
            </p:cNvCxnSpPr>
            <p:nvPr/>
          </p:nvCxnSpPr>
          <p:spPr>
            <a:xfrm rot="5400000">
              <a:off x="7190123" y="3937495"/>
              <a:ext cx="1113529" cy="1302654"/>
            </a:xfrm>
            <a:prstGeom prst="bentConnector2">
              <a:avLst/>
            </a:prstGeom>
            <a:ln cap="flat">
              <a:miter lim="800000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7F352E8-C72A-94B9-3712-593F1654B748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6895538-94D6-4306-AA2A-16DAE08CBE75}"/>
              </a:ext>
            </a:extLst>
          </p:cNvPr>
          <p:cNvSpPr/>
          <p:nvPr/>
        </p:nvSpPr>
        <p:spPr>
          <a:xfrm>
            <a:off x="-3573" y="6690671"/>
            <a:ext cx="8433198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4587C68-F3EF-E93E-E511-E239CC31FE5E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969349D3-51C4-195C-43CB-3EF7A2891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Архитектура системы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159FC6-7D31-C1C1-DF5A-E4618FB02C26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958165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454F39D7-2DAE-C311-7C9F-E4ACD60B17F6}"/>
              </a:ext>
            </a:extLst>
          </p:cNvPr>
          <p:cNvGrpSpPr/>
          <p:nvPr/>
        </p:nvGrpSpPr>
        <p:grpSpPr>
          <a:xfrm>
            <a:off x="116097" y="1729564"/>
            <a:ext cx="2518287" cy="3732357"/>
            <a:chOff x="952500" y="1723424"/>
            <a:chExt cx="2518287" cy="3732357"/>
          </a:xfrm>
        </p:grpSpPr>
        <p:grpSp>
          <p:nvGrpSpPr>
            <p:cNvPr id="35" name="Группа 34">
              <a:extLst>
                <a:ext uri="{FF2B5EF4-FFF2-40B4-BE49-F238E27FC236}">
                  <a16:creationId xmlns:a16="http://schemas.microsoft.com/office/drawing/2014/main" id="{E3169C10-CA12-291D-CBD4-2F177882C89D}"/>
                </a:ext>
              </a:extLst>
            </p:cNvPr>
            <p:cNvGrpSpPr/>
            <p:nvPr/>
          </p:nvGrpSpPr>
          <p:grpSpPr>
            <a:xfrm>
              <a:off x="952500" y="1723424"/>
              <a:ext cx="2518287" cy="3732357"/>
              <a:chOff x="1041394" y="1667282"/>
              <a:chExt cx="3156980" cy="3732357"/>
            </a:xfrm>
          </p:grpSpPr>
          <p:sp>
            <p:nvSpPr>
              <p:cNvPr id="36" name="Прямоугольник: скругленные углы 35">
                <a:extLst>
                  <a:ext uri="{FF2B5EF4-FFF2-40B4-BE49-F238E27FC236}">
                    <a16:creationId xmlns:a16="http://schemas.microsoft.com/office/drawing/2014/main" id="{B6F1861F-5083-0700-2D25-599413660F3C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AE0352C-BA42-4CC9-10B1-08DA098C4611}"/>
                  </a:ext>
                </a:extLst>
              </p:cNvPr>
              <p:cNvSpPr txBox="1"/>
              <p:nvPr/>
            </p:nvSpPr>
            <p:spPr>
              <a:xfrm>
                <a:off x="1041394" y="4412577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Скорость</a:t>
                </a:r>
              </a:p>
            </p:txBody>
          </p:sp>
        </p:grpSp>
        <p:pic>
          <p:nvPicPr>
            <p:cNvPr id="43" name="Picture 4" descr="Максимальная скорость – Бесплатные иконки:">
              <a:extLst>
                <a:ext uri="{FF2B5EF4-FFF2-40B4-BE49-F238E27FC236}">
                  <a16:creationId xmlns:a16="http://schemas.microsoft.com/office/drawing/2014/main" id="{B90749CF-5A1E-B9BC-B6EB-1320F2FA94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6069" y="2319232"/>
              <a:ext cx="1691148" cy="16911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7DB1BE3D-E594-4CB9-64FE-403FE1860352}"/>
              </a:ext>
            </a:extLst>
          </p:cNvPr>
          <p:cNvGrpSpPr/>
          <p:nvPr/>
        </p:nvGrpSpPr>
        <p:grpSpPr>
          <a:xfrm>
            <a:off x="3204468" y="1725461"/>
            <a:ext cx="2668883" cy="3732357"/>
            <a:chOff x="3729944" y="1719321"/>
            <a:chExt cx="2668883" cy="3732357"/>
          </a:xfrm>
        </p:grpSpPr>
        <p:grpSp>
          <p:nvGrpSpPr>
            <p:cNvPr id="32" name="Группа 31">
              <a:extLst>
                <a:ext uri="{FF2B5EF4-FFF2-40B4-BE49-F238E27FC236}">
                  <a16:creationId xmlns:a16="http://schemas.microsoft.com/office/drawing/2014/main" id="{561B926A-111A-C405-BDA2-7E41806723C8}"/>
                </a:ext>
              </a:extLst>
            </p:cNvPr>
            <p:cNvGrpSpPr/>
            <p:nvPr/>
          </p:nvGrpSpPr>
          <p:grpSpPr>
            <a:xfrm>
              <a:off x="3729944" y="1719321"/>
              <a:ext cx="2668883" cy="3732357"/>
              <a:chOff x="1041394" y="1667282"/>
              <a:chExt cx="3156980" cy="3732357"/>
            </a:xfrm>
          </p:grpSpPr>
          <p:sp>
            <p:nvSpPr>
              <p:cNvPr id="33" name="Прямоугольник: скругленные углы 32">
                <a:extLst>
                  <a:ext uri="{FF2B5EF4-FFF2-40B4-BE49-F238E27FC236}">
                    <a16:creationId xmlns:a16="http://schemas.microsoft.com/office/drawing/2014/main" id="{DDEBCA52-EAA7-E1EC-6E91-B19882DB1F7B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05B4375-81D1-80A6-4372-F5FD97576521}"/>
                  </a:ext>
                </a:extLst>
              </p:cNvPr>
              <p:cNvSpPr txBox="1"/>
              <p:nvPr/>
            </p:nvSpPr>
            <p:spPr>
              <a:xfrm>
                <a:off x="1041394" y="4429331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Контроль</a:t>
                </a:r>
              </a:p>
            </p:txBody>
          </p:sp>
        </p:grpSp>
        <p:pic>
          <p:nvPicPr>
            <p:cNvPr id="45" name="Picture 6" descr="Пнг Проверка 27 фото">
              <a:extLst>
                <a:ext uri="{FF2B5EF4-FFF2-40B4-BE49-F238E27FC236}">
                  <a16:creationId xmlns:a16="http://schemas.microsoft.com/office/drawing/2014/main" id="{9F18291D-E2C3-239D-CBFE-C60703029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84090" y="2284511"/>
              <a:ext cx="1760590" cy="17605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Группа 51">
            <a:extLst>
              <a:ext uri="{FF2B5EF4-FFF2-40B4-BE49-F238E27FC236}">
                <a16:creationId xmlns:a16="http://schemas.microsoft.com/office/drawing/2014/main" id="{9944D1C2-5A77-4EE5-936D-CC91B844D1DE}"/>
              </a:ext>
            </a:extLst>
          </p:cNvPr>
          <p:cNvGrpSpPr/>
          <p:nvPr/>
        </p:nvGrpSpPr>
        <p:grpSpPr>
          <a:xfrm>
            <a:off x="6443435" y="1723410"/>
            <a:ext cx="2544097" cy="3732357"/>
            <a:chOff x="6657984" y="1717270"/>
            <a:chExt cx="2544097" cy="3732357"/>
          </a:xfrm>
        </p:grpSpPr>
        <p:grpSp>
          <p:nvGrpSpPr>
            <p:cNvPr id="28" name="Группа 27">
              <a:extLst>
                <a:ext uri="{FF2B5EF4-FFF2-40B4-BE49-F238E27FC236}">
                  <a16:creationId xmlns:a16="http://schemas.microsoft.com/office/drawing/2014/main" id="{C56951AD-4FEF-31EF-20E3-443AF3A31A7D}"/>
                </a:ext>
              </a:extLst>
            </p:cNvPr>
            <p:cNvGrpSpPr/>
            <p:nvPr/>
          </p:nvGrpSpPr>
          <p:grpSpPr>
            <a:xfrm>
              <a:off x="6657984" y="1717270"/>
              <a:ext cx="2544097" cy="3732357"/>
              <a:chOff x="1041394" y="1667282"/>
              <a:chExt cx="3156980" cy="3732357"/>
            </a:xfrm>
          </p:grpSpPr>
          <p:sp>
            <p:nvSpPr>
              <p:cNvPr id="29" name="Прямоугольник: скругленные углы 28">
                <a:extLst>
                  <a:ext uri="{FF2B5EF4-FFF2-40B4-BE49-F238E27FC236}">
                    <a16:creationId xmlns:a16="http://schemas.microsoft.com/office/drawing/2014/main" id="{9CCD54FC-01B4-DA7C-0B0D-C24CFC60A382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39969A3-1104-B7DA-0ACB-E9D642977611}"/>
                  </a:ext>
                </a:extLst>
              </p:cNvPr>
              <p:cNvSpPr txBox="1"/>
              <p:nvPr/>
            </p:nvSpPr>
            <p:spPr>
              <a:xfrm>
                <a:off x="1041394" y="4418731"/>
                <a:ext cx="31249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Расширение</a:t>
                </a:r>
              </a:p>
            </p:txBody>
          </p:sp>
        </p:grpSp>
        <p:pic>
          <p:nvPicPr>
            <p:cNvPr id="4108" name="Picture 12" descr="Значок расширения Символ вектора расширения Простой черный значок  увеличения | Премиум вектор">
              <a:extLst>
                <a:ext uri="{FF2B5EF4-FFF2-40B4-BE49-F238E27FC236}">
                  <a16:creationId xmlns:a16="http://schemas.microsoft.com/office/drawing/2014/main" id="{D2676F6E-FE8E-4681-A7BF-2E50725396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95706" y="2230480"/>
              <a:ext cx="1868652" cy="18686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11A99480-9063-F93E-9C84-EE15662BE76B}"/>
              </a:ext>
            </a:extLst>
          </p:cNvPr>
          <p:cNvGrpSpPr/>
          <p:nvPr/>
        </p:nvGrpSpPr>
        <p:grpSpPr>
          <a:xfrm>
            <a:off x="9557616" y="1732641"/>
            <a:ext cx="2518287" cy="3732357"/>
            <a:chOff x="9461237" y="1721372"/>
            <a:chExt cx="2518287" cy="3732357"/>
          </a:xfrm>
        </p:grpSpPr>
        <p:grpSp>
          <p:nvGrpSpPr>
            <p:cNvPr id="40" name="Группа 39">
              <a:extLst>
                <a:ext uri="{FF2B5EF4-FFF2-40B4-BE49-F238E27FC236}">
                  <a16:creationId xmlns:a16="http://schemas.microsoft.com/office/drawing/2014/main" id="{2B2FB407-8656-C708-9628-EDB011C815FE}"/>
                </a:ext>
              </a:extLst>
            </p:cNvPr>
            <p:cNvGrpSpPr/>
            <p:nvPr/>
          </p:nvGrpSpPr>
          <p:grpSpPr>
            <a:xfrm>
              <a:off x="9461237" y="1721372"/>
              <a:ext cx="2518287" cy="3732357"/>
              <a:chOff x="1041394" y="1667282"/>
              <a:chExt cx="3156980" cy="3732357"/>
            </a:xfrm>
          </p:grpSpPr>
          <p:sp>
            <p:nvSpPr>
              <p:cNvPr id="41" name="Прямоугольник: скругленные углы 40">
                <a:extLst>
                  <a:ext uri="{FF2B5EF4-FFF2-40B4-BE49-F238E27FC236}">
                    <a16:creationId xmlns:a16="http://schemas.microsoft.com/office/drawing/2014/main" id="{B95AF9D4-EDC3-59ED-A483-A44010E06A68}"/>
                  </a:ext>
                </a:extLst>
              </p:cNvPr>
              <p:cNvSpPr/>
              <p:nvPr/>
            </p:nvSpPr>
            <p:spPr>
              <a:xfrm>
                <a:off x="1041394" y="1667282"/>
                <a:ext cx="3156980" cy="3732357"/>
              </a:xfrm>
              <a:prstGeom prst="roundRect">
                <a:avLst>
                  <a:gd name="adj" fmla="val 4689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C2C9C01-DA66-3821-6207-B0D5B9E482D1}"/>
                  </a:ext>
                </a:extLst>
              </p:cNvPr>
              <p:cNvSpPr txBox="1"/>
              <p:nvPr/>
            </p:nvSpPr>
            <p:spPr>
              <a:xfrm>
                <a:off x="1041394" y="4418731"/>
                <a:ext cx="31569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dirty="0">
                    <a:latin typeface="Comfortaa Medium" pitchFamily="2" charset="0"/>
                  </a:rPr>
                  <a:t>Удобство</a:t>
                </a:r>
              </a:p>
            </p:txBody>
          </p:sp>
        </p:grpSp>
        <p:pic>
          <p:nvPicPr>
            <p:cNvPr id="50" name="Picture 22" descr="Диван – Бесплатные иконки: мебель и дом">
              <a:extLst>
                <a:ext uri="{FF2B5EF4-FFF2-40B4-BE49-F238E27FC236}">
                  <a16:creationId xmlns:a16="http://schemas.microsoft.com/office/drawing/2014/main" id="{AA8D93C2-9AFF-9532-825A-F97EAD03F0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52220" y="2196646"/>
              <a:ext cx="1936320" cy="19363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D86824D-99CC-8D54-74AF-82EAE4CEBF0D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503E55B-9AB7-62E9-24E1-ACD11DAB993B}"/>
              </a:ext>
            </a:extLst>
          </p:cNvPr>
          <p:cNvSpPr/>
          <p:nvPr/>
        </p:nvSpPr>
        <p:spPr>
          <a:xfrm>
            <a:off x="-3572" y="6684517"/>
            <a:ext cx="9985772" cy="173483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772B2F7D-7356-D8CB-1451-638BA742DE03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Заголовок 1">
            <a:extLst>
              <a:ext uri="{FF2B5EF4-FFF2-40B4-BE49-F238E27FC236}">
                <a16:creationId xmlns:a16="http://schemas.microsoft.com/office/drawing/2014/main" id="{FBDA1943-79B4-8505-8056-943D95812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Преимущества проекта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511E6D-30E4-0F07-4A56-D8C8DD885FB2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75004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91C3C3-0077-AE1D-E5AC-241A664FF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4B137328-195C-C343-7370-C4A755526655}"/>
              </a:ext>
            </a:extLst>
          </p:cNvPr>
          <p:cNvGrpSpPr/>
          <p:nvPr/>
        </p:nvGrpSpPr>
        <p:grpSpPr>
          <a:xfrm>
            <a:off x="660400" y="1841122"/>
            <a:ext cx="4660150" cy="3175755"/>
            <a:chOff x="2341062" y="2335789"/>
            <a:chExt cx="3121184" cy="1466727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2EBD1A73-8D4A-E3F6-00E3-78341FF8385F}"/>
                </a:ext>
              </a:extLst>
            </p:cNvPr>
            <p:cNvSpPr/>
            <p:nvPr/>
          </p:nvSpPr>
          <p:spPr>
            <a:xfrm>
              <a:off x="2341062" y="2335789"/>
              <a:ext cx="3121184" cy="1466727"/>
            </a:xfrm>
            <a:prstGeom prst="roundRect">
              <a:avLst>
                <a:gd name="adj" fmla="val 4689"/>
              </a:avLst>
            </a:prstGeom>
            <a:solidFill>
              <a:schemeClr val="bg1"/>
            </a:solidFill>
            <a:ln>
              <a:solidFill>
                <a:srgbClr val="FFA72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9B5968C-50DC-1C00-843C-0492E03E7144}"/>
                </a:ext>
              </a:extLst>
            </p:cNvPr>
            <p:cNvSpPr txBox="1"/>
            <p:nvPr/>
          </p:nvSpPr>
          <p:spPr>
            <a:xfrm>
              <a:off x="2341062" y="2781678"/>
              <a:ext cx="2883160" cy="5543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400" b="0" i="0" u="none" strike="noStrike" cap="none" dirty="0">
                  <a:solidFill>
                    <a:srgbClr val="0E0E0E"/>
                  </a:solidFill>
                  <a:latin typeface="Comfortaa Medium" pitchFamily="2" charset="0"/>
                  <a:ea typeface="Poppins"/>
                  <a:cs typeface="Poppins"/>
                  <a:sym typeface="Poppins"/>
                </a:rPr>
                <a:t>Поставленная цель достигнута, задачи выполнены </a:t>
              </a:r>
              <a:endParaRPr lang="ru-RU" sz="2400" b="0" i="0" u="none" strike="noStrike" cap="none" dirty="0">
                <a:solidFill>
                  <a:schemeClr val="dk1"/>
                </a:solidFill>
                <a:latin typeface="Comfortaa Medium" pitchFamily="2" charset="0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6" name="Picture 4" descr="Скачать картинки Куча бумаг, стоковые фото Куча бумаг в ...">
            <a:extLst>
              <a:ext uri="{FF2B5EF4-FFF2-40B4-BE49-F238E27FC236}">
                <a16:creationId xmlns:a16="http://schemas.microsoft.com/office/drawing/2014/main" id="{540B2C80-8D04-FB8B-4928-983FE16B08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80912" y1="32432" x2="75169" y2="20120"/>
                        <a14:foregroundMark x1="75169" y1="20120" x2="84122" y2="23423"/>
                        <a14:foregroundMark x1="88851" y1="15015" x2="80236" y2="14715"/>
                        <a14:foregroundMark x1="72128" y1="85886" x2="86149" y2="89189"/>
                        <a14:foregroundMark x1="86149" y1="89189" x2="88682" y2="87387"/>
                        <a14:foregroundMark x1="58446" y1="88589" x2="58108" y2="42643"/>
                        <a14:foregroundMark x1="58108" y1="42643" x2="44595" y2="40841"/>
                        <a14:foregroundMark x1="44595" y1="40841" x2="40114" y2="55131"/>
                        <a14:foregroundMark x1="39311" y1="64993" x2="40034" y2="74174"/>
                        <a14:foregroundMark x1="40034" y1="74174" x2="55574" y2="88889"/>
                        <a14:foregroundMark x1="55574" y1="88889" x2="58615" y2="89189"/>
                        <a14:foregroundMark x1="9966" y1="68168" x2="24324" y2="68468"/>
                        <a14:foregroundMark x1="24324" y1="68468" x2="27365" y2="86486"/>
                        <a14:foregroundMark x1="27365" y1="86486" x2="16723" y2="86186"/>
                        <a14:foregroundMark x1="16723" y1="86186" x2="10473" y2="74775"/>
                        <a14:foregroundMark x1="10473" y1="74775" x2="10642" y2="70270"/>
                        <a14:backgroundMark x1="39020" y1="54955" x2="38514" y2="6486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022" t="10350" r="8680" b="7103"/>
          <a:stretch>
            <a:fillRect/>
          </a:stretch>
        </p:blipFill>
        <p:spPr bwMode="auto">
          <a:xfrm flipH="1">
            <a:off x="6095022" y="1841122"/>
            <a:ext cx="5525585" cy="3131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Стрелка: вправо 7">
            <a:extLst>
              <a:ext uri="{FF2B5EF4-FFF2-40B4-BE49-F238E27FC236}">
                <a16:creationId xmlns:a16="http://schemas.microsoft.com/office/drawing/2014/main" id="{AC877CA2-9573-9DE1-22A3-0618212CB73B}"/>
              </a:ext>
            </a:extLst>
          </p:cNvPr>
          <p:cNvSpPr/>
          <p:nvPr/>
        </p:nvSpPr>
        <p:spPr>
          <a:xfrm>
            <a:off x="6095022" y="5016877"/>
            <a:ext cx="5525585" cy="167330"/>
          </a:xfrm>
          <a:prstGeom prst="rightArrow">
            <a:avLst>
              <a:gd name="adj1" fmla="val 50000"/>
              <a:gd name="adj2" fmla="val 150859"/>
            </a:avLst>
          </a:prstGeom>
          <a:solidFill>
            <a:srgbClr val="FFA726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4BE485C-347E-F23B-40B9-99F9088E961D}"/>
              </a:ext>
            </a:extLst>
          </p:cNvPr>
          <p:cNvSpPr/>
          <p:nvPr/>
        </p:nvSpPr>
        <p:spPr>
          <a:xfrm>
            <a:off x="0" y="6690671"/>
            <a:ext cx="12192000" cy="1673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26D73996-628B-0408-E3A4-7AF1F1B85DB3}"/>
              </a:ext>
            </a:extLst>
          </p:cNvPr>
          <p:cNvSpPr/>
          <p:nvPr/>
        </p:nvSpPr>
        <p:spPr>
          <a:xfrm>
            <a:off x="-3572" y="6690670"/>
            <a:ext cx="12195572" cy="16733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EA9BC92-E4A2-BDD0-7277-171A52A35D10}"/>
              </a:ext>
            </a:extLst>
          </p:cNvPr>
          <p:cNvSpPr/>
          <p:nvPr/>
        </p:nvSpPr>
        <p:spPr>
          <a:xfrm>
            <a:off x="95250" y="90039"/>
            <a:ext cx="11994356" cy="786262"/>
          </a:xfrm>
          <a:prstGeom prst="roundRect">
            <a:avLst>
              <a:gd name="adj" fmla="val 232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Заголовок 1">
            <a:extLst>
              <a:ext uri="{FF2B5EF4-FFF2-40B4-BE49-F238E27FC236}">
                <a16:creationId xmlns:a16="http://schemas.microsoft.com/office/drawing/2014/main" id="{7BDE4DE0-3038-1074-DC2B-64181C1DD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228389"/>
            <a:ext cx="10952621" cy="509563"/>
          </a:xfrm>
        </p:spPr>
        <p:txBody>
          <a:bodyPr>
            <a:noAutofit/>
          </a:bodyPr>
          <a:lstStyle/>
          <a:p>
            <a:r>
              <a:rPr lang="ru-RU" sz="3200" dirty="0">
                <a:latin typeface="Comfortaa Medium" pitchFamily="2" charset="0"/>
              </a:rPr>
              <a:t>Заключение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8713CD-5ECA-EDDF-4152-EEEFAD7571FB}"/>
              </a:ext>
            </a:extLst>
          </p:cNvPr>
          <p:cNvSpPr txBox="1"/>
          <p:nvPr/>
        </p:nvSpPr>
        <p:spPr>
          <a:xfrm>
            <a:off x="11877674" y="6321339"/>
            <a:ext cx="314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omfortaa Medium" pitchFamily="2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8902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8047-1723-AD8F-0301-C75F1C669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Овал 50">
            <a:extLst>
              <a:ext uri="{FF2B5EF4-FFF2-40B4-BE49-F238E27FC236}">
                <a16:creationId xmlns:a16="http://schemas.microsoft.com/office/drawing/2014/main" id="{0E4209C6-75F2-B489-1EA8-12D508196E25}"/>
              </a:ext>
            </a:extLst>
          </p:cNvPr>
          <p:cNvSpPr/>
          <p:nvPr/>
        </p:nvSpPr>
        <p:spPr>
          <a:xfrm>
            <a:off x="8023370" y="3286998"/>
            <a:ext cx="5481380" cy="5481380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Овал 48">
            <a:extLst>
              <a:ext uri="{FF2B5EF4-FFF2-40B4-BE49-F238E27FC236}">
                <a16:creationId xmlns:a16="http://schemas.microsoft.com/office/drawing/2014/main" id="{3F5A570D-1552-EFD2-2668-EE5F5396873C}"/>
              </a:ext>
            </a:extLst>
          </p:cNvPr>
          <p:cNvSpPr/>
          <p:nvPr/>
        </p:nvSpPr>
        <p:spPr>
          <a:xfrm>
            <a:off x="-4296229" y="-3556000"/>
            <a:ext cx="8076071" cy="7985662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81D42F-9434-0117-9030-F3F9FDC52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689"/>
            <a:ext cx="9144000" cy="1789967"/>
          </a:xfrm>
        </p:spPr>
        <p:txBody>
          <a:bodyPr>
            <a:normAutofit fontScale="90000"/>
          </a:bodyPr>
          <a:lstStyle/>
          <a:p>
            <a:r>
              <a:rPr lang="ru-RU" sz="1800" dirty="0">
                <a:latin typeface="Comfortaa Medium" pitchFamily="2" charset="0"/>
              </a:rPr>
              <a:t>ФЕДЕРАЛЬНОЕ ГОСУДАРСТВЕННОЕ БЮДЖЕТНОЕ ОБРАЗОВАТЕЛЬНОЕ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УЧРЕЖДЕНИЕ ВЫСШЕГО ОБРАЗОВАНИЯ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«САНКТ-ПЕТЕРБУРГСКИЙ ГОСУДАРСТВЕННЫЙ УНИВЕРСИТЕТ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ТЕЛЕКОММУНИКАЦИЙ ИМ. ПРОФ. М.А. БОНЧ-БРУЕВИЧА»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(СПбГУТ)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АРХАНГЕЛЬСКИЙ КОЛЛЕДЖ ТЕЛЕКОММУНИКАЦИЙ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ИМ. Б.Л. РОЗИНГА (ФИЛИАЛ) СПбГУТ</a:t>
            </a:r>
            <a:br>
              <a:rPr lang="ru-RU" sz="1800" dirty="0">
                <a:latin typeface="Comfortaa Medium" pitchFamily="2" charset="0"/>
              </a:rPr>
            </a:br>
            <a:r>
              <a:rPr lang="ru-RU" sz="1800" dirty="0">
                <a:latin typeface="Comfortaa Medium" pitchFamily="2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FE7F15-4652-F11D-77D3-BBB1D377C3A1}"/>
              </a:ext>
            </a:extLst>
          </p:cNvPr>
          <p:cNvSpPr txBox="1"/>
          <p:nvPr/>
        </p:nvSpPr>
        <p:spPr>
          <a:xfrm>
            <a:off x="161921" y="6254515"/>
            <a:ext cx="11814238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0A0A0A"/>
                </a:solidFill>
                <a:latin typeface="Comfortaa Medium" pitchFamily="2" charset="0"/>
              </a:rPr>
              <a:t>Архангельск 2026</a:t>
            </a:r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93345BF2-A3FB-9ED7-31C9-85DDA691CDC6}"/>
              </a:ext>
            </a:extLst>
          </p:cNvPr>
          <p:cNvGrpSpPr/>
          <p:nvPr/>
        </p:nvGrpSpPr>
        <p:grpSpPr>
          <a:xfrm>
            <a:off x="396683" y="4447382"/>
            <a:ext cx="7445845" cy="646331"/>
            <a:chOff x="302493" y="3951615"/>
            <a:chExt cx="7445845" cy="64633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BFF2BEF-88D6-DD35-ADBD-4E786975B360}"/>
                </a:ext>
              </a:extLst>
            </p:cNvPr>
            <p:cNvSpPr txBox="1"/>
            <p:nvPr/>
          </p:nvSpPr>
          <p:spPr>
            <a:xfrm>
              <a:off x="1057275" y="3951615"/>
              <a:ext cx="6691063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Екимов Вячеслав Андреевич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Студент ИСПП-21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27CC8A91-E839-D344-0845-45A5D54C86A9}"/>
                </a:ext>
              </a:extLst>
            </p:cNvPr>
            <p:cNvGrpSpPr/>
            <p:nvPr/>
          </p:nvGrpSpPr>
          <p:grpSpPr>
            <a:xfrm>
              <a:off x="302493" y="3992823"/>
              <a:ext cx="656149" cy="558787"/>
              <a:chOff x="1169726" y="3999274"/>
              <a:chExt cx="656149" cy="558787"/>
            </a:xfrm>
          </p:grpSpPr>
          <p:sp>
            <p:nvSpPr>
              <p:cNvPr id="14" name="Овал 13">
                <a:extLst>
                  <a:ext uri="{FF2B5EF4-FFF2-40B4-BE49-F238E27FC236}">
                    <a16:creationId xmlns:a16="http://schemas.microsoft.com/office/drawing/2014/main" id="{20CAFF2D-C1DA-1C4C-B709-B5612DD08EE9}"/>
                  </a:ext>
                </a:extLst>
              </p:cNvPr>
              <p:cNvSpPr/>
              <p:nvPr/>
            </p:nvSpPr>
            <p:spPr>
              <a:xfrm>
                <a:off x="1217679" y="3999274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1AD2DA-3104-D320-8FEC-944E28510349}"/>
                  </a:ext>
                </a:extLst>
              </p:cNvPr>
              <p:cNvSpPr txBox="1"/>
              <p:nvPr/>
            </p:nvSpPr>
            <p:spPr>
              <a:xfrm>
                <a:off x="1169726" y="4114784"/>
                <a:ext cx="65614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ЕВ</a:t>
                </a:r>
                <a:endParaRPr lang="ru-RU" dirty="0">
                  <a:solidFill>
                    <a:schemeClr val="bg1"/>
                  </a:solidFill>
                  <a:latin typeface="Comfortaa Medium" pitchFamily="2" charset="0"/>
                </a:endParaRPr>
              </a:p>
            </p:txBody>
          </p:sp>
        </p:grpSp>
      </p:grp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15DA64D2-B917-371B-0C12-DA59226AA4B4}"/>
              </a:ext>
            </a:extLst>
          </p:cNvPr>
          <p:cNvGrpSpPr/>
          <p:nvPr/>
        </p:nvGrpSpPr>
        <p:grpSpPr>
          <a:xfrm>
            <a:off x="342763" y="5325049"/>
            <a:ext cx="7499765" cy="646331"/>
            <a:chOff x="248573" y="5125918"/>
            <a:chExt cx="7499765" cy="646331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9F64A32-98F9-2BD6-5A18-914CE8E204B4}"/>
                </a:ext>
              </a:extLst>
            </p:cNvPr>
            <p:cNvSpPr txBox="1"/>
            <p:nvPr/>
          </p:nvSpPr>
          <p:spPr>
            <a:xfrm>
              <a:off x="1057276" y="5125918"/>
              <a:ext cx="6691062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ru-RU" dirty="0">
                  <a:latin typeface="Comfortaa Medium" pitchFamily="2" charset="0"/>
                </a:rPr>
                <a:t>Маломан Юлия Сергеевна</a:t>
              </a:r>
            </a:p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mfortaa Medium" pitchFamily="2" charset="0"/>
                </a:rPr>
                <a:t>Руководитель</a:t>
              </a:r>
              <a:endParaRPr lang="en-US" dirty="0">
                <a:latin typeface="Comfortaa Medium" pitchFamily="2" charset="0"/>
              </a:endParaRPr>
            </a:p>
          </p:txBody>
        </p:sp>
        <p:grpSp>
          <p:nvGrpSpPr>
            <p:cNvPr id="31" name="Группа 30">
              <a:extLst>
                <a:ext uri="{FF2B5EF4-FFF2-40B4-BE49-F238E27FC236}">
                  <a16:creationId xmlns:a16="http://schemas.microsoft.com/office/drawing/2014/main" id="{3B022DAD-55D6-6C27-2431-C28949D131BC}"/>
                </a:ext>
              </a:extLst>
            </p:cNvPr>
            <p:cNvGrpSpPr/>
            <p:nvPr/>
          </p:nvGrpSpPr>
          <p:grpSpPr>
            <a:xfrm>
              <a:off x="248573" y="5173577"/>
              <a:ext cx="763987" cy="558787"/>
              <a:chOff x="1115612" y="5161951"/>
              <a:chExt cx="763987" cy="558787"/>
            </a:xfrm>
          </p:grpSpPr>
          <p:sp>
            <p:nvSpPr>
              <p:cNvPr id="38" name="Овал 37">
                <a:extLst>
                  <a:ext uri="{FF2B5EF4-FFF2-40B4-BE49-F238E27FC236}">
                    <a16:creationId xmlns:a16="http://schemas.microsoft.com/office/drawing/2014/main" id="{636FC2B4-D333-6962-7C3D-6BE7C767CDDE}"/>
                  </a:ext>
                </a:extLst>
              </p:cNvPr>
              <p:cNvSpPr/>
              <p:nvPr/>
            </p:nvSpPr>
            <p:spPr>
              <a:xfrm>
                <a:off x="1217221" y="5161951"/>
                <a:ext cx="560244" cy="558787"/>
              </a:xfrm>
              <a:prstGeom prst="ellipse">
                <a:avLst/>
              </a:prstGeom>
              <a:solidFill>
                <a:srgbClr val="F7941D"/>
              </a:solidFill>
              <a:ln>
                <a:solidFill>
                  <a:srgbClr val="F7941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sz="1400" dirty="0">
                  <a:latin typeface="Bahnschrift" panose="020B0502040204020203" pitchFamily="34" charset="0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F7D2E94-B0A3-9E01-FC9F-B9AAAACEC258}"/>
                  </a:ext>
                </a:extLst>
              </p:cNvPr>
              <p:cNvSpPr txBox="1"/>
              <p:nvPr/>
            </p:nvSpPr>
            <p:spPr>
              <a:xfrm>
                <a:off x="1115612" y="5279806"/>
                <a:ext cx="763987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Comfortaa Medium" pitchFamily="2" charset="0"/>
                  </a:rPr>
                  <a:t>МЮ</a:t>
                </a:r>
              </a:p>
            </p:txBody>
          </p:sp>
        </p:grpSp>
      </p:grpSp>
      <p:sp>
        <p:nvSpPr>
          <p:cNvPr id="29" name="Подзаголовок 2">
            <a:extLst>
              <a:ext uri="{FF2B5EF4-FFF2-40B4-BE49-F238E27FC236}">
                <a16:creationId xmlns:a16="http://schemas.microsoft.com/office/drawing/2014/main" id="{334ECB10-1A93-88BB-0955-3B4A086D923F}"/>
              </a:ext>
            </a:extLst>
          </p:cNvPr>
          <p:cNvSpPr txBox="1">
            <a:spLocks/>
          </p:cNvSpPr>
          <p:nvPr/>
        </p:nvSpPr>
        <p:spPr>
          <a:xfrm>
            <a:off x="161921" y="2203791"/>
            <a:ext cx="11868159" cy="17899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5200" dirty="0">
                <a:latin typeface="Comfortaa Medium" pitchFamily="2" charset="0"/>
              </a:rPr>
              <a:t>ДИПЛОМНЫЙ ПРОЕКТ</a:t>
            </a:r>
          </a:p>
          <a:p>
            <a:pPr algn="l"/>
            <a:r>
              <a:rPr lang="ru-RU" sz="2600" dirty="0">
                <a:latin typeface="Comfortaa Medium" pitchFamily="2" charset="0"/>
              </a:rPr>
              <a:t>РАЗРАБОТКА ИНФОРМАЦИОННЫЙ СИСТЕМЫ УЧЕТА НОМЕРНОГО ФОНДА ОБЩЕЖИТИЯ</a:t>
            </a:r>
          </a:p>
        </p:txBody>
      </p:sp>
    </p:spTree>
    <p:extLst>
      <p:ext uri="{BB962C8B-B14F-4D97-AF65-F5344CB8AC3E}">
        <p14:creationId xmlns:p14="http://schemas.microsoft.com/office/powerpoint/2010/main" val="1731539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2743</TotalTime>
  <Words>268</Words>
  <Application>Microsoft Office PowerPoint</Application>
  <PresentationFormat>Широкоэкранный</PresentationFormat>
  <Paragraphs>77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8" baseType="lpstr">
      <vt:lpstr>Aptos</vt:lpstr>
      <vt:lpstr>Aptos Display</vt:lpstr>
      <vt:lpstr>Arial</vt:lpstr>
      <vt:lpstr>Bahnschrift</vt:lpstr>
      <vt:lpstr>Calibri</vt:lpstr>
      <vt:lpstr>Comfortaa Medium</vt:lpstr>
      <vt:lpstr>Comfortaa SemiBold</vt:lpstr>
      <vt:lpstr>Тема Office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  <vt:lpstr>Актуальность</vt:lpstr>
      <vt:lpstr>Презентация PowerPoint</vt:lpstr>
      <vt:lpstr>Задачи</vt:lpstr>
      <vt:lpstr>Целевая аудитория</vt:lpstr>
      <vt:lpstr>Средства разработки</vt:lpstr>
      <vt:lpstr>Архитектура системы</vt:lpstr>
      <vt:lpstr>Преимущества проекта</vt:lpstr>
      <vt:lpstr>Заключение</vt:lpstr>
      <vt:lpstr>ФЕДЕРАЛЬНОЕ ГОСУДАРСТВЕННОЕ БЮДЖЕТНОЕ ОБРАЗОВАТЕЛЬНОЕ УЧРЕЖДЕНИЕ ВЫСШЕГО ОБРАЗОВАНИЯ «САНКТ-ПЕТЕРБУРГСКИЙ ГОСУДАРСТВЕННЫЙ УНИВЕРСИТЕТ ТЕЛЕКОММУНИКАЦИЙ ИМ. ПРОФ. М.А. БОНЧ-БРУЕВИЧА» (СПбГУТ) АРХАНГЕЛЬСКИЙ КОЛЛЕДЖ ТЕЛЕКОММУНИКАЦИЙ ИМ. Б.Л. РОЗИНГА (ФИЛИАЛ) СПбГУТ (АКТ (ф) СПбГУТ)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Вячеслав Екимов</dc:creator>
  <cp:lastModifiedBy>Вячеслав Екимов</cp:lastModifiedBy>
  <cp:revision>150</cp:revision>
  <dcterms:created xsi:type="dcterms:W3CDTF">2025-11-25T06:59:53Z</dcterms:created>
  <dcterms:modified xsi:type="dcterms:W3CDTF">2026-05-19T14:37:34Z</dcterms:modified>
</cp:coreProperties>
</file>