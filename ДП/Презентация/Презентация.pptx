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67" r:id="rId2"/>
    <p:sldId id="275" r:id="rId3"/>
    <p:sldId id="277" r:id="rId4"/>
    <p:sldId id="269" r:id="rId5"/>
    <p:sldId id="278" r:id="rId6"/>
    <p:sldId id="264" r:id="rId7"/>
    <p:sldId id="265" r:id="rId8"/>
    <p:sldId id="272" r:id="rId9"/>
    <p:sldId id="273" r:id="rId10"/>
    <p:sldId id="276" r:id="rId11"/>
    <p:sldId id="261" r:id="rId12"/>
    <p:sldId id="260" r:id="rId13"/>
    <p:sldId id="263" r:id="rId14"/>
  </p:sldIdLst>
  <p:sldSz cx="12192000" cy="6858000"/>
  <p:notesSz cx="6881813" cy="10002838"/>
  <p:embeddedFontLst>
    <p:embeddedFont>
      <p:font typeface="Bahnschrift" panose="020B0502040204020203" pitchFamily="34" charset="0"/>
      <p:regular r:id="rId16"/>
      <p:bold r:id="rId17"/>
    </p:embeddedFont>
    <p:embeddedFont>
      <p:font typeface="Comfortaa Medium" pitchFamily="2" charset="0"/>
      <p:regular r:id="rId18"/>
    </p:embeddedFont>
    <p:embeddedFont>
      <p:font typeface="Comfortaa SemiBold" pitchFamily="2" charset="0"/>
      <p:bold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E50BD95-F608-64F7-6F20-62898EB5AE6C}" name="Вячеслав Екимов" initials="ВЕ" userId="04c4849db6b4c79f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7FB"/>
    <a:srgbClr val="CAC8CE"/>
    <a:srgbClr val="F7941D"/>
    <a:srgbClr val="0A0A0A"/>
    <a:srgbClr val="FFA726"/>
    <a:srgbClr val="FFB951"/>
    <a:srgbClr val="9292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21" autoAdjust="0"/>
    <p:restoredTop sz="81697" autoAdjust="0"/>
  </p:normalViewPr>
  <p:slideViewPr>
    <p:cSldViewPr snapToGrid="0">
      <p:cViewPr varScale="1">
        <p:scale>
          <a:sx n="88" d="100"/>
          <a:sy n="88" d="100"/>
        </p:scale>
        <p:origin x="1704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501879"/>
          </a:xfrm>
          <a:prstGeom prst="rect">
            <a:avLst/>
          </a:prstGeom>
        </p:spPr>
        <p:txBody>
          <a:bodyPr vert="horz" lIns="96478" tIns="48239" rIns="96478" bIns="48239" rtlCol="0"/>
          <a:lstStyle>
            <a:lvl1pPr algn="l">
              <a:defRPr sz="13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501879"/>
          </a:xfrm>
          <a:prstGeom prst="rect">
            <a:avLst/>
          </a:prstGeom>
        </p:spPr>
        <p:txBody>
          <a:bodyPr vert="horz" lIns="96478" tIns="48239" rIns="96478" bIns="48239" rtlCol="0"/>
          <a:lstStyle>
            <a:lvl1pPr algn="r">
              <a:defRPr sz="1300"/>
            </a:lvl1pPr>
          </a:lstStyle>
          <a:p>
            <a:fld id="{F3A30F77-5712-483B-AA1A-1F3B9FE8DBCC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42913" y="1250950"/>
            <a:ext cx="5997575" cy="3375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478" tIns="48239" rIns="96478" bIns="48239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8182" y="4813866"/>
            <a:ext cx="5505450" cy="3938617"/>
          </a:xfrm>
          <a:prstGeom prst="rect">
            <a:avLst/>
          </a:prstGeom>
        </p:spPr>
        <p:txBody>
          <a:bodyPr vert="horz" lIns="96478" tIns="48239" rIns="96478" bIns="48239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500961"/>
            <a:ext cx="2982119" cy="501878"/>
          </a:xfrm>
          <a:prstGeom prst="rect">
            <a:avLst/>
          </a:prstGeom>
        </p:spPr>
        <p:txBody>
          <a:bodyPr vert="horz" lIns="96478" tIns="48239" rIns="96478" bIns="48239" rtlCol="0" anchor="b"/>
          <a:lstStyle>
            <a:lvl1pPr algn="l">
              <a:defRPr sz="13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98102" y="9500961"/>
            <a:ext cx="2982119" cy="501878"/>
          </a:xfrm>
          <a:prstGeom prst="rect">
            <a:avLst/>
          </a:prstGeom>
        </p:spPr>
        <p:txBody>
          <a:bodyPr vert="horz" lIns="96478" tIns="48239" rIns="96478" bIns="48239" rtlCol="0" anchor="b"/>
          <a:lstStyle>
            <a:lvl1pPr algn="r">
              <a:defRPr sz="1300"/>
            </a:lvl1pPr>
          </a:lstStyle>
          <a:p>
            <a:fld id="{4929357B-58AA-43FF-A802-AA7AB61A6A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7197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Уважаемая комиссия, добрый день. Я Екимов Вячеслав Андреевич, группа ИСПП-21. Тема проекта: «Разработка информационной системы учета номерного фонда общежития».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9357B-58AA-43FF-A802-AA7AB61A6AAB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66143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344C3-8952-E4AB-3025-2A6D6C35A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27F7A52-901E-865F-3224-19756E3822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024F923-8E62-6E42-94CC-B1328A80EF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Разработка системы УНФО высоко актуальна и необходима, поскольку замена бумажного учёта на единое цифровое решение позволит автоматизировать повседневные задачи сотрудников колледжа, комендантов и воспитателей, исключить ошибки человеческого фактора и обеспечить мгновенный доступ к актуальным данным для оперативного и прозрачного управления структурой студенческого общежития.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0DF2C2-0ECE-0BFA-782F-D9B3A4D4AF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9357B-58AA-43FF-A802-AA7AB61A6AAB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1192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DD724-F47E-0E17-5730-0881790CF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D6AFE5D-BD3D-0429-55E7-9B93C2523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72EC683-D98A-1C5F-1CA9-FCE6D775C1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64783"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Основной целью проекта является создание системы для сотрудников колледжа и общежития, которое будет обеспечивать упрощенную форму учета данных о студентах, проживающих в общежитии и оборудовании в нем. Для достижения поставленной цели необходимо выполнить ряд задач, представленных на слайде.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442D239-252D-1458-2F10-B952B3A6E5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9357B-58AA-43FF-A802-AA7AB61A6AAB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3736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разработки были выбраны следующие технологии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Системой управления базой данных является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MySQL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за его высокую скорость, надежность и простоту в развертывании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Серверная логика взаимодействия была написала на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использованием 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EntityFrameworkCore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что позволяет исключить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-инъекции в базу данных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Веб-сайт был написать при помощи библиотек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использованием языка программирования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TypeScript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Ну и для упрощения развертывания используется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compose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ru-RU" sz="1300" dirty="0"/>
            </a:br>
            <a:br>
              <a:rPr lang="ru-RU" sz="1300" dirty="0"/>
            </a:br>
            <a:br>
              <a:rPr lang="ru-RU" sz="1300" dirty="0"/>
            </a:br>
            <a:br>
              <a:rPr lang="ru-RU" sz="1300" dirty="0"/>
            </a:b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используется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frontend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части проекта (папка /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workspace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frontend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как основной сборщик 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-сервер для React-приложения на TypeScript. Он задействован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package.json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скриптов запуска 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preview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vite.config.ts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конфигурации с плагином React и настройкой CSS-модулей, а также в index.html для подключения основного скрипта.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9357B-58AA-43FF-A802-AA7AB61A6AAB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54758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300" dirty="0"/>
              <a:t>Архитектура системы представляет из себя классическую многозвенную архитектуру, где каждый сервис развернут в отдельном контейнере </a:t>
            </a:r>
            <a:r>
              <a:rPr lang="en-US" sz="1300" dirty="0"/>
              <a:t>docker</a:t>
            </a:r>
            <a:r>
              <a:rPr lang="ru-RU" sz="1300" dirty="0"/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9357B-58AA-43FF-A802-AA7AB61A6AAB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81067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64783"/>
            <a:r>
              <a:rPr lang="ru-RU" sz="1300" dirty="0"/>
              <a:t>Среди преимуществ, представленных на слайде, хочется так же выделить то, что система разработана непосредственно для Архангельского колледжа телекоммуникаций и разработка велась под конкретные условия с целью улучшить и ускорить текущие процессы.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9357B-58AA-43FF-A802-AA7AB61A6AAB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00016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Завершая презентацию, отмечу: развитие программного продукта - процесс постоянный, но текущая версия системы уже стабильна и полностью готова к первому этапу внедрения. Что сейчас будет продемонстрированно.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9357B-58AA-43FF-A802-AA7AB61A6AAB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28166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B3DA7-9D6F-ACC6-F33F-AB51EA3E6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0B79E94-CBEB-30D4-0268-F7D616FBB3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3CAF48D-C05B-7CD7-680C-B9F60CF085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B852BEF-C995-DDFE-55BF-CE2F7C6B83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9357B-58AA-43FF-A802-AA7AB61A6AAB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68028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64783">
              <a:defRPr/>
            </a:pPr>
            <a:r>
              <a:rPr lang="ru-RU" dirty="0"/>
              <a:t>Разработка системы УНФО высоко актуальна и необходима, поскольку замена бумажного учёта на единое цифровое решение позволит автоматизировать повседневные операции комендантов и воспитателей, исключить ошибки человеческого фактора и обеспечить мгновенный доступ к актуальным данным для оперативного и прозрачного управления инфраструктурой студенческого общежития.</a:t>
            </a:r>
          </a:p>
          <a:p>
            <a:pPr defTabSz="964783">
              <a:defRPr/>
            </a:pPr>
            <a:endParaRPr lang="ru-RU" dirty="0"/>
          </a:p>
          <a:p>
            <a:pPr defTabSz="964783">
              <a:defRPr/>
            </a:pP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9357B-58AA-43FF-A802-AA7AB61A6AAB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8307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9357B-58AA-43FF-A802-AA7AB61A6AAB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49698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Написание документации это руководство поль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9357B-58AA-43FF-A802-AA7AB61A6AAB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70400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64783">
              <a:defRPr/>
            </a:pPr>
            <a:r>
              <a:rPr lang="ru-RU" sz="1300" dirty="0">
                <a:latin typeface="Calibri"/>
                <a:ea typeface="Calibri"/>
                <a:cs typeface="Poppins"/>
                <a:sym typeface="Poppins"/>
              </a:rPr>
              <a:t>для сотрудников администрации, которое будет обеспечивать упрощенную форму учета данных о студентах проживающих в оборудовании</a:t>
            </a:r>
            <a:endParaRPr lang="ru-RU" sz="1300" dirty="0">
              <a:latin typeface="Calibri"/>
              <a:ea typeface="Calibri"/>
              <a:cs typeface="Calibri"/>
              <a:sym typeface="Calibri"/>
            </a:endParaRPr>
          </a:p>
          <a:p>
            <a:r>
              <a:rPr lang="ru-RU" sz="1300" dirty="0"/>
              <a:t>для автоматизации учёта проживающих и управления инфраструктурой общежития.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9357B-58AA-43FF-A802-AA7AB61A6AAB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80128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9357B-58AA-43FF-A802-AA7AB61A6AAB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2447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B8380A-9423-2FA2-D5B0-1884D26FF7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C58BE93-EAB7-280F-4E4E-47DC5C93A6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8EDCCC-CB26-05BD-EB00-4A466F7C1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FD95-13B8-4D9F-981D-7E2051AFE206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E28CEF-2613-447E-A53E-0B077C5C5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12D2E5-4245-A3E0-986A-AA845A3C9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AA902-6E3C-42E3-813A-F7B0A3E989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91847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EB4F7E-8AAC-86DB-EDDB-BBAD29251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EF1258-D76E-86DB-DD8D-A3EA43D73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9CB4EF-8C33-79E9-2955-949B5E16C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FD95-13B8-4D9F-981D-7E2051AFE206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E019E2-97A8-9962-D7CB-1E0B42D67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13C3A7-7402-86CA-A688-BD198E0A0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AA902-6E3C-42E3-813A-F7B0A3E989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26377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227D42-223C-CEA8-E53A-C05B95640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F93D0B1-E7FF-6E4D-A4D0-D1A01EAAA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4DBE74-4D71-17C6-CA0A-72CABFCAD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FD95-13B8-4D9F-981D-7E2051AFE206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30C87C-5C6A-D94A-7794-EAE815FC8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402E7E-6609-FBF0-514C-F9BAC7936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AA902-6E3C-42E3-813A-F7B0A3E989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92083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D7E511-99A9-4B55-82A6-A73F8C5CA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D85C66-692E-F451-2184-8A0EAA3BC7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A5A45D7-ADC5-59A5-F117-9B68A79018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CBD10DE-9FA8-E6D5-9D1C-10966A0AA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FD95-13B8-4D9F-981D-7E2051AFE206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ADCCAC7-E2EB-8727-A432-A2946AEAC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232C931-7E70-59B8-BD06-2629946AF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AA902-6E3C-42E3-813A-F7B0A3E989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38713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0552F1-CBC9-5DD3-C255-9B8AB5FAE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14D7C40-B426-B4B7-8713-0D00C0A52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57E514-E9A5-85BF-66C3-A810B7FEDD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AFE8D6B-466B-AAFA-2F41-20F8C6E204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F473CE1-EFC0-3E97-5C64-25215F6192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B3B9AD8-2963-5D05-DA6F-26449F08C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FD95-13B8-4D9F-981D-7E2051AFE206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990D777-8084-B2C3-6FD5-B72C4932B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A383464-126A-CCC4-6D07-1CCDE521C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AA902-6E3C-42E3-813A-F7B0A3E989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7294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4672D1-435A-6695-AAE9-5F924AF2A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F82470A-E085-C7C9-6BDF-0D6F06DC5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FD95-13B8-4D9F-981D-7E2051AFE206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B6C6E97-CB7E-95D0-F6CE-46AA7187A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8D1E3BC-9138-F0BD-25C1-B1EE77962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AA902-6E3C-42E3-813A-F7B0A3E989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69961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4519456-965A-DA34-8428-C1A7DC138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FD95-13B8-4D9F-981D-7E2051AFE206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D729651-A699-8B52-EDA2-21A03763D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0D4FA4E-6223-F4EC-24AB-17720F0FB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AA902-6E3C-42E3-813A-F7B0A3E989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4244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266867-88EA-2FF0-B4B2-69DCC6293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775021-FCD5-A2D0-5683-05376AAA9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BF8C158-A641-C1F7-E093-9E373DCE5E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302E973-2D7A-19F2-C6AC-E3FD35DDF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FD95-13B8-4D9F-981D-7E2051AFE206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F6C5D14-CE5D-82CC-9EDA-6426A88FF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B67F6E-1729-AEA0-F202-9939B031C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AA902-6E3C-42E3-813A-F7B0A3E989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03797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836381-11AA-8B03-FFF1-465632E98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580EA58-73A3-3B60-EB50-ACD1FFC2E4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C987F52-A28E-FC4D-6B40-609EB4C862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8D6CA6-DFEF-8458-D736-A7F6BD954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FD95-13B8-4D9F-981D-7E2051AFE206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BE3E6FF-10EC-DE97-017C-F7C03CD27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B975476-3897-E9A6-7E95-677BD246A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AA902-6E3C-42E3-813A-F7B0A3E989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3466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C38F8-4770-2885-AF17-C5F3FFFF1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9C00799-4BDE-F0FC-444C-0608172216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53DAC9-7E3F-D195-057D-0C32D49DC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FD95-13B8-4D9F-981D-7E2051AFE206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118733-EC5E-1FF3-7182-EC9B7D2B3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FB00AB-1CF5-B41F-84F4-FE741EC69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AA902-6E3C-42E3-813A-F7B0A3E989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7272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9709855-26B2-5DD6-3BDB-9D07932BD5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F0A37B5-0ACC-8920-70B8-CDC7DAA89D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3CC0B8-57C2-B1C8-69B2-D838D6D85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FD95-13B8-4D9F-981D-7E2051AFE206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7FEFB77-1A27-A578-FF6F-A8585369F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81010E-3908-1AE9-BAD4-9150E5C2E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AA902-6E3C-42E3-813A-F7B0A3E989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80751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5618BC-B3D9-6BE4-E43A-C9540C199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292D365-AB0A-5BBF-6B17-F8C8678F5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69308B-300F-DF38-C580-C50C822D75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73FD95-13B8-4D9F-981D-7E2051AFE206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6BDA14-0170-9FF8-D6E9-60BB2D5723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789941-67FE-9B0F-DDCA-026D8FEB3D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CAA902-6E3C-42E3-813A-F7B0A3E989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120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2.png"/><Relationship Id="rId5" Type="http://schemas.microsoft.com/office/2007/relationships/hdphoto" Target="../media/hdphoto4.wdp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microsoft.com/office/2007/relationships/hdphoto" Target="../media/hdphoto5.wdp"/><Relationship Id="rId1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EDC20C-B974-7D50-DE3D-F4AE2E02B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Овал 50">
            <a:extLst>
              <a:ext uri="{FF2B5EF4-FFF2-40B4-BE49-F238E27FC236}">
                <a16:creationId xmlns:a16="http://schemas.microsoft.com/office/drawing/2014/main" id="{1A48AAD8-6144-9780-7F06-C30A4B2A1A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99844" y="4117310"/>
            <a:ext cx="5481380" cy="548138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Овал 48">
            <a:extLst>
              <a:ext uri="{FF2B5EF4-FFF2-40B4-BE49-F238E27FC236}">
                <a16:creationId xmlns:a16="http://schemas.microsoft.com/office/drawing/2014/main" id="{616325C3-EFE7-4BDB-1551-6B7CB9DF0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4296229" y="-3556000"/>
            <a:ext cx="8076071" cy="798566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AB9DA4-E4CA-C2E1-47CE-6C9568A85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9842" y="0"/>
            <a:ext cx="8412158" cy="1789967"/>
          </a:xfrm>
        </p:spPr>
        <p:txBody>
          <a:bodyPr>
            <a:noAutofit/>
          </a:bodyPr>
          <a:lstStyle/>
          <a:p>
            <a:r>
              <a:rPr lang="ru-RU" sz="1400" dirty="0">
                <a:latin typeface="Comfortaa Medium" pitchFamily="2" charset="0"/>
              </a:rPr>
              <a:t>ФЕДЕРАЛЬНОЕ ГОСУДАРСТВЕННОЕ БЮДЖЕТНОЕ ОБРАЗОВАТЕЛЬНОЕ</a:t>
            </a:r>
            <a:br>
              <a:rPr lang="ru-RU" sz="1400" dirty="0">
                <a:latin typeface="Comfortaa Medium" pitchFamily="2" charset="0"/>
              </a:rPr>
            </a:br>
            <a:r>
              <a:rPr lang="ru-RU" sz="1400" dirty="0">
                <a:latin typeface="Comfortaa Medium" pitchFamily="2" charset="0"/>
              </a:rPr>
              <a:t>УЧРЕЖДЕНИЕ ВЫСШЕГО ОБРАЗОВАНИЯ</a:t>
            </a:r>
            <a:br>
              <a:rPr lang="ru-RU" sz="1400" dirty="0">
                <a:latin typeface="Comfortaa Medium" pitchFamily="2" charset="0"/>
              </a:rPr>
            </a:br>
            <a:r>
              <a:rPr lang="ru-RU" sz="1400" dirty="0">
                <a:latin typeface="Comfortaa Medium" pitchFamily="2" charset="0"/>
              </a:rPr>
              <a:t>«САНКТ-ПЕТЕРБУРГСКИЙ ГОСУДАРСТВЕННЫЙ УНИВЕРСИТЕТ</a:t>
            </a:r>
            <a:br>
              <a:rPr lang="ru-RU" sz="1400" dirty="0">
                <a:latin typeface="Comfortaa Medium" pitchFamily="2" charset="0"/>
              </a:rPr>
            </a:br>
            <a:r>
              <a:rPr lang="ru-RU" sz="1400" dirty="0">
                <a:latin typeface="Comfortaa Medium" pitchFamily="2" charset="0"/>
              </a:rPr>
              <a:t>ТЕЛЕКОММУНИКАЦИЙ ИМ. ПРОФ. М.А. БОНЧ-БРУЕВИЧА»</a:t>
            </a:r>
            <a:br>
              <a:rPr lang="ru-RU" sz="1400" dirty="0">
                <a:latin typeface="Comfortaa Medium" pitchFamily="2" charset="0"/>
              </a:rPr>
            </a:br>
            <a:r>
              <a:rPr lang="ru-RU" sz="1400" dirty="0">
                <a:latin typeface="Comfortaa Medium" pitchFamily="2" charset="0"/>
              </a:rPr>
              <a:t>(СПбГУТ)</a:t>
            </a:r>
            <a:br>
              <a:rPr lang="ru-RU" sz="1400" dirty="0">
                <a:latin typeface="Comfortaa Medium" pitchFamily="2" charset="0"/>
              </a:rPr>
            </a:br>
            <a:r>
              <a:rPr lang="ru-RU" sz="1400" dirty="0">
                <a:latin typeface="Comfortaa Medium" pitchFamily="2" charset="0"/>
              </a:rPr>
              <a:t>АРХАНГЕЛЬСКИЙ КОЛЛЕДЖ ТЕЛЕКОММУНИКАЦИЙ</a:t>
            </a:r>
            <a:br>
              <a:rPr lang="ru-RU" sz="1400" dirty="0">
                <a:latin typeface="Comfortaa Medium" pitchFamily="2" charset="0"/>
              </a:rPr>
            </a:br>
            <a:r>
              <a:rPr lang="ru-RU" sz="1400" dirty="0">
                <a:latin typeface="Comfortaa Medium" pitchFamily="2" charset="0"/>
              </a:rPr>
              <a:t>ИМ. Б.Л. РОЗИНГА (ФИЛИАЛ) СПбГУТ</a:t>
            </a:r>
            <a:br>
              <a:rPr lang="ru-RU" sz="1400" dirty="0">
                <a:latin typeface="Comfortaa Medium" pitchFamily="2" charset="0"/>
              </a:rPr>
            </a:br>
            <a:r>
              <a:rPr lang="ru-RU" sz="1400" dirty="0">
                <a:latin typeface="Comfortaa Medium" pitchFamily="2" charset="0"/>
              </a:rPr>
              <a:t>(АКТ (ф) СПбГУТ)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21CD4C-39F8-5AB1-A900-3DDA4842C56E}"/>
              </a:ext>
            </a:extLst>
          </p:cNvPr>
          <p:cNvSpPr txBox="1"/>
          <p:nvPr/>
        </p:nvSpPr>
        <p:spPr>
          <a:xfrm>
            <a:off x="161921" y="6254515"/>
            <a:ext cx="11814238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rgbClr val="0A0A0A"/>
                </a:solidFill>
                <a:latin typeface="Comfortaa Medium" pitchFamily="2" charset="0"/>
              </a:rPr>
              <a:t>Архангельск 2026</a:t>
            </a:r>
          </a:p>
        </p:txBody>
      </p:sp>
      <p:grpSp>
        <p:nvGrpSpPr>
          <p:cNvPr id="45" name="Группа 44">
            <a:extLst>
              <a:ext uri="{FF2B5EF4-FFF2-40B4-BE49-F238E27FC236}">
                <a16:creationId xmlns:a16="http://schemas.microsoft.com/office/drawing/2014/main" id="{AD85015E-7D46-3E84-D99E-72E645489E2A}"/>
              </a:ext>
            </a:extLst>
          </p:cNvPr>
          <p:cNvGrpSpPr/>
          <p:nvPr/>
        </p:nvGrpSpPr>
        <p:grpSpPr>
          <a:xfrm>
            <a:off x="396683" y="4447382"/>
            <a:ext cx="7445845" cy="646331"/>
            <a:chOff x="302493" y="3951615"/>
            <a:chExt cx="7445845" cy="64633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4F83941-24F9-4C65-E887-ED78DBD9BA03}"/>
                </a:ext>
              </a:extLst>
            </p:cNvPr>
            <p:cNvSpPr txBox="1"/>
            <p:nvPr/>
          </p:nvSpPr>
          <p:spPr>
            <a:xfrm>
              <a:off x="1057275" y="3951615"/>
              <a:ext cx="669106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dirty="0">
                  <a:latin typeface="Comfortaa Medium" pitchFamily="2" charset="0"/>
                </a:rPr>
                <a:t>Екимов Вячеслав Андреевич</a:t>
              </a:r>
            </a:p>
            <a:p>
              <a:r>
                <a:rPr lang="ru-RU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mfortaa Medium" pitchFamily="2" charset="0"/>
                </a:rPr>
                <a:t>Дипломник</a:t>
              </a:r>
              <a:endParaRPr lang="en-US" dirty="0">
                <a:latin typeface="Comfortaa Medium" pitchFamily="2" charset="0"/>
              </a:endParaRPr>
            </a:p>
          </p:txBody>
        </p:sp>
        <p:grpSp>
          <p:nvGrpSpPr>
            <p:cNvPr id="33" name="Группа 32">
              <a:extLst>
                <a:ext uri="{FF2B5EF4-FFF2-40B4-BE49-F238E27FC236}">
                  <a16:creationId xmlns:a16="http://schemas.microsoft.com/office/drawing/2014/main" id="{C56813F5-9AA5-14C3-41A3-9E6A35314B3A}"/>
                </a:ext>
              </a:extLst>
            </p:cNvPr>
            <p:cNvGrpSpPr/>
            <p:nvPr/>
          </p:nvGrpSpPr>
          <p:grpSpPr>
            <a:xfrm>
              <a:off x="302493" y="3992823"/>
              <a:ext cx="656149" cy="558787"/>
              <a:chOff x="1169726" y="3999274"/>
              <a:chExt cx="656149" cy="558787"/>
            </a:xfrm>
          </p:grpSpPr>
          <p:sp>
            <p:nvSpPr>
              <p:cNvPr id="14" name="Овал 13">
                <a:extLst>
                  <a:ext uri="{FF2B5EF4-FFF2-40B4-BE49-F238E27FC236}">
                    <a16:creationId xmlns:a16="http://schemas.microsoft.com/office/drawing/2014/main" id="{ED0394F8-5703-1198-BD2B-A14DD074DBC5}"/>
                  </a:ext>
                </a:extLst>
              </p:cNvPr>
              <p:cNvSpPr/>
              <p:nvPr/>
            </p:nvSpPr>
            <p:spPr>
              <a:xfrm>
                <a:off x="1217679" y="3999274"/>
                <a:ext cx="560244" cy="558787"/>
              </a:xfrm>
              <a:prstGeom prst="ellipse">
                <a:avLst/>
              </a:prstGeom>
              <a:solidFill>
                <a:srgbClr val="F7941D"/>
              </a:solidFill>
              <a:ln>
                <a:solidFill>
                  <a:srgbClr val="F7941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400" dirty="0">
                  <a:latin typeface="Bahnschrift" panose="020B0502040204020203" pitchFamily="34" charset="0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94FAFDF-A957-9B2B-70B5-B612DA3D90B7}"/>
                  </a:ext>
                </a:extLst>
              </p:cNvPr>
              <p:cNvSpPr txBox="1"/>
              <p:nvPr/>
            </p:nvSpPr>
            <p:spPr>
              <a:xfrm>
                <a:off x="1169726" y="4114784"/>
                <a:ext cx="65614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Comfortaa Medium" pitchFamily="2" charset="0"/>
                  </a:rPr>
                  <a:t>ЕВ</a:t>
                </a:r>
                <a:endParaRPr lang="ru-RU" dirty="0">
                  <a:solidFill>
                    <a:schemeClr val="bg1"/>
                  </a:solidFill>
                  <a:latin typeface="Comfortaa Medium" pitchFamily="2" charset="0"/>
                </a:endParaRPr>
              </a:p>
            </p:txBody>
          </p:sp>
        </p:grpSp>
      </p:grp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33F6D357-730F-9F96-71BB-4E6519630FF1}"/>
              </a:ext>
            </a:extLst>
          </p:cNvPr>
          <p:cNvGrpSpPr/>
          <p:nvPr/>
        </p:nvGrpSpPr>
        <p:grpSpPr>
          <a:xfrm>
            <a:off x="342763" y="5325049"/>
            <a:ext cx="7499765" cy="646331"/>
            <a:chOff x="248573" y="5125918"/>
            <a:chExt cx="7499765" cy="646331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4053BD7-399E-F3C5-6D32-5B88110F9CF6}"/>
                </a:ext>
              </a:extLst>
            </p:cNvPr>
            <p:cNvSpPr txBox="1"/>
            <p:nvPr/>
          </p:nvSpPr>
          <p:spPr>
            <a:xfrm>
              <a:off x="1057276" y="5125918"/>
              <a:ext cx="6691062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ru-RU" dirty="0">
                  <a:latin typeface="Comfortaa Medium" pitchFamily="2" charset="0"/>
                </a:rPr>
                <a:t>Маломан Юлия Сергеевна</a:t>
              </a:r>
            </a:p>
            <a:p>
              <a:r>
                <a:rPr lang="ru-RU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mfortaa Medium" pitchFamily="2" charset="0"/>
                </a:rPr>
                <a:t>Руководитель</a:t>
              </a:r>
              <a:endParaRPr lang="en-US" dirty="0">
                <a:latin typeface="Comfortaa Medium" pitchFamily="2" charset="0"/>
              </a:endParaRPr>
            </a:p>
          </p:txBody>
        </p:sp>
        <p:grpSp>
          <p:nvGrpSpPr>
            <p:cNvPr id="31" name="Группа 30">
              <a:extLst>
                <a:ext uri="{FF2B5EF4-FFF2-40B4-BE49-F238E27FC236}">
                  <a16:creationId xmlns:a16="http://schemas.microsoft.com/office/drawing/2014/main" id="{DC9F433C-E88C-0EF2-4364-4B4793046D49}"/>
                </a:ext>
              </a:extLst>
            </p:cNvPr>
            <p:cNvGrpSpPr/>
            <p:nvPr/>
          </p:nvGrpSpPr>
          <p:grpSpPr>
            <a:xfrm>
              <a:off x="248573" y="5173577"/>
              <a:ext cx="763987" cy="558787"/>
              <a:chOff x="1115612" y="5161951"/>
              <a:chExt cx="763987" cy="558787"/>
            </a:xfrm>
          </p:grpSpPr>
          <p:sp>
            <p:nvSpPr>
              <p:cNvPr id="38" name="Овал 37">
                <a:extLst>
                  <a:ext uri="{FF2B5EF4-FFF2-40B4-BE49-F238E27FC236}">
                    <a16:creationId xmlns:a16="http://schemas.microsoft.com/office/drawing/2014/main" id="{A28C6147-73C2-AE23-E8A6-4FE47C79D092}"/>
                  </a:ext>
                </a:extLst>
              </p:cNvPr>
              <p:cNvSpPr/>
              <p:nvPr/>
            </p:nvSpPr>
            <p:spPr>
              <a:xfrm>
                <a:off x="1217221" y="5161951"/>
                <a:ext cx="560244" cy="558787"/>
              </a:xfrm>
              <a:prstGeom prst="ellipse">
                <a:avLst/>
              </a:prstGeom>
              <a:solidFill>
                <a:srgbClr val="F7941D"/>
              </a:solidFill>
              <a:ln>
                <a:solidFill>
                  <a:srgbClr val="F7941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400" dirty="0">
                  <a:latin typeface="Bahnschrift" panose="020B0502040204020203" pitchFamily="34" charset="0"/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6885912-CBAF-F984-FD36-F3664EB563B4}"/>
                  </a:ext>
                </a:extLst>
              </p:cNvPr>
              <p:cNvSpPr txBox="1"/>
              <p:nvPr/>
            </p:nvSpPr>
            <p:spPr>
              <a:xfrm>
                <a:off x="1115612" y="5279806"/>
                <a:ext cx="76398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Comfortaa Medium" pitchFamily="2" charset="0"/>
                  </a:rPr>
                  <a:t>МЮ</a:t>
                </a:r>
              </a:p>
            </p:txBody>
          </p:sp>
        </p:grpSp>
      </p:grpSp>
      <p:sp>
        <p:nvSpPr>
          <p:cNvPr id="29" name="Подзаголовок 2">
            <a:extLst>
              <a:ext uri="{FF2B5EF4-FFF2-40B4-BE49-F238E27FC236}">
                <a16:creationId xmlns:a16="http://schemas.microsoft.com/office/drawing/2014/main" id="{D18717F3-75BD-60DC-E9B0-7FC3309B3F3F}"/>
              </a:ext>
            </a:extLst>
          </p:cNvPr>
          <p:cNvSpPr txBox="1">
            <a:spLocks/>
          </p:cNvSpPr>
          <p:nvPr/>
        </p:nvSpPr>
        <p:spPr>
          <a:xfrm>
            <a:off x="3581400" y="2203790"/>
            <a:ext cx="8629522" cy="1789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5200" dirty="0">
                <a:latin typeface="Comfortaa Medium" pitchFamily="2" charset="0"/>
              </a:rPr>
              <a:t>ДИПЛОМНЫЙ ПРОЕКТ</a:t>
            </a:r>
          </a:p>
          <a:p>
            <a:pPr algn="l"/>
            <a:r>
              <a:rPr lang="ru-RU" sz="2600" dirty="0">
                <a:latin typeface="Comfortaa Medium" pitchFamily="2" charset="0"/>
              </a:rPr>
              <a:t>РАЗРАБОТКА ИНФОРМАЦИОННЫЙ СИСТЕМЫ   </a:t>
            </a:r>
          </a:p>
          <a:p>
            <a:pPr algn="l"/>
            <a:r>
              <a:rPr lang="ru-RU" sz="2600" dirty="0">
                <a:latin typeface="Comfortaa Medium" pitchFamily="2" charset="0"/>
              </a:rPr>
              <a:t>УЧЕТА НОМЕРНОГО ФОНДА ОБЩЕЖИТИЯ</a:t>
            </a:r>
          </a:p>
        </p:txBody>
      </p:sp>
    </p:spTree>
    <p:extLst>
      <p:ext uri="{BB962C8B-B14F-4D97-AF65-F5344CB8AC3E}">
        <p14:creationId xmlns:p14="http://schemas.microsoft.com/office/powerpoint/2010/main" val="35899486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A96D6-873C-5B29-4480-E17E92964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199D369-D8A0-5025-023D-93E1711290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3573" y="6690671"/>
            <a:ext cx="12195573" cy="167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6C6058C-6AAE-D629-2E3A-76AEF55CC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3573" y="6690670"/>
            <a:ext cx="1294211" cy="167331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54" name="Группа 53">
            <a:extLst>
              <a:ext uri="{FF2B5EF4-FFF2-40B4-BE49-F238E27FC236}">
                <a16:creationId xmlns:a16="http://schemas.microsoft.com/office/drawing/2014/main" id="{42B845FF-65C6-FBEB-2CAD-4935C85A0A5A}"/>
              </a:ext>
            </a:extLst>
          </p:cNvPr>
          <p:cNvGrpSpPr/>
          <p:nvPr/>
        </p:nvGrpSpPr>
        <p:grpSpPr>
          <a:xfrm>
            <a:off x="278606" y="1399485"/>
            <a:ext cx="4784939" cy="4921853"/>
            <a:chOff x="278606" y="1399485"/>
            <a:chExt cx="4784939" cy="4921853"/>
          </a:xfrm>
        </p:grpSpPr>
        <p:sp>
          <p:nvSpPr>
            <p:cNvPr id="4" name="Прямоугольник: скругленные углы 3">
              <a:extLst>
                <a:ext uri="{FF2B5EF4-FFF2-40B4-BE49-F238E27FC236}">
                  <a16:creationId xmlns:a16="http://schemas.microsoft.com/office/drawing/2014/main" id="{5E6FAA76-6DE2-B4CE-C821-D72C50DD82A1}"/>
                </a:ext>
              </a:extLst>
            </p:cNvPr>
            <p:cNvSpPr/>
            <p:nvPr/>
          </p:nvSpPr>
          <p:spPr>
            <a:xfrm>
              <a:off x="278606" y="1399485"/>
              <a:ext cx="4784939" cy="4921853"/>
            </a:xfrm>
            <a:prstGeom prst="roundRect">
              <a:avLst>
                <a:gd name="adj" fmla="val 384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BDE6B5D-E2F6-01FA-ABB8-C6429D86892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6630" y="1479808"/>
              <a:ext cx="4568890" cy="188814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lnSpc>
                  <a:spcPct val="150000"/>
                </a:lnSpc>
              </a:pPr>
              <a:r>
                <a:rPr lang="ru-RU" sz="2000" dirty="0">
                  <a:latin typeface="Comfortaa Medium" pitchFamily="2" charset="0"/>
                </a:rPr>
                <a:t>Отсутствие единой системы учета затрудняет управление фондом студенческих общежитий.</a:t>
              </a:r>
              <a:endParaRPr lang="ru-RU" sz="2000" b="0" i="0" u="none" strike="noStrike" cap="none" dirty="0">
                <a:solidFill>
                  <a:schemeClr val="dk1"/>
                </a:solidFill>
                <a:latin typeface="Comfortaa Medium" pitchFamily="2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" name="Picture 4" descr="Скачать картинки Куча бумаг, стоковые фото Куча бумаг в ...">
              <a:extLst>
                <a:ext uri="{FF2B5EF4-FFF2-40B4-BE49-F238E27FC236}">
                  <a16:creationId xmlns:a16="http://schemas.microsoft.com/office/drawing/2014/main" id="{F45267E6-860A-2036-93EC-6DAE47BEF39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>
                          <a14:foregroundMark x1="80912" y1="32432" x2="75169" y2="20120"/>
                          <a14:foregroundMark x1="75169" y1="20120" x2="84122" y2="23423"/>
                          <a14:foregroundMark x1="88851" y1="15015" x2="80236" y2="14715"/>
                          <a14:foregroundMark x1="72128" y1="85886" x2="86149" y2="89189"/>
                          <a14:foregroundMark x1="86149" y1="89189" x2="88682" y2="87387"/>
                          <a14:foregroundMark x1="58446" y1="88589" x2="58108" y2="42643"/>
                          <a14:foregroundMark x1="58108" y1="42643" x2="44595" y2="40841"/>
                          <a14:foregroundMark x1="44595" y1="40841" x2="40114" y2="55131"/>
                          <a14:foregroundMark x1="39311" y1="64993" x2="40034" y2="74174"/>
                          <a14:foregroundMark x1="40034" y1="74174" x2="55574" y2="88889"/>
                          <a14:foregroundMark x1="55574" y1="88889" x2="58615" y2="89189"/>
                          <a14:foregroundMark x1="9966" y1="68168" x2="24324" y2="68468"/>
                          <a14:foregroundMark x1="24324" y1="68468" x2="27365" y2="86486"/>
                          <a14:foregroundMark x1="27365" y1="86486" x2="16723" y2="86186"/>
                          <a14:foregroundMark x1="16723" y1="86186" x2="10473" y2="74775"/>
                          <a14:foregroundMark x1="10473" y1="74775" x2="10642" y2="70270"/>
                          <a14:backgroundMark x1="39020" y1="54955" x2="38514" y2="6486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22" t="10350" r="8680" b="7103"/>
            <a:stretch>
              <a:fillRect/>
            </a:stretch>
          </p:blipFill>
          <p:spPr bwMode="auto">
            <a:xfrm>
              <a:off x="571037" y="3542672"/>
              <a:ext cx="4088086" cy="22788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Стрелка: вправо 9">
              <a:extLst>
                <a:ext uri="{FF2B5EF4-FFF2-40B4-BE49-F238E27FC236}">
                  <a16:creationId xmlns:a16="http://schemas.microsoft.com/office/drawing/2014/main" id="{CABCE169-4845-639D-C656-326E31AB604C}"/>
                </a:ext>
              </a:extLst>
            </p:cNvPr>
            <p:cNvSpPr/>
            <p:nvPr/>
          </p:nvSpPr>
          <p:spPr>
            <a:xfrm>
              <a:off x="618810" y="5874026"/>
              <a:ext cx="4040313" cy="140796"/>
            </a:xfrm>
            <a:prstGeom prst="rightArrow">
              <a:avLst>
                <a:gd name="adj1" fmla="val 50000"/>
                <a:gd name="adj2" fmla="val 150859"/>
              </a:avLst>
            </a:prstGeom>
            <a:solidFill>
              <a:srgbClr val="FFA726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57" name="Группа 56">
            <a:extLst>
              <a:ext uri="{FF2B5EF4-FFF2-40B4-BE49-F238E27FC236}">
                <a16:creationId xmlns:a16="http://schemas.microsoft.com/office/drawing/2014/main" id="{6419D11D-38D8-21A6-9153-EC96156405B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295724" y="1399485"/>
            <a:ext cx="6651007" cy="1342921"/>
            <a:chOff x="5295724" y="1399485"/>
            <a:chExt cx="6651007" cy="1342921"/>
          </a:xfrm>
        </p:grpSpPr>
        <p:sp>
          <p:nvSpPr>
            <p:cNvPr id="20" name="Прямоугольник: скругленные углы 19">
              <a:extLst>
                <a:ext uri="{FF2B5EF4-FFF2-40B4-BE49-F238E27FC236}">
                  <a16:creationId xmlns:a16="http://schemas.microsoft.com/office/drawing/2014/main" id="{A01D7FD8-A029-F98F-5CCE-3BB4392BB0B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295724" y="1399485"/>
              <a:ext cx="6651007" cy="1342921"/>
            </a:xfrm>
            <a:prstGeom prst="roundRect">
              <a:avLst>
                <a:gd name="adj" fmla="val 12354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7" name="Picture 2" descr="Более 70 работ на тему «колледж парк иллюстрации»: стоковые фото, картинки  и изображения royalty-free - iStock">
              <a:extLst>
                <a:ext uri="{FF2B5EF4-FFF2-40B4-BE49-F238E27FC236}">
                  <a16:creationId xmlns:a16="http://schemas.microsoft.com/office/drawing/2014/main" id="{56ADC6FB-E708-4403-35C2-6AFA2D10703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5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24673" b="75817" l="24510" r="74510">
                          <a14:foregroundMark x1="30229" y1="41993" x2="29902" y2="41993"/>
                          <a14:foregroundMark x1="27778" y1="54085" x2="27778" y2="54085"/>
                          <a14:foregroundMark x1="50163" y1="50163" x2="50163" y2="50163"/>
                          <a14:foregroundMark x1="72712" y1="53105" x2="72712" y2="53105"/>
                          <a14:foregroundMark x1="74510" y1="46242" x2="74510" y2="46242"/>
                          <a14:foregroundMark x1="64216" y1="73366" x2="64216" y2="73366"/>
                          <a14:foregroundMark x1="50490" y1="74183" x2="50490" y2="74183"/>
                          <a14:foregroundMark x1="47876" y1="74346" x2="47876" y2="74346"/>
                          <a14:foregroundMark x1="24673" y1="74183" x2="24673" y2="74183"/>
                          <a14:foregroundMark x1="27288" y1="75817" x2="27288" y2="75817"/>
                          <a14:foregroundMark x1="55229" y1="27124" x2="55229" y2="27124"/>
                          <a14:foregroundMark x1="49673" y1="24673" x2="49673" y2="2467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26" t="22494" r="22676" b="22296"/>
            <a:stretch>
              <a:fillRect/>
            </a:stretch>
          </p:blipFill>
          <p:spPr bwMode="auto">
            <a:xfrm>
              <a:off x="5537188" y="1520006"/>
              <a:ext cx="1117623" cy="1101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74637D4-585A-64A5-0D8C-CC2D20B3CA2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781349" y="1870890"/>
              <a:ext cx="399142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r>
                <a:rPr lang="ru-RU" sz="2000" dirty="0">
                  <a:latin typeface="Comfortaa Medium" pitchFamily="2" charset="0"/>
                </a:rPr>
                <a:t>Сотрудники колледжа </a:t>
              </a:r>
            </a:p>
          </p:txBody>
        </p:sp>
      </p:grpSp>
      <p:grpSp>
        <p:nvGrpSpPr>
          <p:cNvPr id="55" name="Группа 54">
            <a:extLst>
              <a:ext uri="{FF2B5EF4-FFF2-40B4-BE49-F238E27FC236}">
                <a16:creationId xmlns:a16="http://schemas.microsoft.com/office/drawing/2014/main" id="{8DD59A7C-9A9A-C8D2-42CA-A5405011911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295724" y="3163214"/>
            <a:ext cx="6651007" cy="1342921"/>
            <a:chOff x="5295724" y="3163214"/>
            <a:chExt cx="6651007" cy="1342921"/>
          </a:xfrm>
        </p:grpSpPr>
        <p:sp>
          <p:nvSpPr>
            <p:cNvPr id="28" name="Прямоугольник: скругленные углы 27">
              <a:extLst>
                <a:ext uri="{FF2B5EF4-FFF2-40B4-BE49-F238E27FC236}">
                  <a16:creationId xmlns:a16="http://schemas.microsoft.com/office/drawing/2014/main" id="{9FF0C0DD-7EEF-7175-0AE5-5B4516B4078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295724" y="3163214"/>
              <a:ext cx="6651007" cy="1342921"/>
            </a:xfrm>
            <a:prstGeom prst="roundRect">
              <a:avLst>
                <a:gd name="adj" fmla="val 12354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11231AD-1EA1-BCAE-A3C3-8428CAECE07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781349" y="3634619"/>
              <a:ext cx="315698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r>
                <a:rPr lang="ru-RU" sz="2000" dirty="0">
                  <a:latin typeface="Comfortaa Medium" pitchFamily="2" charset="0"/>
                </a:rPr>
                <a:t>Коменданты</a:t>
              </a:r>
            </a:p>
          </p:txBody>
        </p:sp>
        <p:pic>
          <p:nvPicPr>
            <p:cNvPr id="34" name="Picture 4" descr="Корпуса и корпуса для ноутбуков Компьютерные иконки, Ноутбук, электроника,  прямоугольник png | PNGEgg">
              <a:extLst>
                <a:ext uri="{FF2B5EF4-FFF2-40B4-BE49-F238E27FC236}">
                  <a16:creationId xmlns:a16="http://schemas.microsoft.com/office/drawing/2014/main" id="{B66B5663-4598-6743-4C2F-706F52243002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934" t="8844" r="20935" b="8844"/>
            <a:stretch>
              <a:fillRect/>
            </a:stretch>
          </p:blipFill>
          <p:spPr bwMode="auto">
            <a:xfrm>
              <a:off x="5537188" y="3384539"/>
              <a:ext cx="1117623" cy="9002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6" name="Группа 55">
            <a:extLst>
              <a:ext uri="{FF2B5EF4-FFF2-40B4-BE49-F238E27FC236}">
                <a16:creationId xmlns:a16="http://schemas.microsoft.com/office/drawing/2014/main" id="{6C1D21CE-2EC2-480E-BB9B-96EBE9155FD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295724" y="4926943"/>
            <a:ext cx="6651007" cy="1342921"/>
            <a:chOff x="5295724" y="4926943"/>
            <a:chExt cx="6651007" cy="1342921"/>
          </a:xfrm>
        </p:grpSpPr>
        <p:sp>
          <p:nvSpPr>
            <p:cNvPr id="30" name="Прямоугольник: скругленные углы 29">
              <a:extLst>
                <a:ext uri="{FF2B5EF4-FFF2-40B4-BE49-F238E27FC236}">
                  <a16:creationId xmlns:a16="http://schemas.microsoft.com/office/drawing/2014/main" id="{638D8F73-D4F6-42A0-91A7-13333127EC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295724" y="4926943"/>
              <a:ext cx="6651007" cy="1342921"/>
            </a:xfrm>
            <a:prstGeom prst="roundRect">
              <a:avLst>
                <a:gd name="adj" fmla="val 12354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A39754D-9DDA-742A-F84C-762A85FAC6C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781349" y="5398348"/>
              <a:ext cx="315698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r>
                <a:rPr lang="ru-RU" sz="2000" dirty="0">
                  <a:latin typeface="Comfortaa Medium" pitchFamily="2" charset="0"/>
                </a:rPr>
                <a:t>Воспитатели</a:t>
              </a:r>
            </a:p>
          </p:txBody>
        </p:sp>
        <p:pic>
          <p:nvPicPr>
            <p:cNvPr id="40" name="Picture 6" descr="Иконка «Мобильный телефон» | MyWebIcons">
              <a:extLst>
                <a:ext uri="{FF2B5EF4-FFF2-40B4-BE49-F238E27FC236}">
                  <a16:creationId xmlns:a16="http://schemas.microsoft.com/office/drawing/2014/main" id="{CE185698-E110-B12E-A4E6-858FFD589E99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7494" y="5017361"/>
              <a:ext cx="1162085" cy="11620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8" name="Группа 57">
            <a:extLst>
              <a:ext uri="{FF2B5EF4-FFF2-40B4-BE49-F238E27FC236}">
                <a16:creationId xmlns:a16="http://schemas.microsoft.com/office/drawing/2014/main" id="{6525069F-E2C9-8FDE-E0F3-48ADB7ABCBB9}"/>
              </a:ext>
            </a:extLst>
          </p:cNvPr>
          <p:cNvGrpSpPr/>
          <p:nvPr/>
        </p:nvGrpSpPr>
        <p:grpSpPr>
          <a:xfrm>
            <a:off x="226218" y="192416"/>
            <a:ext cx="11720513" cy="786262"/>
            <a:chOff x="226218" y="192416"/>
            <a:chExt cx="11720513" cy="786262"/>
          </a:xfrm>
        </p:grpSpPr>
        <p:sp>
          <p:nvSpPr>
            <p:cNvPr id="59" name="Прямоугольник: скругленные углы 58">
              <a:extLst>
                <a:ext uri="{FF2B5EF4-FFF2-40B4-BE49-F238E27FC236}">
                  <a16:creationId xmlns:a16="http://schemas.microsoft.com/office/drawing/2014/main" id="{B3034114-78D0-DC4B-1821-8D2DD6ABCF5E}"/>
                </a:ext>
              </a:extLst>
            </p:cNvPr>
            <p:cNvSpPr/>
            <p:nvPr/>
          </p:nvSpPr>
          <p:spPr>
            <a:xfrm>
              <a:off x="226218" y="192416"/>
              <a:ext cx="11720513" cy="786262"/>
            </a:xfrm>
            <a:prstGeom prst="roundRect">
              <a:avLst>
                <a:gd name="adj" fmla="val 23264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EAFDD17-6E69-C46F-E55F-2381C7A3DE98}"/>
                </a:ext>
              </a:extLst>
            </p:cNvPr>
            <p:cNvSpPr txBox="1"/>
            <p:nvPr/>
          </p:nvSpPr>
          <p:spPr>
            <a:xfrm>
              <a:off x="11029949" y="323937"/>
              <a:ext cx="91678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2800" dirty="0">
                  <a:latin typeface="Comfortaa Medium" pitchFamily="2" charset="0"/>
                </a:rPr>
                <a:t>2/7</a:t>
              </a:r>
            </a:p>
          </p:txBody>
        </p:sp>
        <p:sp>
          <p:nvSpPr>
            <p:cNvPr id="61" name="Заголовок 1">
              <a:extLst>
                <a:ext uri="{FF2B5EF4-FFF2-40B4-BE49-F238E27FC236}">
                  <a16:creationId xmlns:a16="http://schemas.microsoft.com/office/drawing/2014/main" id="{5F9DD0F2-8CC9-6BEC-2B36-17B94FF3BBD2}"/>
                </a:ext>
              </a:extLst>
            </p:cNvPr>
            <p:cNvSpPr txBox="1">
              <a:spLocks/>
            </p:cNvSpPr>
            <p:nvPr/>
          </p:nvSpPr>
          <p:spPr>
            <a:xfrm>
              <a:off x="278606" y="330766"/>
              <a:ext cx="10751342" cy="509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ru-RU" sz="3200" dirty="0">
                  <a:latin typeface="Comfortaa Medium" pitchFamily="2" charset="0"/>
                </a:rPr>
                <a:t>Актуальность и аудитория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054261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3E619-83F9-3406-17D4-5B03BBCBE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64FAA9AF-38EE-0C38-3630-DF7D3BB9FD3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26218" y="192416"/>
            <a:ext cx="11720513" cy="786262"/>
            <a:chOff x="226218" y="192416"/>
            <a:chExt cx="11720513" cy="786262"/>
          </a:xfrm>
        </p:grpSpPr>
        <p:sp>
          <p:nvSpPr>
            <p:cNvPr id="4" name="Прямоугольник: скругленные углы 3">
              <a:extLst>
                <a:ext uri="{FF2B5EF4-FFF2-40B4-BE49-F238E27FC236}">
                  <a16:creationId xmlns:a16="http://schemas.microsoft.com/office/drawing/2014/main" id="{627FF493-9B04-F5CF-6E29-22541D85E78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6218" y="192416"/>
              <a:ext cx="11720513" cy="786262"/>
            </a:xfrm>
            <a:prstGeom prst="roundRect">
              <a:avLst>
                <a:gd name="adj" fmla="val 23264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EFF018E-275A-E1A8-338D-6F29BBAC13C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029949" y="323937"/>
              <a:ext cx="91678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2800" dirty="0">
                  <a:latin typeface="Comfortaa Medium" pitchFamily="2" charset="0"/>
                </a:rPr>
                <a:t>3/7</a:t>
              </a:r>
            </a:p>
          </p:txBody>
        </p:sp>
        <p:sp>
          <p:nvSpPr>
            <p:cNvPr id="6" name="Заголовок 1">
              <a:extLst>
                <a:ext uri="{FF2B5EF4-FFF2-40B4-BE49-F238E27FC236}">
                  <a16:creationId xmlns:a16="http://schemas.microsoft.com/office/drawing/2014/main" id="{58E1F172-47E2-AA5D-66A4-7511D48C776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78606" y="330766"/>
              <a:ext cx="10751342" cy="509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ru-RU" sz="3200" dirty="0">
                  <a:latin typeface="Comfortaa Medium" pitchFamily="2" charset="0"/>
                </a:rPr>
                <a:t>Цель и задачи</a:t>
              </a:r>
            </a:p>
          </p:txBody>
        </p:sp>
      </p:grpSp>
      <p:grpSp>
        <p:nvGrpSpPr>
          <p:cNvPr id="1060" name="Группа 1059">
            <a:extLst>
              <a:ext uri="{FF2B5EF4-FFF2-40B4-BE49-F238E27FC236}">
                <a16:creationId xmlns:a16="http://schemas.microsoft.com/office/drawing/2014/main" id="{24E74B3E-94D1-643F-E0C8-03886971D782}"/>
              </a:ext>
            </a:extLst>
          </p:cNvPr>
          <p:cNvGrpSpPr/>
          <p:nvPr/>
        </p:nvGrpSpPr>
        <p:grpSpPr>
          <a:xfrm>
            <a:off x="5270557" y="1371671"/>
            <a:ext cx="3311903" cy="936757"/>
            <a:chOff x="5270557" y="1371671"/>
            <a:chExt cx="3311903" cy="936757"/>
          </a:xfrm>
        </p:grpSpPr>
        <p:sp>
          <p:nvSpPr>
            <p:cNvPr id="82" name="Прямоугольник: скругленные углы 81">
              <a:extLst>
                <a:ext uri="{FF2B5EF4-FFF2-40B4-BE49-F238E27FC236}">
                  <a16:creationId xmlns:a16="http://schemas.microsoft.com/office/drawing/2014/main" id="{182EE07A-55E2-54E2-4797-7A21BA304ABD}"/>
                </a:ext>
              </a:extLst>
            </p:cNvPr>
            <p:cNvSpPr/>
            <p:nvPr/>
          </p:nvSpPr>
          <p:spPr>
            <a:xfrm>
              <a:off x="5270557" y="1371671"/>
              <a:ext cx="3311902" cy="936757"/>
            </a:xfrm>
            <a:prstGeom prst="roundRect">
              <a:avLst>
                <a:gd name="adj" fmla="val 19997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D17A025-8C39-5BB7-9126-456346DCED52}"/>
                </a:ext>
              </a:extLst>
            </p:cNvPr>
            <p:cNvSpPr txBox="1"/>
            <p:nvPr/>
          </p:nvSpPr>
          <p:spPr>
            <a:xfrm>
              <a:off x="6052998" y="1516884"/>
              <a:ext cx="252946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ru-RU" dirty="0">
                  <a:solidFill>
                    <a:srgbClr val="0E0E0E"/>
                  </a:solidFill>
                  <a:latin typeface="Comfortaa Medium" pitchFamily="2" charset="0"/>
                  <a:ea typeface="Pacifico"/>
                  <a:cs typeface="Poppins" panose="020B0604020202020204" charset="0"/>
                  <a:sym typeface="Pacifico"/>
                </a:rPr>
                <a:t>Анализ целевой аудитории</a:t>
              </a:r>
            </a:p>
          </p:txBody>
        </p:sp>
        <p:sp>
          <p:nvSpPr>
            <p:cNvPr id="85" name="Овал 84">
              <a:extLst>
                <a:ext uri="{FF2B5EF4-FFF2-40B4-BE49-F238E27FC236}">
                  <a16:creationId xmlns:a16="http://schemas.microsoft.com/office/drawing/2014/main" id="{AED6C22B-EA9B-93B3-3589-FC3DBBC18FE9}"/>
                </a:ext>
              </a:extLst>
            </p:cNvPr>
            <p:cNvSpPr/>
            <p:nvPr/>
          </p:nvSpPr>
          <p:spPr>
            <a:xfrm>
              <a:off x="5446383" y="1560656"/>
              <a:ext cx="558787" cy="558787"/>
            </a:xfrm>
            <a:prstGeom prst="ellipse">
              <a:avLst/>
            </a:prstGeom>
            <a:solidFill>
              <a:srgbClr val="F7941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>
                <a:latin typeface="Bahnschrift" panose="020B0502040204020203" pitchFamily="34" charset="0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15D22939-51F2-A823-E2E7-D261EAD4FB0A}"/>
                </a:ext>
              </a:extLst>
            </p:cNvPr>
            <p:cNvSpPr txBox="1"/>
            <p:nvPr/>
          </p:nvSpPr>
          <p:spPr>
            <a:xfrm>
              <a:off x="5398555" y="1670772"/>
              <a:ext cx="65444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Comfortaa Medium" pitchFamily="2" charset="0"/>
                </a:rPr>
                <a:t>1</a:t>
              </a:r>
              <a:endParaRPr lang="ru-RU" dirty="0">
                <a:solidFill>
                  <a:schemeClr val="bg1"/>
                </a:solidFill>
                <a:latin typeface="Comfortaa Medium" pitchFamily="2" charset="0"/>
              </a:endParaRPr>
            </a:p>
          </p:txBody>
        </p:sp>
      </p:grpSp>
      <p:grpSp>
        <p:nvGrpSpPr>
          <p:cNvPr id="94" name="Группа 93">
            <a:extLst>
              <a:ext uri="{FF2B5EF4-FFF2-40B4-BE49-F238E27FC236}">
                <a16:creationId xmlns:a16="http://schemas.microsoft.com/office/drawing/2014/main" id="{7DB6F1B4-B726-8E1B-E395-D377C2EA2626}"/>
              </a:ext>
            </a:extLst>
          </p:cNvPr>
          <p:cNvGrpSpPr/>
          <p:nvPr/>
        </p:nvGrpSpPr>
        <p:grpSpPr>
          <a:xfrm>
            <a:off x="5270556" y="2701421"/>
            <a:ext cx="3311903" cy="936757"/>
            <a:chOff x="5440211" y="1399485"/>
            <a:chExt cx="3311903" cy="936757"/>
          </a:xfrm>
        </p:grpSpPr>
        <p:sp>
          <p:nvSpPr>
            <p:cNvPr id="95" name="Прямоугольник: скругленные углы 94">
              <a:extLst>
                <a:ext uri="{FF2B5EF4-FFF2-40B4-BE49-F238E27FC236}">
                  <a16:creationId xmlns:a16="http://schemas.microsoft.com/office/drawing/2014/main" id="{1169715F-4284-ED93-5FF0-D3C44402D9B3}"/>
                </a:ext>
              </a:extLst>
            </p:cNvPr>
            <p:cNvSpPr/>
            <p:nvPr/>
          </p:nvSpPr>
          <p:spPr>
            <a:xfrm>
              <a:off x="5440211" y="1399485"/>
              <a:ext cx="3311903" cy="936757"/>
            </a:xfrm>
            <a:prstGeom prst="roundRect">
              <a:avLst>
                <a:gd name="adj" fmla="val 19997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E3D7E3EE-F40B-9AFD-88EF-D5024CABF989}"/>
                </a:ext>
              </a:extLst>
            </p:cNvPr>
            <p:cNvSpPr txBox="1"/>
            <p:nvPr/>
          </p:nvSpPr>
          <p:spPr>
            <a:xfrm>
              <a:off x="6222652" y="1544698"/>
              <a:ext cx="245387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dirty="0">
                  <a:solidFill>
                    <a:srgbClr val="0E0E0E"/>
                  </a:solidFill>
                  <a:latin typeface="Comfortaa Medium" pitchFamily="2" charset="0"/>
                  <a:ea typeface="Pacifico"/>
                  <a:cs typeface="Poppins" panose="020B0604020202020204" charset="0"/>
                  <a:sym typeface="Pacifico"/>
                </a:rPr>
                <a:t>Проектирование архитектуры ПО</a:t>
              </a:r>
            </a:p>
          </p:txBody>
        </p:sp>
        <p:sp>
          <p:nvSpPr>
            <p:cNvPr id="97" name="Овал 96">
              <a:extLst>
                <a:ext uri="{FF2B5EF4-FFF2-40B4-BE49-F238E27FC236}">
                  <a16:creationId xmlns:a16="http://schemas.microsoft.com/office/drawing/2014/main" id="{88138C35-811B-2840-D8B3-A9133F03A2C8}"/>
                </a:ext>
              </a:extLst>
            </p:cNvPr>
            <p:cNvSpPr/>
            <p:nvPr/>
          </p:nvSpPr>
          <p:spPr>
            <a:xfrm>
              <a:off x="5616038" y="1588470"/>
              <a:ext cx="558787" cy="558787"/>
            </a:xfrm>
            <a:prstGeom prst="ellipse">
              <a:avLst/>
            </a:prstGeom>
            <a:solidFill>
              <a:srgbClr val="F7941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>
                <a:latin typeface="Bahnschrift" panose="020B0502040204020203" pitchFamily="34" charset="0"/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05820036-A7E6-E801-D643-D1F93478C964}"/>
                </a:ext>
              </a:extLst>
            </p:cNvPr>
            <p:cNvSpPr txBox="1"/>
            <p:nvPr/>
          </p:nvSpPr>
          <p:spPr>
            <a:xfrm>
              <a:off x="5568210" y="1698586"/>
              <a:ext cx="65444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Comfortaa Medium" pitchFamily="2" charset="0"/>
                </a:rPr>
                <a:t>2</a:t>
              </a:r>
              <a:endParaRPr lang="ru-RU" dirty="0">
                <a:solidFill>
                  <a:schemeClr val="bg1"/>
                </a:solidFill>
                <a:latin typeface="Comfortaa Medium" pitchFamily="2" charset="0"/>
              </a:endParaRPr>
            </a:p>
          </p:txBody>
        </p:sp>
      </p:grpSp>
      <p:grpSp>
        <p:nvGrpSpPr>
          <p:cNvPr id="99" name="Группа 98">
            <a:extLst>
              <a:ext uri="{FF2B5EF4-FFF2-40B4-BE49-F238E27FC236}">
                <a16:creationId xmlns:a16="http://schemas.microsoft.com/office/drawing/2014/main" id="{79E8DEB0-273F-6948-6B57-1781B47AF632}"/>
              </a:ext>
            </a:extLst>
          </p:cNvPr>
          <p:cNvGrpSpPr/>
          <p:nvPr/>
        </p:nvGrpSpPr>
        <p:grpSpPr>
          <a:xfrm>
            <a:off x="5270556" y="5337261"/>
            <a:ext cx="3311903" cy="936757"/>
            <a:chOff x="5440211" y="1399485"/>
            <a:chExt cx="3311903" cy="936757"/>
          </a:xfrm>
        </p:grpSpPr>
        <p:sp>
          <p:nvSpPr>
            <p:cNvPr id="100" name="Прямоугольник: скругленные углы 99">
              <a:extLst>
                <a:ext uri="{FF2B5EF4-FFF2-40B4-BE49-F238E27FC236}">
                  <a16:creationId xmlns:a16="http://schemas.microsoft.com/office/drawing/2014/main" id="{267A9873-45A0-A44A-9E69-E21DF1E7F357}"/>
                </a:ext>
              </a:extLst>
            </p:cNvPr>
            <p:cNvSpPr/>
            <p:nvPr/>
          </p:nvSpPr>
          <p:spPr>
            <a:xfrm>
              <a:off x="5440211" y="1399485"/>
              <a:ext cx="3311903" cy="936757"/>
            </a:xfrm>
            <a:prstGeom prst="roundRect">
              <a:avLst>
                <a:gd name="adj" fmla="val 19997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7999C3BE-BA86-3AC7-9911-8AD0C1A7E70C}"/>
                </a:ext>
              </a:extLst>
            </p:cNvPr>
            <p:cNvSpPr txBox="1"/>
            <p:nvPr/>
          </p:nvSpPr>
          <p:spPr>
            <a:xfrm>
              <a:off x="6222652" y="1683197"/>
              <a:ext cx="24538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dirty="0">
                  <a:solidFill>
                    <a:srgbClr val="0E0E0E"/>
                  </a:solidFill>
                  <a:latin typeface="Comfortaa Medium" pitchFamily="2" charset="0"/>
                  <a:ea typeface="Pacifico"/>
                  <a:cs typeface="Poppins" panose="020B0604020202020204" charset="0"/>
                  <a:sym typeface="Pacifico"/>
                </a:rPr>
                <a:t>Разработка </a:t>
              </a:r>
              <a:r>
                <a:rPr lang="en-US" dirty="0">
                  <a:solidFill>
                    <a:srgbClr val="0E0E0E"/>
                  </a:solidFill>
                  <a:latin typeface="Comfortaa Medium" pitchFamily="2" charset="0"/>
                  <a:ea typeface="Pacifico"/>
                  <a:cs typeface="Poppins" panose="020B0604020202020204" charset="0"/>
                  <a:sym typeface="Pacifico"/>
                </a:rPr>
                <a:t>UI</a:t>
              </a:r>
              <a:endParaRPr lang="ru-RU" dirty="0">
                <a:solidFill>
                  <a:srgbClr val="0E0E0E"/>
                </a:solidFill>
                <a:latin typeface="Comfortaa Medium" pitchFamily="2" charset="0"/>
                <a:ea typeface="Pacifico"/>
                <a:cs typeface="Poppins" panose="020B0604020202020204" charset="0"/>
                <a:sym typeface="Pacifico"/>
              </a:endParaRPr>
            </a:p>
          </p:txBody>
        </p:sp>
        <p:sp>
          <p:nvSpPr>
            <p:cNvPr id="102" name="Овал 101">
              <a:extLst>
                <a:ext uri="{FF2B5EF4-FFF2-40B4-BE49-F238E27FC236}">
                  <a16:creationId xmlns:a16="http://schemas.microsoft.com/office/drawing/2014/main" id="{3413F850-D58D-483E-B303-BE267EB5164B}"/>
                </a:ext>
              </a:extLst>
            </p:cNvPr>
            <p:cNvSpPr/>
            <p:nvPr/>
          </p:nvSpPr>
          <p:spPr>
            <a:xfrm>
              <a:off x="5616038" y="1588470"/>
              <a:ext cx="558787" cy="558787"/>
            </a:xfrm>
            <a:prstGeom prst="ellipse">
              <a:avLst/>
            </a:prstGeom>
            <a:solidFill>
              <a:srgbClr val="F7941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>
                <a:latin typeface="Bahnschrift" panose="020B0502040204020203" pitchFamily="34" charset="0"/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58870701-1A3A-B01E-6688-8AF7964B02CF}"/>
                </a:ext>
              </a:extLst>
            </p:cNvPr>
            <p:cNvSpPr txBox="1"/>
            <p:nvPr/>
          </p:nvSpPr>
          <p:spPr>
            <a:xfrm>
              <a:off x="5568210" y="1698586"/>
              <a:ext cx="65444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Comfortaa Medium" pitchFamily="2" charset="0"/>
                </a:rPr>
                <a:t>4</a:t>
              </a:r>
              <a:endParaRPr lang="ru-RU" dirty="0">
                <a:solidFill>
                  <a:schemeClr val="bg1"/>
                </a:solidFill>
                <a:latin typeface="Comfortaa Medium" pitchFamily="2" charset="0"/>
              </a:endParaRPr>
            </a:p>
          </p:txBody>
        </p:sp>
      </p:grpSp>
      <p:grpSp>
        <p:nvGrpSpPr>
          <p:cNvPr id="104" name="Группа 103">
            <a:extLst>
              <a:ext uri="{FF2B5EF4-FFF2-40B4-BE49-F238E27FC236}">
                <a16:creationId xmlns:a16="http://schemas.microsoft.com/office/drawing/2014/main" id="{3F3F38D3-1685-453F-4081-B4D87649D6A8}"/>
              </a:ext>
            </a:extLst>
          </p:cNvPr>
          <p:cNvGrpSpPr/>
          <p:nvPr/>
        </p:nvGrpSpPr>
        <p:grpSpPr>
          <a:xfrm>
            <a:off x="8830898" y="2701421"/>
            <a:ext cx="3311903" cy="936757"/>
            <a:chOff x="5440211" y="1399485"/>
            <a:chExt cx="3311903" cy="936757"/>
          </a:xfrm>
        </p:grpSpPr>
        <p:sp>
          <p:nvSpPr>
            <p:cNvPr id="105" name="Прямоугольник: скругленные углы 104">
              <a:extLst>
                <a:ext uri="{FF2B5EF4-FFF2-40B4-BE49-F238E27FC236}">
                  <a16:creationId xmlns:a16="http://schemas.microsoft.com/office/drawing/2014/main" id="{EB10B27C-D9C6-9173-BF33-D785F2364B9E}"/>
                </a:ext>
              </a:extLst>
            </p:cNvPr>
            <p:cNvSpPr/>
            <p:nvPr/>
          </p:nvSpPr>
          <p:spPr>
            <a:xfrm>
              <a:off x="5440211" y="1399485"/>
              <a:ext cx="3311903" cy="936757"/>
            </a:xfrm>
            <a:prstGeom prst="roundRect">
              <a:avLst>
                <a:gd name="adj" fmla="val 19997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C90E50D5-2D58-5ACF-2396-40B4F87DF049}"/>
                </a:ext>
              </a:extLst>
            </p:cNvPr>
            <p:cNvSpPr txBox="1"/>
            <p:nvPr/>
          </p:nvSpPr>
          <p:spPr>
            <a:xfrm>
              <a:off x="6222652" y="1544698"/>
              <a:ext cx="245387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dirty="0">
                  <a:solidFill>
                    <a:srgbClr val="0E0E0E"/>
                  </a:solidFill>
                  <a:latin typeface="Comfortaa Medium" pitchFamily="2" charset="0"/>
                  <a:ea typeface="Pacifico"/>
                  <a:cs typeface="Poppins" panose="020B0604020202020204" charset="0"/>
                  <a:sym typeface="Pacifico"/>
                </a:rPr>
                <a:t>Тестирование и отладка ПО</a:t>
              </a:r>
            </a:p>
          </p:txBody>
        </p:sp>
        <p:sp>
          <p:nvSpPr>
            <p:cNvPr id="107" name="Овал 106">
              <a:extLst>
                <a:ext uri="{FF2B5EF4-FFF2-40B4-BE49-F238E27FC236}">
                  <a16:creationId xmlns:a16="http://schemas.microsoft.com/office/drawing/2014/main" id="{E4E96532-CD60-1BC2-EF07-A04355B474D6}"/>
                </a:ext>
              </a:extLst>
            </p:cNvPr>
            <p:cNvSpPr/>
            <p:nvPr/>
          </p:nvSpPr>
          <p:spPr>
            <a:xfrm>
              <a:off x="5616038" y="1588470"/>
              <a:ext cx="558787" cy="558787"/>
            </a:xfrm>
            <a:prstGeom prst="ellipse">
              <a:avLst/>
            </a:prstGeom>
            <a:solidFill>
              <a:srgbClr val="F7941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>
                <a:latin typeface="Bahnschrift" panose="020B0502040204020203" pitchFamily="34" charset="0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CADCE967-2026-7A01-5007-49B4D38E7876}"/>
                </a:ext>
              </a:extLst>
            </p:cNvPr>
            <p:cNvSpPr txBox="1"/>
            <p:nvPr/>
          </p:nvSpPr>
          <p:spPr>
            <a:xfrm>
              <a:off x="5568210" y="1698586"/>
              <a:ext cx="65444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Comfortaa Medium" pitchFamily="2" charset="0"/>
                </a:rPr>
                <a:t>6</a:t>
              </a:r>
              <a:endParaRPr lang="ru-RU" dirty="0">
                <a:solidFill>
                  <a:schemeClr val="bg1"/>
                </a:solidFill>
                <a:latin typeface="Comfortaa Medium" pitchFamily="2" charset="0"/>
              </a:endParaRPr>
            </a:p>
          </p:txBody>
        </p:sp>
      </p:grpSp>
      <p:grpSp>
        <p:nvGrpSpPr>
          <p:cNvPr id="1041" name="Группа 1040">
            <a:extLst>
              <a:ext uri="{FF2B5EF4-FFF2-40B4-BE49-F238E27FC236}">
                <a16:creationId xmlns:a16="http://schemas.microsoft.com/office/drawing/2014/main" id="{12C75424-9C0F-5E32-0353-06CF45A19FDB}"/>
              </a:ext>
            </a:extLst>
          </p:cNvPr>
          <p:cNvGrpSpPr/>
          <p:nvPr/>
        </p:nvGrpSpPr>
        <p:grpSpPr>
          <a:xfrm>
            <a:off x="5270556" y="3985949"/>
            <a:ext cx="3311903" cy="936757"/>
            <a:chOff x="5440211" y="1399485"/>
            <a:chExt cx="3311903" cy="936757"/>
          </a:xfrm>
        </p:grpSpPr>
        <p:sp>
          <p:nvSpPr>
            <p:cNvPr id="1042" name="Прямоугольник: скругленные углы 1041">
              <a:extLst>
                <a:ext uri="{FF2B5EF4-FFF2-40B4-BE49-F238E27FC236}">
                  <a16:creationId xmlns:a16="http://schemas.microsoft.com/office/drawing/2014/main" id="{FF6F95B1-0ABB-1A24-54DD-9962E24D874F}"/>
                </a:ext>
              </a:extLst>
            </p:cNvPr>
            <p:cNvSpPr/>
            <p:nvPr/>
          </p:nvSpPr>
          <p:spPr>
            <a:xfrm>
              <a:off x="5440211" y="1399485"/>
              <a:ext cx="3311903" cy="936757"/>
            </a:xfrm>
            <a:prstGeom prst="roundRect">
              <a:avLst>
                <a:gd name="adj" fmla="val 19997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043" name="TextBox 1042">
              <a:extLst>
                <a:ext uri="{FF2B5EF4-FFF2-40B4-BE49-F238E27FC236}">
                  <a16:creationId xmlns:a16="http://schemas.microsoft.com/office/drawing/2014/main" id="{587C5485-E69A-6F1F-19FB-56CFC7DDF8C7}"/>
                </a:ext>
              </a:extLst>
            </p:cNvPr>
            <p:cNvSpPr txBox="1"/>
            <p:nvPr/>
          </p:nvSpPr>
          <p:spPr>
            <a:xfrm>
              <a:off x="6222652" y="1544698"/>
              <a:ext cx="245387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dirty="0">
                  <a:solidFill>
                    <a:srgbClr val="0E0E0E"/>
                  </a:solidFill>
                  <a:latin typeface="Comfortaa Medium" pitchFamily="2" charset="0"/>
                  <a:ea typeface="Pacifico"/>
                  <a:cs typeface="Poppins" panose="020B0604020202020204" charset="0"/>
                  <a:sym typeface="Pacifico"/>
                </a:rPr>
                <a:t>Разработка структуры БД</a:t>
              </a:r>
            </a:p>
          </p:txBody>
        </p:sp>
        <p:sp>
          <p:nvSpPr>
            <p:cNvPr id="1044" name="Овал 1043">
              <a:extLst>
                <a:ext uri="{FF2B5EF4-FFF2-40B4-BE49-F238E27FC236}">
                  <a16:creationId xmlns:a16="http://schemas.microsoft.com/office/drawing/2014/main" id="{26E6BCAB-94BC-320D-C983-8A8DE1A262B1}"/>
                </a:ext>
              </a:extLst>
            </p:cNvPr>
            <p:cNvSpPr/>
            <p:nvPr/>
          </p:nvSpPr>
          <p:spPr>
            <a:xfrm>
              <a:off x="5616038" y="1588470"/>
              <a:ext cx="558787" cy="558787"/>
            </a:xfrm>
            <a:prstGeom prst="ellipse">
              <a:avLst/>
            </a:prstGeom>
            <a:solidFill>
              <a:srgbClr val="F7941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>
                <a:latin typeface="Bahnschrift" panose="020B0502040204020203" pitchFamily="34" charset="0"/>
              </a:endParaRPr>
            </a:p>
          </p:txBody>
        </p:sp>
        <p:sp>
          <p:nvSpPr>
            <p:cNvPr id="1045" name="TextBox 1044">
              <a:extLst>
                <a:ext uri="{FF2B5EF4-FFF2-40B4-BE49-F238E27FC236}">
                  <a16:creationId xmlns:a16="http://schemas.microsoft.com/office/drawing/2014/main" id="{38297D47-4EE3-BB59-A94C-C8011A3D1EF1}"/>
                </a:ext>
              </a:extLst>
            </p:cNvPr>
            <p:cNvSpPr txBox="1"/>
            <p:nvPr/>
          </p:nvSpPr>
          <p:spPr>
            <a:xfrm>
              <a:off x="5568210" y="1698586"/>
              <a:ext cx="65444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Comfortaa Medium" pitchFamily="2" charset="0"/>
                </a:rPr>
                <a:t>3</a:t>
              </a:r>
              <a:endParaRPr lang="ru-RU" dirty="0">
                <a:solidFill>
                  <a:schemeClr val="bg1"/>
                </a:solidFill>
                <a:latin typeface="Comfortaa Medium" pitchFamily="2" charset="0"/>
              </a:endParaRPr>
            </a:p>
          </p:txBody>
        </p:sp>
      </p:grpSp>
      <p:grpSp>
        <p:nvGrpSpPr>
          <p:cNvPr id="1046" name="Группа 1045">
            <a:extLst>
              <a:ext uri="{FF2B5EF4-FFF2-40B4-BE49-F238E27FC236}">
                <a16:creationId xmlns:a16="http://schemas.microsoft.com/office/drawing/2014/main" id="{F11C053A-B22D-9A54-CB11-2E96F1AD6739}"/>
              </a:ext>
            </a:extLst>
          </p:cNvPr>
          <p:cNvGrpSpPr/>
          <p:nvPr/>
        </p:nvGrpSpPr>
        <p:grpSpPr>
          <a:xfrm>
            <a:off x="8792792" y="1364555"/>
            <a:ext cx="3311903" cy="936757"/>
            <a:chOff x="5440211" y="1399485"/>
            <a:chExt cx="3311903" cy="936757"/>
          </a:xfrm>
        </p:grpSpPr>
        <p:sp>
          <p:nvSpPr>
            <p:cNvPr id="1047" name="Прямоугольник: скругленные углы 1046">
              <a:extLst>
                <a:ext uri="{FF2B5EF4-FFF2-40B4-BE49-F238E27FC236}">
                  <a16:creationId xmlns:a16="http://schemas.microsoft.com/office/drawing/2014/main" id="{A506EDAD-1944-B8B2-D968-9BEDB0937022}"/>
                </a:ext>
              </a:extLst>
            </p:cNvPr>
            <p:cNvSpPr/>
            <p:nvPr/>
          </p:nvSpPr>
          <p:spPr>
            <a:xfrm>
              <a:off x="5440211" y="1399485"/>
              <a:ext cx="3311903" cy="936757"/>
            </a:xfrm>
            <a:prstGeom prst="roundRect">
              <a:avLst>
                <a:gd name="adj" fmla="val 19997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048" name="TextBox 1047">
              <a:extLst>
                <a:ext uri="{FF2B5EF4-FFF2-40B4-BE49-F238E27FC236}">
                  <a16:creationId xmlns:a16="http://schemas.microsoft.com/office/drawing/2014/main" id="{E1F83B70-9F31-D4E5-314B-8373C492ADF5}"/>
                </a:ext>
              </a:extLst>
            </p:cNvPr>
            <p:cNvSpPr txBox="1"/>
            <p:nvPr/>
          </p:nvSpPr>
          <p:spPr>
            <a:xfrm>
              <a:off x="6222652" y="1683197"/>
              <a:ext cx="24538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dirty="0">
                  <a:solidFill>
                    <a:srgbClr val="0E0E0E"/>
                  </a:solidFill>
                  <a:latin typeface="Comfortaa Medium" pitchFamily="2" charset="0"/>
                  <a:ea typeface="Pacifico"/>
                  <a:cs typeface="Poppins" panose="020B0604020202020204" charset="0"/>
                  <a:sym typeface="Pacifico"/>
                </a:rPr>
                <a:t>Разработка ПО</a:t>
              </a:r>
            </a:p>
          </p:txBody>
        </p:sp>
        <p:sp>
          <p:nvSpPr>
            <p:cNvPr id="1049" name="Овал 1048">
              <a:extLst>
                <a:ext uri="{FF2B5EF4-FFF2-40B4-BE49-F238E27FC236}">
                  <a16:creationId xmlns:a16="http://schemas.microsoft.com/office/drawing/2014/main" id="{DEFFB4E3-6456-6BE8-9687-DB7946F19754}"/>
                </a:ext>
              </a:extLst>
            </p:cNvPr>
            <p:cNvSpPr/>
            <p:nvPr/>
          </p:nvSpPr>
          <p:spPr>
            <a:xfrm>
              <a:off x="5616038" y="1588470"/>
              <a:ext cx="558787" cy="558787"/>
            </a:xfrm>
            <a:prstGeom prst="ellipse">
              <a:avLst/>
            </a:prstGeom>
            <a:solidFill>
              <a:srgbClr val="F7941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>
                <a:latin typeface="Bahnschrift" panose="020B0502040204020203" pitchFamily="34" charset="0"/>
              </a:endParaRPr>
            </a:p>
          </p:txBody>
        </p:sp>
        <p:sp>
          <p:nvSpPr>
            <p:cNvPr id="1050" name="TextBox 1049">
              <a:extLst>
                <a:ext uri="{FF2B5EF4-FFF2-40B4-BE49-F238E27FC236}">
                  <a16:creationId xmlns:a16="http://schemas.microsoft.com/office/drawing/2014/main" id="{A381870B-9C2F-8C84-566C-FB523BF7132F}"/>
                </a:ext>
              </a:extLst>
            </p:cNvPr>
            <p:cNvSpPr txBox="1"/>
            <p:nvPr/>
          </p:nvSpPr>
          <p:spPr>
            <a:xfrm>
              <a:off x="5568210" y="1698586"/>
              <a:ext cx="65444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Comfortaa Medium" pitchFamily="2" charset="0"/>
                </a:rPr>
                <a:t>5</a:t>
              </a:r>
              <a:endParaRPr lang="ru-RU" dirty="0">
                <a:solidFill>
                  <a:schemeClr val="bg1"/>
                </a:solidFill>
                <a:latin typeface="Comfortaa Medium" pitchFamily="2" charset="0"/>
              </a:endParaRPr>
            </a:p>
          </p:txBody>
        </p:sp>
      </p:grpSp>
      <p:grpSp>
        <p:nvGrpSpPr>
          <p:cNvPr id="1051" name="Группа 1050">
            <a:extLst>
              <a:ext uri="{FF2B5EF4-FFF2-40B4-BE49-F238E27FC236}">
                <a16:creationId xmlns:a16="http://schemas.microsoft.com/office/drawing/2014/main" id="{83174E09-92CE-05F1-F063-B39F3F985327}"/>
              </a:ext>
            </a:extLst>
          </p:cNvPr>
          <p:cNvGrpSpPr/>
          <p:nvPr/>
        </p:nvGrpSpPr>
        <p:grpSpPr>
          <a:xfrm>
            <a:off x="8795812" y="3937279"/>
            <a:ext cx="3311903" cy="936757"/>
            <a:chOff x="5440211" y="1399485"/>
            <a:chExt cx="3311903" cy="936757"/>
          </a:xfrm>
        </p:grpSpPr>
        <p:sp>
          <p:nvSpPr>
            <p:cNvPr id="1052" name="Прямоугольник: скругленные углы 1051">
              <a:extLst>
                <a:ext uri="{FF2B5EF4-FFF2-40B4-BE49-F238E27FC236}">
                  <a16:creationId xmlns:a16="http://schemas.microsoft.com/office/drawing/2014/main" id="{16ABB213-BE96-D224-22B9-55D9484C9BDC}"/>
                </a:ext>
              </a:extLst>
            </p:cNvPr>
            <p:cNvSpPr/>
            <p:nvPr/>
          </p:nvSpPr>
          <p:spPr>
            <a:xfrm>
              <a:off x="5440211" y="1399485"/>
              <a:ext cx="3311903" cy="936757"/>
            </a:xfrm>
            <a:prstGeom prst="roundRect">
              <a:avLst>
                <a:gd name="adj" fmla="val 19997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053" name="TextBox 1052">
              <a:extLst>
                <a:ext uri="{FF2B5EF4-FFF2-40B4-BE49-F238E27FC236}">
                  <a16:creationId xmlns:a16="http://schemas.microsoft.com/office/drawing/2014/main" id="{CC842578-E74A-96F9-37C3-B2127BC1F5AD}"/>
                </a:ext>
              </a:extLst>
            </p:cNvPr>
            <p:cNvSpPr txBox="1"/>
            <p:nvPr/>
          </p:nvSpPr>
          <p:spPr>
            <a:xfrm>
              <a:off x="6222652" y="1544698"/>
              <a:ext cx="245387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dirty="0">
                  <a:solidFill>
                    <a:srgbClr val="0E0E0E"/>
                  </a:solidFill>
                  <a:latin typeface="Comfortaa Medium" pitchFamily="2" charset="0"/>
                  <a:ea typeface="Pacifico"/>
                  <a:cs typeface="Poppins" panose="020B0604020202020204" charset="0"/>
                  <a:sym typeface="Pacifico"/>
                </a:rPr>
                <a:t>Написание документации</a:t>
              </a:r>
            </a:p>
          </p:txBody>
        </p:sp>
        <p:sp>
          <p:nvSpPr>
            <p:cNvPr id="1054" name="Овал 1053">
              <a:extLst>
                <a:ext uri="{FF2B5EF4-FFF2-40B4-BE49-F238E27FC236}">
                  <a16:creationId xmlns:a16="http://schemas.microsoft.com/office/drawing/2014/main" id="{2A7CDB1E-0FBE-425C-CD92-9AB80D32A3BC}"/>
                </a:ext>
              </a:extLst>
            </p:cNvPr>
            <p:cNvSpPr/>
            <p:nvPr/>
          </p:nvSpPr>
          <p:spPr>
            <a:xfrm>
              <a:off x="5616038" y="1588470"/>
              <a:ext cx="558787" cy="558787"/>
            </a:xfrm>
            <a:prstGeom prst="ellipse">
              <a:avLst/>
            </a:prstGeom>
            <a:solidFill>
              <a:srgbClr val="F7941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>
                <a:latin typeface="Bahnschrift" panose="020B0502040204020203" pitchFamily="34" charset="0"/>
              </a:endParaRPr>
            </a:p>
          </p:txBody>
        </p:sp>
        <p:sp>
          <p:nvSpPr>
            <p:cNvPr id="1055" name="TextBox 1054">
              <a:extLst>
                <a:ext uri="{FF2B5EF4-FFF2-40B4-BE49-F238E27FC236}">
                  <a16:creationId xmlns:a16="http://schemas.microsoft.com/office/drawing/2014/main" id="{D3B90EBA-5C8D-F71D-30F9-99BA7270A50A}"/>
                </a:ext>
              </a:extLst>
            </p:cNvPr>
            <p:cNvSpPr txBox="1"/>
            <p:nvPr/>
          </p:nvSpPr>
          <p:spPr>
            <a:xfrm>
              <a:off x="5568210" y="1698586"/>
              <a:ext cx="65444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Comfortaa Medium" pitchFamily="2" charset="0"/>
                </a:rPr>
                <a:t>7</a:t>
              </a:r>
              <a:endParaRPr lang="ru-RU" dirty="0">
                <a:solidFill>
                  <a:schemeClr val="bg1"/>
                </a:solidFill>
                <a:latin typeface="Comfortaa Medium" pitchFamily="2" charset="0"/>
              </a:endParaRPr>
            </a:p>
          </p:txBody>
        </p:sp>
      </p:grpSp>
      <p:grpSp>
        <p:nvGrpSpPr>
          <p:cNvPr id="1059" name="Группа 1058">
            <a:extLst>
              <a:ext uri="{FF2B5EF4-FFF2-40B4-BE49-F238E27FC236}">
                <a16:creationId xmlns:a16="http://schemas.microsoft.com/office/drawing/2014/main" id="{082CA654-F3B3-1A60-FD7C-FED6C743F1A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78606" y="1399485"/>
            <a:ext cx="4725194" cy="4921853"/>
            <a:chOff x="278606" y="1399485"/>
            <a:chExt cx="4725194" cy="4921853"/>
          </a:xfrm>
        </p:grpSpPr>
        <p:grpSp>
          <p:nvGrpSpPr>
            <p:cNvPr id="80" name="Группа 79">
              <a:extLst>
                <a:ext uri="{FF2B5EF4-FFF2-40B4-BE49-F238E27FC236}">
                  <a16:creationId xmlns:a16="http://schemas.microsoft.com/office/drawing/2014/main" id="{B1E6D496-6752-45EC-7DDA-40BFFA5B802E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78606" y="1399485"/>
              <a:ext cx="4725194" cy="4921853"/>
              <a:chOff x="278606" y="1399485"/>
              <a:chExt cx="4976682" cy="4921853"/>
            </a:xfrm>
          </p:grpSpPr>
          <p:sp>
            <p:nvSpPr>
              <p:cNvPr id="9" name="Прямоугольник: скругленные углы 8">
                <a:extLst>
                  <a:ext uri="{FF2B5EF4-FFF2-40B4-BE49-F238E27FC236}">
                    <a16:creationId xmlns:a16="http://schemas.microsoft.com/office/drawing/2014/main" id="{648BF8D6-A426-5FCA-D7D6-3D6C9132AC9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8606" y="1399485"/>
                <a:ext cx="4976682" cy="4921853"/>
              </a:xfrm>
              <a:prstGeom prst="roundRect">
                <a:avLst>
                  <a:gd name="adj" fmla="val 384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B8337587-3F3E-63B0-C577-65B80B155E06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91886" y="1514499"/>
                <a:ext cx="4748041" cy="18881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ru-RU" sz="2000" b="1" i="0" u="none" strike="noStrike" cap="none" dirty="0">
                    <a:latin typeface="Comfortaa SemiBold" pitchFamily="2" charset="0"/>
                    <a:ea typeface="Pacifico"/>
                    <a:cs typeface="Pacifico"/>
                    <a:sym typeface="Pacifico"/>
                  </a:rPr>
                  <a:t>Разработать веб-приложение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ru-RU" sz="2000" dirty="0">
                    <a:latin typeface="Comfortaa SemiBold" pitchFamily="2" charset="0"/>
                    <a:ea typeface="Calibri"/>
                    <a:cs typeface="Poppins"/>
                    <a:sym typeface="Poppins"/>
                  </a:rPr>
                  <a:t>для автоматизации учета проживающих и управления структурой общежития</a:t>
                </a:r>
                <a:endParaRPr lang="ru-RU" sz="2000" dirty="0">
                  <a:latin typeface="Comfortaa SemiBold" pitchFamily="2" charset="0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058" name="Picture 2" descr="Цель – Бесплатные иконки: бизнес">
              <a:extLst>
                <a:ext uri="{FF2B5EF4-FFF2-40B4-BE49-F238E27FC236}">
                  <a16:creationId xmlns:a16="http://schemas.microsoft.com/office/drawing/2014/main" id="{1DB4398B-4CE9-8DF1-5BBB-1E55E9B42B0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04111" y="3686611"/>
              <a:ext cx="2272208" cy="22722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64" name="Прямоугольник 1063">
            <a:extLst>
              <a:ext uri="{FF2B5EF4-FFF2-40B4-BE49-F238E27FC236}">
                <a16:creationId xmlns:a16="http://schemas.microsoft.com/office/drawing/2014/main" id="{99C7AD40-EED3-F0D8-40FD-E421A4D7EA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3573" y="6690671"/>
            <a:ext cx="12195573" cy="167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66" name="Прямоугольник 1065">
            <a:extLst>
              <a:ext uri="{FF2B5EF4-FFF2-40B4-BE49-F238E27FC236}">
                <a16:creationId xmlns:a16="http://schemas.microsoft.com/office/drawing/2014/main" id="{6D8EF338-61D4-C7E7-1A23-9EC9F0027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3573" y="6690670"/>
            <a:ext cx="2937273" cy="167331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91359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5C5F6-3378-F4F8-05A1-763E97ADA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Группа 57">
            <a:extLst>
              <a:ext uri="{FF2B5EF4-FFF2-40B4-BE49-F238E27FC236}">
                <a16:creationId xmlns:a16="http://schemas.microsoft.com/office/drawing/2014/main" id="{0FE3E017-0A61-997A-387A-E2BB60CB1F73}"/>
              </a:ext>
            </a:extLst>
          </p:cNvPr>
          <p:cNvGrpSpPr/>
          <p:nvPr/>
        </p:nvGrpSpPr>
        <p:grpSpPr>
          <a:xfrm>
            <a:off x="6757374" y="3970674"/>
            <a:ext cx="5188267" cy="2448000"/>
            <a:chOff x="95250" y="1158772"/>
            <a:chExt cx="5189355" cy="1914425"/>
          </a:xfrm>
        </p:grpSpPr>
        <p:sp>
          <p:nvSpPr>
            <p:cNvPr id="59" name="Прямоугольник: скругленные углы 58">
              <a:extLst>
                <a:ext uri="{FF2B5EF4-FFF2-40B4-BE49-F238E27FC236}">
                  <a16:creationId xmlns:a16="http://schemas.microsoft.com/office/drawing/2014/main" id="{CF99CBA1-BF46-DC19-347D-DFC2A021B3AB}"/>
                </a:ext>
              </a:extLst>
            </p:cNvPr>
            <p:cNvSpPr/>
            <p:nvPr/>
          </p:nvSpPr>
          <p:spPr>
            <a:xfrm>
              <a:off x="95793" y="1158772"/>
              <a:ext cx="5188812" cy="1914425"/>
            </a:xfrm>
            <a:prstGeom prst="roundRect">
              <a:avLst>
                <a:gd name="adj" fmla="val 468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5875D07-4EE9-1A1E-8785-7CB11BCEDCB7}"/>
                </a:ext>
              </a:extLst>
            </p:cNvPr>
            <p:cNvSpPr txBox="1"/>
            <p:nvPr/>
          </p:nvSpPr>
          <p:spPr>
            <a:xfrm>
              <a:off x="95250" y="1304643"/>
              <a:ext cx="518881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000" dirty="0">
                  <a:latin typeface="Comfortaa Medium" pitchFamily="2" charset="0"/>
                </a:rPr>
                <a:t>СЕРВЕР</a:t>
              </a:r>
            </a:p>
          </p:txBody>
        </p:sp>
      </p:grpSp>
      <p:grpSp>
        <p:nvGrpSpPr>
          <p:cNvPr id="57" name="Группа 56">
            <a:extLst>
              <a:ext uri="{FF2B5EF4-FFF2-40B4-BE49-F238E27FC236}">
                <a16:creationId xmlns:a16="http://schemas.microsoft.com/office/drawing/2014/main" id="{3537883E-15BD-1311-08B8-7995CBE265DF}"/>
              </a:ext>
            </a:extLst>
          </p:cNvPr>
          <p:cNvGrpSpPr/>
          <p:nvPr/>
        </p:nvGrpSpPr>
        <p:grpSpPr>
          <a:xfrm>
            <a:off x="226218" y="1250676"/>
            <a:ext cx="5058387" cy="2448000"/>
            <a:chOff x="95250" y="1158772"/>
            <a:chExt cx="5189355" cy="1914425"/>
          </a:xfrm>
        </p:grpSpPr>
        <p:sp>
          <p:nvSpPr>
            <p:cNvPr id="2" name="Прямоугольник: скругленные углы 1">
              <a:extLst>
                <a:ext uri="{FF2B5EF4-FFF2-40B4-BE49-F238E27FC236}">
                  <a16:creationId xmlns:a16="http://schemas.microsoft.com/office/drawing/2014/main" id="{AC6F7DCE-F8FF-329B-0A1D-233B1E9ACD8C}"/>
                </a:ext>
              </a:extLst>
            </p:cNvPr>
            <p:cNvSpPr/>
            <p:nvPr/>
          </p:nvSpPr>
          <p:spPr>
            <a:xfrm>
              <a:off x="95793" y="1158772"/>
              <a:ext cx="5188812" cy="1914425"/>
            </a:xfrm>
            <a:prstGeom prst="roundRect">
              <a:avLst>
                <a:gd name="adj" fmla="val 468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3DD384F-519F-B084-1FF9-0B3E0617F612}"/>
                </a:ext>
              </a:extLst>
            </p:cNvPr>
            <p:cNvSpPr txBox="1"/>
            <p:nvPr/>
          </p:nvSpPr>
          <p:spPr>
            <a:xfrm>
              <a:off x="95250" y="1304643"/>
              <a:ext cx="518881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000" dirty="0">
                  <a:latin typeface="Comfortaa Medium" pitchFamily="2" charset="0"/>
                </a:rPr>
                <a:t>БАЗА ДАННЫХ</a:t>
              </a:r>
            </a:p>
          </p:txBody>
        </p:sp>
      </p:grp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C828BFC2-C5A9-D901-0DFE-091DC60B5576}"/>
              </a:ext>
            </a:extLst>
          </p:cNvPr>
          <p:cNvGrpSpPr/>
          <p:nvPr/>
        </p:nvGrpSpPr>
        <p:grpSpPr>
          <a:xfrm>
            <a:off x="7856199" y="4816528"/>
            <a:ext cx="3062962" cy="1156996"/>
            <a:chOff x="7060668" y="5357019"/>
            <a:chExt cx="3062962" cy="1156996"/>
          </a:xfrm>
        </p:grpSpPr>
        <p:pic>
          <p:nvPicPr>
            <p:cNvPr id="1036" name="Picture 12" descr="Докер – Бесплатные иконки: бренды и логотипы">
              <a:extLst>
                <a:ext uri="{FF2B5EF4-FFF2-40B4-BE49-F238E27FC236}">
                  <a16:creationId xmlns:a16="http://schemas.microsoft.com/office/drawing/2014/main" id="{9A79A14D-5671-1AAE-6856-3A6ACCB719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60668" y="5481315"/>
              <a:ext cx="914400" cy="9144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2" name="Picture 18" descr="What - Docker Compose Logo Transparent Png,Compose Icon - free transparent  png images - pngaaa.com">
              <a:extLst>
                <a:ext uri="{FF2B5EF4-FFF2-40B4-BE49-F238E27FC236}">
                  <a16:creationId xmlns:a16="http://schemas.microsoft.com/office/drawing/2014/main" id="{8E0F4AE6-6C70-79DA-0CB1-AA7B4EE1076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6693" b="93307" l="10000" r="90000">
                          <a14:foregroundMark x1="65444" y1="11513" x2="65444" y2="11513"/>
                          <a14:foregroundMark x1="68556" y1="6827" x2="68556" y2="6827"/>
                          <a14:foregroundMark x1="58889" y1="88086" x2="58889" y2="88086"/>
                          <a14:foregroundMark x1="59889" y1="89826" x2="59889" y2="89826"/>
                          <a14:foregroundMark x1="58556" y1="93307" x2="58556" y2="93307"/>
                          <a14:foregroundMark x1="51778" y1="55689" x2="51778" y2="55689"/>
                          <a14:foregroundMark x1="47778" y1="53548" x2="48889" y2="55823"/>
                          <a14:foregroundMark x1="50556" y1="51539" x2="53556" y2="56894"/>
                          <a14:backgroundMark x1="46444" y1="68541" x2="46444" y2="68541"/>
                          <a14:backgroundMark x1="59000" y1="68541" x2="59000" y2="68541"/>
                          <a14:backgroundMark x1="58111" y1="68273" x2="58111" y2="6827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895" r="18881"/>
            <a:stretch>
              <a:fillRect/>
            </a:stretch>
          </p:blipFill>
          <p:spPr bwMode="auto">
            <a:xfrm>
              <a:off x="9256224" y="5357019"/>
              <a:ext cx="867406" cy="11569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3" name="Группа 52">
            <a:extLst>
              <a:ext uri="{FF2B5EF4-FFF2-40B4-BE49-F238E27FC236}">
                <a16:creationId xmlns:a16="http://schemas.microsoft.com/office/drawing/2014/main" id="{5BB17F2B-3640-98D3-9772-57624C79FFA8}"/>
              </a:ext>
            </a:extLst>
          </p:cNvPr>
          <p:cNvGrpSpPr/>
          <p:nvPr/>
        </p:nvGrpSpPr>
        <p:grpSpPr>
          <a:xfrm>
            <a:off x="5508154" y="1250676"/>
            <a:ext cx="6438030" cy="2448000"/>
            <a:chOff x="5508154" y="1158772"/>
            <a:chExt cx="6439118" cy="1914425"/>
          </a:xfrm>
        </p:grpSpPr>
        <p:sp>
          <p:nvSpPr>
            <p:cNvPr id="30" name="Прямоугольник: скругленные углы 29">
              <a:extLst>
                <a:ext uri="{FF2B5EF4-FFF2-40B4-BE49-F238E27FC236}">
                  <a16:creationId xmlns:a16="http://schemas.microsoft.com/office/drawing/2014/main" id="{F2CE65FE-4597-7281-A722-5134FCC053E8}"/>
                </a:ext>
              </a:extLst>
            </p:cNvPr>
            <p:cNvSpPr/>
            <p:nvPr/>
          </p:nvSpPr>
          <p:spPr>
            <a:xfrm>
              <a:off x="5508156" y="1158772"/>
              <a:ext cx="6439116" cy="1914425"/>
            </a:xfrm>
            <a:prstGeom prst="roundRect">
              <a:avLst>
                <a:gd name="adj" fmla="val 468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B613B8F-287A-FB90-4EBD-86DBB404EAEC}"/>
                </a:ext>
              </a:extLst>
            </p:cNvPr>
            <p:cNvSpPr txBox="1"/>
            <p:nvPr/>
          </p:nvSpPr>
          <p:spPr>
            <a:xfrm>
              <a:off x="5508154" y="1304643"/>
              <a:ext cx="64385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omfortaa Medium" pitchFamily="2" charset="0"/>
                </a:rPr>
                <a:t>API</a:t>
              </a:r>
              <a:endParaRPr lang="ru-RU" sz="2000" dirty="0">
                <a:latin typeface="Comfortaa Medium" pitchFamily="2" charset="0"/>
              </a:endParaRPr>
            </a:p>
          </p:txBody>
        </p:sp>
      </p:grp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873F64D4-B0B5-CAAA-49C3-D0BDC77CFD09}"/>
              </a:ext>
            </a:extLst>
          </p:cNvPr>
          <p:cNvGrpSpPr/>
          <p:nvPr/>
        </p:nvGrpSpPr>
        <p:grpSpPr>
          <a:xfrm>
            <a:off x="226218" y="192416"/>
            <a:ext cx="11720513" cy="786262"/>
            <a:chOff x="226218" y="192416"/>
            <a:chExt cx="11720513" cy="786262"/>
          </a:xfrm>
        </p:grpSpPr>
        <p:sp>
          <p:nvSpPr>
            <p:cNvPr id="11" name="Прямоугольник: скругленные углы 10">
              <a:extLst>
                <a:ext uri="{FF2B5EF4-FFF2-40B4-BE49-F238E27FC236}">
                  <a16:creationId xmlns:a16="http://schemas.microsoft.com/office/drawing/2014/main" id="{98A153A2-396A-BECD-A235-56C49C24FC9E}"/>
                </a:ext>
              </a:extLst>
            </p:cNvPr>
            <p:cNvSpPr/>
            <p:nvPr/>
          </p:nvSpPr>
          <p:spPr>
            <a:xfrm>
              <a:off x="226218" y="192416"/>
              <a:ext cx="11720513" cy="786262"/>
            </a:xfrm>
            <a:prstGeom prst="roundRect">
              <a:avLst>
                <a:gd name="adj" fmla="val 23264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4CB582C-9B7B-FE0F-E84C-B02070653984}"/>
                </a:ext>
              </a:extLst>
            </p:cNvPr>
            <p:cNvSpPr txBox="1"/>
            <p:nvPr/>
          </p:nvSpPr>
          <p:spPr>
            <a:xfrm>
              <a:off x="11029949" y="323937"/>
              <a:ext cx="91678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2800" dirty="0">
                  <a:latin typeface="Comfortaa Medium" pitchFamily="2" charset="0"/>
                </a:rPr>
                <a:t>4/7</a:t>
              </a:r>
            </a:p>
          </p:txBody>
        </p:sp>
        <p:sp>
          <p:nvSpPr>
            <p:cNvPr id="13" name="Заголовок 1">
              <a:extLst>
                <a:ext uri="{FF2B5EF4-FFF2-40B4-BE49-F238E27FC236}">
                  <a16:creationId xmlns:a16="http://schemas.microsoft.com/office/drawing/2014/main" id="{D55E1D01-9E63-B4DD-FEE8-335A09C212DE}"/>
                </a:ext>
              </a:extLst>
            </p:cNvPr>
            <p:cNvSpPr txBox="1">
              <a:spLocks/>
            </p:cNvSpPr>
            <p:nvPr/>
          </p:nvSpPr>
          <p:spPr>
            <a:xfrm>
              <a:off x="278606" y="330766"/>
              <a:ext cx="10751342" cy="509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ru-RU" sz="3200" dirty="0">
                  <a:latin typeface="Comfortaa Medium" pitchFamily="2" charset="0"/>
                </a:rPr>
                <a:t>Средства разработки</a:t>
              </a:r>
            </a:p>
          </p:txBody>
        </p:sp>
      </p:grpSp>
      <p:pic>
        <p:nvPicPr>
          <p:cNvPr id="50" name="Picture 32" descr="Mysql workbench - Free Icon PNG, SVG">
            <a:extLst>
              <a:ext uri="{FF2B5EF4-FFF2-40B4-BE49-F238E27FC236}">
                <a16:creationId xmlns:a16="http://schemas.microsoft.com/office/drawing/2014/main" id="{363D8FCE-4DAD-6523-A885-6DF7705031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2" t="5201" r="5306" b="2504"/>
          <a:stretch>
            <a:fillRect/>
          </a:stretch>
        </p:blipFill>
        <p:spPr bwMode="auto">
          <a:xfrm>
            <a:off x="1092453" y="2180330"/>
            <a:ext cx="921947" cy="961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Рисунок 51" descr="Изображение выглядит как Графика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BEA38B7-6C81-3B93-DA1C-A465F6EF6C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419" y="2180330"/>
            <a:ext cx="888477" cy="888224"/>
          </a:xfrm>
          <a:prstGeom prst="rect">
            <a:avLst/>
          </a:prstGeom>
        </p:spPr>
      </p:pic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2C4C7691-78D8-3628-A4EE-C1C4503B3C28}"/>
              </a:ext>
            </a:extLst>
          </p:cNvPr>
          <p:cNvGrpSpPr/>
          <p:nvPr/>
        </p:nvGrpSpPr>
        <p:grpSpPr>
          <a:xfrm>
            <a:off x="226218" y="3970674"/>
            <a:ext cx="6308150" cy="2448000"/>
            <a:chOff x="5508154" y="1158772"/>
            <a:chExt cx="6439118" cy="1914425"/>
          </a:xfrm>
        </p:grpSpPr>
        <p:sp>
          <p:nvSpPr>
            <p:cNvPr id="62" name="Прямоугольник: скругленные углы 61">
              <a:extLst>
                <a:ext uri="{FF2B5EF4-FFF2-40B4-BE49-F238E27FC236}">
                  <a16:creationId xmlns:a16="http://schemas.microsoft.com/office/drawing/2014/main" id="{133620E8-3DEC-2E3A-996E-25BD5B064BD9}"/>
                </a:ext>
              </a:extLst>
            </p:cNvPr>
            <p:cNvSpPr/>
            <p:nvPr/>
          </p:nvSpPr>
          <p:spPr>
            <a:xfrm>
              <a:off x="5508156" y="1158772"/>
              <a:ext cx="6439116" cy="1914425"/>
            </a:xfrm>
            <a:prstGeom prst="roundRect">
              <a:avLst>
                <a:gd name="adj" fmla="val 468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0B00EC7-7A8F-7489-7C66-948954776C63}"/>
                </a:ext>
              </a:extLst>
            </p:cNvPr>
            <p:cNvSpPr txBox="1"/>
            <p:nvPr/>
          </p:nvSpPr>
          <p:spPr>
            <a:xfrm>
              <a:off x="5508154" y="1304643"/>
              <a:ext cx="64385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omfortaa Medium" pitchFamily="2" charset="0"/>
                </a:rPr>
                <a:t>FRONTEND</a:t>
              </a:r>
              <a:endParaRPr lang="ru-RU" sz="2000" dirty="0">
                <a:latin typeface="Comfortaa Medium" pitchFamily="2" charset="0"/>
              </a:endParaRPr>
            </a:p>
          </p:txBody>
        </p:sp>
      </p:grpSp>
      <p:grpSp>
        <p:nvGrpSpPr>
          <p:cNvPr id="1024" name="Группа 1023">
            <a:extLst>
              <a:ext uri="{FF2B5EF4-FFF2-40B4-BE49-F238E27FC236}">
                <a16:creationId xmlns:a16="http://schemas.microsoft.com/office/drawing/2014/main" id="{0C1CB7F9-A216-B9D8-7D69-219E41BE5631}"/>
              </a:ext>
            </a:extLst>
          </p:cNvPr>
          <p:cNvGrpSpPr/>
          <p:nvPr/>
        </p:nvGrpSpPr>
        <p:grpSpPr>
          <a:xfrm>
            <a:off x="533039" y="4883123"/>
            <a:ext cx="5721072" cy="1057345"/>
            <a:chOff x="5284604" y="7183549"/>
            <a:chExt cx="5721072" cy="1057345"/>
          </a:xfrm>
        </p:grpSpPr>
        <p:pic>
          <p:nvPicPr>
            <p:cNvPr id="28" name="Picture 22" descr="Vite color icon in PNG, SVG">
              <a:extLst>
                <a:ext uri="{FF2B5EF4-FFF2-40B4-BE49-F238E27FC236}">
                  <a16:creationId xmlns:a16="http://schemas.microsoft.com/office/drawing/2014/main" id="{61A3CBCB-D428-FDDD-54D4-8A548863FF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8750" b="92917" l="8500" r="91000">
                          <a14:foregroundMark x1="8500" y1="22667" x2="8500" y2="22667"/>
                          <a14:foregroundMark x1="68333" y1="8750" x2="68333" y2="8750"/>
                          <a14:foregroundMark x1="91083" y1="20667" x2="91083" y2="20667"/>
                          <a14:foregroundMark x1="50167" y1="92917" x2="50167" y2="9291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91276" y="7268111"/>
              <a:ext cx="914400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24">
              <a:extLst>
                <a:ext uri="{FF2B5EF4-FFF2-40B4-BE49-F238E27FC236}">
                  <a16:creationId xmlns:a16="http://schemas.microsoft.com/office/drawing/2014/main" id="{49138559-F9A9-0E9D-93A1-79187ACAE1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9540" y="7253816"/>
              <a:ext cx="1030140" cy="9168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28">
              <a:extLst>
                <a:ext uri="{FF2B5EF4-FFF2-40B4-BE49-F238E27FC236}">
                  <a16:creationId xmlns:a16="http://schemas.microsoft.com/office/drawing/2014/main" id="{89856162-ECC6-C96F-58B8-52DC17D535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4604" y="7183549"/>
              <a:ext cx="1057345" cy="10573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" name="Picture 34" descr="Typescript - Free brands and logotypes icons">
              <a:extLst>
                <a:ext uri="{FF2B5EF4-FFF2-40B4-BE49-F238E27FC236}">
                  <a16:creationId xmlns:a16="http://schemas.microsoft.com/office/drawing/2014/main" id="{6B6CCA2F-9108-0B28-22B8-8B42DA9A1B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43544" y="7255021"/>
              <a:ext cx="914401" cy="9144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25" name="Рисунок 1024">
            <a:extLst>
              <a:ext uri="{FF2B5EF4-FFF2-40B4-BE49-F238E27FC236}">
                <a16:creationId xmlns:a16="http://schemas.microsoft.com/office/drawing/2014/main" id="{9C921F55-B825-C06B-05AF-42383E2005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9144" t="-3130" r="-6877" b="-1"/>
          <a:stretch>
            <a:fillRect/>
          </a:stretch>
        </p:blipFill>
        <p:spPr>
          <a:xfrm>
            <a:off x="7516296" y="2153763"/>
            <a:ext cx="1049864" cy="1049862"/>
          </a:xfrm>
          <a:prstGeom prst="rect">
            <a:avLst/>
          </a:prstGeom>
        </p:spPr>
      </p:pic>
      <p:pic>
        <p:nvPicPr>
          <p:cNvPr id="1026" name="Рисунок 1025" descr="Изображение выглядит как круг, Графика, символ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4013B49-EDDB-E2DF-C96E-09D5FFD7602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734" y="2180330"/>
            <a:ext cx="961746" cy="961746"/>
          </a:xfrm>
          <a:prstGeom prst="rect">
            <a:avLst/>
          </a:prstGeom>
        </p:spPr>
      </p:pic>
      <p:pic>
        <p:nvPicPr>
          <p:cNvPr id="1027" name="Рисунок 1026" descr="Изображение выглядит как круг, Графика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772A7A6-14C5-2BC2-8F68-09439A13FC5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2405" y="2208152"/>
            <a:ext cx="941084" cy="941084"/>
          </a:xfrm>
          <a:prstGeom prst="rect">
            <a:avLst/>
          </a:prstGeom>
        </p:spPr>
      </p:pic>
      <p:pic>
        <p:nvPicPr>
          <p:cNvPr id="1028" name="Picture 30">
            <a:extLst>
              <a:ext uri="{FF2B5EF4-FFF2-40B4-BE49-F238E27FC236}">
                <a16:creationId xmlns:a16="http://schemas.microsoft.com/office/drawing/2014/main" id="{5117593C-8275-F2EE-E759-0C0F6CF3F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4071" y="2100704"/>
            <a:ext cx="1155980" cy="1155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0" name="Прямоугольник 1029">
            <a:extLst>
              <a:ext uri="{FF2B5EF4-FFF2-40B4-BE49-F238E27FC236}">
                <a16:creationId xmlns:a16="http://schemas.microsoft.com/office/drawing/2014/main" id="{724703EA-DF16-3CFB-6460-C7B0C0EA5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3573" y="6690671"/>
            <a:ext cx="12195573" cy="167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32" name="Прямоугольник 1031">
            <a:extLst>
              <a:ext uri="{FF2B5EF4-FFF2-40B4-BE49-F238E27FC236}">
                <a16:creationId xmlns:a16="http://schemas.microsoft.com/office/drawing/2014/main" id="{8DE9F2C2-6E17-DB74-C44D-41CFA559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3573" y="6690670"/>
            <a:ext cx="5287647" cy="167331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Picture 20">
            <a:extLst>
              <a:ext uri="{FF2B5EF4-FFF2-40B4-BE49-F238E27FC236}">
                <a16:creationId xmlns:a16="http://schemas.microsoft.com/office/drawing/2014/main" id="{9F6E45AA-0A25-BB52-A8E4-67186FF56E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70465" y="1627378"/>
            <a:ext cx="1049861" cy="104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6">
            <a:extLst>
              <a:ext uri="{FF2B5EF4-FFF2-40B4-BE49-F238E27FC236}">
                <a16:creationId xmlns:a16="http://schemas.microsoft.com/office/drawing/2014/main" id="{23ED10CC-E59A-57ED-875C-7CD26A86CC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917"/>
          <a:stretch>
            <a:fillRect/>
          </a:stretch>
        </p:blipFill>
        <p:spPr bwMode="auto">
          <a:xfrm>
            <a:off x="12614505" y="2828137"/>
            <a:ext cx="1161780" cy="1201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4339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BA181-6DC2-8BDB-68B4-4839B8EC6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6FFE7FC8-E9ED-130A-2845-80D931E82DC2}"/>
              </a:ext>
            </a:extLst>
          </p:cNvPr>
          <p:cNvGrpSpPr/>
          <p:nvPr/>
        </p:nvGrpSpPr>
        <p:grpSpPr>
          <a:xfrm>
            <a:off x="226218" y="192416"/>
            <a:ext cx="11720513" cy="786262"/>
            <a:chOff x="226218" y="192416"/>
            <a:chExt cx="11720513" cy="786262"/>
          </a:xfrm>
        </p:grpSpPr>
        <p:sp>
          <p:nvSpPr>
            <p:cNvPr id="8" name="Прямоугольник: скругленные углы 7">
              <a:extLst>
                <a:ext uri="{FF2B5EF4-FFF2-40B4-BE49-F238E27FC236}">
                  <a16:creationId xmlns:a16="http://schemas.microsoft.com/office/drawing/2014/main" id="{8E482F55-992B-52C1-3BF9-A91BDA592BA1}"/>
                </a:ext>
              </a:extLst>
            </p:cNvPr>
            <p:cNvSpPr/>
            <p:nvPr/>
          </p:nvSpPr>
          <p:spPr>
            <a:xfrm>
              <a:off x="226218" y="192416"/>
              <a:ext cx="11720513" cy="786262"/>
            </a:xfrm>
            <a:prstGeom prst="roundRect">
              <a:avLst>
                <a:gd name="adj" fmla="val 23264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D7BDCE9-77DC-5EDC-E2D5-E3A7D4D3085F}"/>
                </a:ext>
              </a:extLst>
            </p:cNvPr>
            <p:cNvSpPr txBox="1"/>
            <p:nvPr/>
          </p:nvSpPr>
          <p:spPr>
            <a:xfrm>
              <a:off x="11029949" y="323937"/>
              <a:ext cx="91678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2800" dirty="0">
                  <a:latin typeface="Comfortaa Medium" pitchFamily="2" charset="0"/>
                </a:rPr>
                <a:t>5/7</a:t>
              </a:r>
            </a:p>
          </p:txBody>
        </p:sp>
        <p:sp>
          <p:nvSpPr>
            <p:cNvPr id="10" name="Заголовок 1">
              <a:extLst>
                <a:ext uri="{FF2B5EF4-FFF2-40B4-BE49-F238E27FC236}">
                  <a16:creationId xmlns:a16="http://schemas.microsoft.com/office/drawing/2014/main" id="{2BECAAC5-6EE5-BF5C-09C1-F413C722FAFB}"/>
                </a:ext>
              </a:extLst>
            </p:cNvPr>
            <p:cNvSpPr txBox="1">
              <a:spLocks/>
            </p:cNvSpPr>
            <p:nvPr/>
          </p:nvSpPr>
          <p:spPr>
            <a:xfrm>
              <a:off x="278606" y="330766"/>
              <a:ext cx="10751342" cy="509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ru-RU" sz="3200" dirty="0">
                  <a:latin typeface="Comfortaa Medium" pitchFamily="2" charset="0"/>
                </a:rPr>
                <a:t>Архитектура системы</a:t>
              </a:r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574C022-6FD2-204C-1D9E-65ACD936468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2" t="1622" r="1125" b="1967"/>
          <a:stretch>
            <a:fillRect/>
          </a:stretch>
        </p:blipFill>
        <p:spPr bwMode="auto">
          <a:xfrm>
            <a:off x="2288891" y="1272729"/>
            <a:ext cx="7595165" cy="512389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3E8C1E3-392A-0DF2-8304-8656B27727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3573" y="6690671"/>
            <a:ext cx="12195573" cy="167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1F65FD5-B464-7A46-9890-DD4D6F90C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3573" y="6690670"/>
            <a:ext cx="7680280" cy="167331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158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Группа 53">
            <a:extLst>
              <a:ext uri="{FF2B5EF4-FFF2-40B4-BE49-F238E27FC236}">
                <a16:creationId xmlns:a16="http://schemas.microsoft.com/office/drawing/2014/main" id="{454F39D7-2DAE-C311-7C9F-E4ACD60B17F6}"/>
              </a:ext>
            </a:extLst>
          </p:cNvPr>
          <p:cNvGrpSpPr/>
          <p:nvPr/>
        </p:nvGrpSpPr>
        <p:grpSpPr>
          <a:xfrm>
            <a:off x="226218" y="1733927"/>
            <a:ext cx="2518287" cy="3732357"/>
            <a:chOff x="952500" y="1723424"/>
            <a:chExt cx="2518287" cy="3732357"/>
          </a:xfrm>
        </p:grpSpPr>
        <p:grpSp>
          <p:nvGrpSpPr>
            <p:cNvPr id="35" name="Группа 34">
              <a:extLst>
                <a:ext uri="{FF2B5EF4-FFF2-40B4-BE49-F238E27FC236}">
                  <a16:creationId xmlns:a16="http://schemas.microsoft.com/office/drawing/2014/main" id="{E3169C10-CA12-291D-CBD4-2F177882C89D}"/>
                </a:ext>
              </a:extLst>
            </p:cNvPr>
            <p:cNvGrpSpPr/>
            <p:nvPr/>
          </p:nvGrpSpPr>
          <p:grpSpPr>
            <a:xfrm>
              <a:off x="952500" y="1723424"/>
              <a:ext cx="2518287" cy="3732357"/>
              <a:chOff x="1041394" y="1667282"/>
              <a:chExt cx="3156980" cy="3732357"/>
            </a:xfrm>
          </p:grpSpPr>
          <p:sp>
            <p:nvSpPr>
              <p:cNvPr id="36" name="Прямоугольник: скругленные углы 35">
                <a:extLst>
                  <a:ext uri="{FF2B5EF4-FFF2-40B4-BE49-F238E27FC236}">
                    <a16:creationId xmlns:a16="http://schemas.microsoft.com/office/drawing/2014/main" id="{B6F1861F-5083-0700-2D25-599413660F3C}"/>
                  </a:ext>
                </a:extLst>
              </p:cNvPr>
              <p:cNvSpPr/>
              <p:nvPr/>
            </p:nvSpPr>
            <p:spPr>
              <a:xfrm>
                <a:off x="1041394" y="1667282"/>
                <a:ext cx="3156980" cy="3732357"/>
              </a:xfrm>
              <a:prstGeom prst="roundRect">
                <a:avLst>
                  <a:gd name="adj" fmla="val 4689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AE0352C-BA42-4CC9-10B1-08DA098C4611}"/>
                  </a:ext>
                </a:extLst>
              </p:cNvPr>
              <p:cNvSpPr txBox="1"/>
              <p:nvPr/>
            </p:nvSpPr>
            <p:spPr>
              <a:xfrm>
                <a:off x="1041394" y="4412577"/>
                <a:ext cx="315698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dirty="0">
                    <a:latin typeface="Comfortaa Medium" pitchFamily="2" charset="0"/>
                  </a:rPr>
                  <a:t>Скорость работы с данным</a:t>
                </a:r>
              </a:p>
            </p:txBody>
          </p:sp>
        </p:grpSp>
        <p:pic>
          <p:nvPicPr>
            <p:cNvPr id="43" name="Picture 4" descr="Максимальная скорость – Бесплатные иконки:">
              <a:extLst>
                <a:ext uri="{FF2B5EF4-FFF2-40B4-BE49-F238E27FC236}">
                  <a16:creationId xmlns:a16="http://schemas.microsoft.com/office/drawing/2014/main" id="{B90749CF-5A1E-B9BC-B6EB-1320F2FA94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6069" y="2319232"/>
              <a:ext cx="1691148" cy="16911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3" name="Группа 52">
            <a:extLst>
              <a:ext uri="{FF2B5EF4-FFF2-40B4-BE49-F238E27FC236}">
                <a16:creationId xmlns:a16="http://schemas.microsoft.com/office/drawing/2014/main" id="{7DB1BE3D-E594-4CB9-64FE-403FE1860352}"/>
              </a:ext>
            </a:extLst>
          </p:cNvPr>
          <p:cNvGrpSpPr/>
          <p:nvPr/>
        </p:nvGrpSpPr>
        <p:grpSpPr>
          <a:xfrm>
            <a:off x="3234824" y="1733927"/>
            <a:ext cx="2668883" cy="3732357"/>
            <a:chOff x="3729944" y="1719321"/>
            <a:chExt cx="2668883" cy="3732357"/>
          </a:xfrm>
        </p:grpSpPr>
        <p:grpSp>
          <p:nvGrpSpPr>
            <p:cNvPr id="32" name="Группа 31">
              <a:extLst>
                <a:ext uri="{FF2B5EF4-FFF2-40B4-BE49-F238E27FC236}">
                  <a16:creationId xmlns:a16="http://schemas.microsoft.com/office/drawing/2014/main" id="{561B926A-111A-C405-BDA2-7E41806723C8}"/>
                </a:ext>
              </a:extLst>
            </p:cNvPr>
            <p:cNvGrpSpPr/>
            <p:nvPr/>
          </p:nvGrpSpPr>
          <p:grpSpPr>
            <a:xfrm>
              <a:off x="3729944" y="1719321"/>
              <a:ext cx="2668883" cy="3732357"/>
              <a:chOff x="1041394" y="1667282"/>
              <a:chExt cx="3156980" cy="3732357"/>
            </a:xfrm>
          </p:grpSpPr>
          <p:sp>
            <p:nvSpPr>
              <p:cNvPr id="33" name="Прямоугольник: скругленные углы 32">
                <a:extLst>
                  <a:ext uri="{FF2B5EF4-FFF2-40B4-BE49-F238E27FC236}">
                    <a16:creationId xmlns:a16="http://schemas.microsoft.com/office/drawing/2014/main" id="{DDEBCA52-EAA7-E1EC-6E91-B19882DB1F7B}"/>
                  </a:ext>
                </a:extLst>
              </p:cNvPr>
              <p:cNvSpPr/>
              <p:nvPr/>
            </p:nvSpPr>
            <p:spPr>
              <a:xfrm>
                <a:off x="1041394" y="1667282"/>
                <a:ext cx="3156980" cy="3732357"/>
              </a:xfrm>
              <a:prstGeom prst="roundRect">
                <a:avLst>
                  <a:gd name="adj" fmla="val 4689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05B4375-81D1-80A6-4372-F5FD97576521}"/>
                  </a:ext>
                </a:extLst>
              </p:cNvPr>
              <p:cNvSpPr txBox="1"/>
              <p:nvPr/>
            </p:nvSpPr>
            <p:spPr>
              <a:xfrm>
                <a:off x="1041394" y="4429331"/>
                <a:ext cx="315698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dirty="0">
                    <a:latin typeface="Comfortaa Medium" pitchFamily="2" charset="0"/>
                  </a:rPr>
                  <a:t>Контроль над всей структурой</a:t>
                </a:r>
              </a:p>
            </p:txBody>
          </p:sp>
        </p:grpSp>
        <p:pic>
          <p:nvPicPr>
            <p:cNvPr id="45" name="Picture 6" descr="Пнг Проверка 27 фото">
              <a:extLst>
                <a:ext uri="{FF2B5EF4-FFF2-40B4-BE49-F238E27FC236}">
                  <a16:creationId xmlns:a16="http://schemas.microsoft.com/office/drawing/2014/main" id="{9F18291D-E2C3-239D-CBFE-C60703029C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84090" y="2284511"/>
              <a:ext cx="1760590" cy="17605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2" name="Группа 51">
            <a:extLst>
              <a:ext uri="{FF2B5EF4-FFF2-40B4-BE49-F238E27FC236}">
                <a16:creationId xmlns:a16="http://schemas.microsoft.com/office/drawing/2014/main" id="{9944D1C2-5A77-4EE5-936D-CC91B844D1DE}"/>
              </a:ext>
            </a:extLst>
          </p:cNvPr>
          <p:cNvGrpSpPr/>
          <p:nvPr/>
        </p:nvGrpSpPr>
        <p:grpSpPr>
          <a:xfrm>
            <a:off x="6394026" y="1733927"/>
            <a:ext cx="2544097" cy="3732357"/>
            <a:chOff x="6657984" y="1717270"/>
            <a:chExt cx="2544097" cy="3732357"/>
          </a:xfrm>
        </p:grpSpPr>
        <p:grpSp>
          <p:nvGrpSpPr>
            <p:cNvPr id="28" name="Группа 27">
              <a:extLst>
                <a:ext uri="{FF2B5EF4-FFF2-40B4-BE49-F238E27FC236}">
                  <a16:creationId xmlns:a16="http://schemas.microsoft.com/office/drawing/2014/main" id="{C56951AD-4FEF-31EF-20E3-443AF3A31A7D}"/>
                </a:ext>
              </a:extLst>
            </p:cNvPr>
            <p:cNvGrpSpPr/>
            <p:nvPr/>
          </p:nvGrpSpPr>
          <p:grpSpPr>
            <a:xfrm>
              <a:off x="6657984" y="1717270"/>
              <a:ext cx="2544097" cy="3732357"/>
              <a:chOff x="1041394" y="1667282"/>
              <a:chExt cx="3156980" cy="3732357"/>
            </a:xfrm>
          </p:grpSpPr>
          <p:sp>
            <p:nvSpPr>
              <p:cNvPr id="29" name="Прямоугольник: скругленные углы 28">
                <a:extLst>
                  <a:ext uri="{FF2B5EF4-FFF2-40B4-BE49-F238E27FC236}">
                    <a16:creationId xmlns:a16="http://schemas.microsoft.com/office/drawing/2014/main" id="{9CCD54FC-01B4-DA7C-0B0D-C24CFC60A382}"/>
                  </a:ext>
                </a:extLst>
              </p:cNvPr>
              <p:cNvSpPr/>
              <p:nvPr/>
            </p:nvSpPr>
            <p:spPr>
              <a:xfrm>
                <a:off x="1041394" y="1667282"/>
                <a:ext cx="3156980" cy="3732357"/>
              </a:xfrm>
              <a:prstGeom prst="roundRect">
                <a:avLst>
                  <a:gd name="adj" fmla="val 4689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39969A3-1104-B7DA-0ACB-E9D642977611}"/>
                  </a:ext>
                </a:extLst>
              </p:cNvPr>
              <p:cNvSpPr txBox="1"/>
              <p:nvPr/>
            </p:nvSpPr>
            <p:spPr>
              <a:xfrm>
                <a:off x="1041394" y="4418731"/>
                <a:ext cx="312495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dirty="0">
                    <a:latin typeface="Comfortaa Medium" pitchFamily="2" charset="0"/>
                  </a:rPr>
                  <a:t>Расширение системы</a:t>
                </a:r>
              </a:p>
            </p:txBody>
          </p:sp>
        </p:grpSp>
        <p:pic>
          <p:nvPicPr>
            <p:cNvPr id="4108" name="Picture 12" descr="Значок расширения Символ вектора расширения Простой черный значок  увеличения | Премиум вектор">
              <a:extLst>
                <a:ext uri="{FF2B5EF4-FFF2-40B4-BE49-F238E27FC236}">
                  <a16:creationId xmlns:a16="http://schemas.microsoft.com/office/drawing/2014/main" id="{D2676F6E-FE8E-4681-A7BF-2E50725396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95706" y="2230480"/>
              <a:ext cx="1868652" cy="18686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11A99480-9063-F93E-9C84-EE15662BE76B}"/>
              </a:ext>
            </a:extLst>
          </p:cNvPr>
          <p:cNvGrpSpPr/>
          <p:nvPr/>
        </p:nvGrpSpPr>
        <p:grpSpPr>
          <a:xfrm>
            <a:off x="9428443" y="1733927"/>
            <a:ext cx="2518287" cy="3732357"/>
            <a:chOff x="9461237" y="1721372"/>
            <a:chExt cx="2518287" cy="3732357"/>
          </a:xfrm>
        </p:grpSpPr>
        <p:grpSp>
          <p:nvGrpSpPr>
            <p:cNvPr id="40" name="Группа 39">
              <a:extLst>
                <a:ext uri="{FF2B5EF4-FFF2-40B4-BE49-F238E27FC236}">
                  <a16:creationId xmlns:a16="http://schemas.microsoft.com/office/drawing/2014/main" id="{2B2FB407-8656-C708-9628-EDB011C815FE}"/>
                </a:ext>
              </a:extLst>
            </p:cNvPr>
            <p:cNvGrpSpPr/>
            <p:nvPr/>
          </p:nvGrpSpPr>
          <p:grpSpPr>
            <a:xfrm>
              <a:off x="9461237" y="1721372"/>
              <a:ext cx="2518287" cy="3732357"/>
              <a:chOff x="1041394" y="1667282"/>
              <a:chExt cx="3156980" cy="3732357"/>
            </a:xfrm>
          </p:grpSpPr>
          <p:sp>
            <p:nvSpPr>
              <p:cNvPr id="41" name="Прямоугольник: скругленные углы 40">
                <a:extLst>
                  <a:ext uri="{FF2B5EF4-FFF2-40B4-BE49-F238E27FC236}">
                    <a16:creationId xmlns:a16="http://schemas.microsoft.com/office/drawing/2014/main" id="{B95AF9D4-EDC3-59ED-A483-A44010E06A68}"/>
                  </a:ext>
                </a:extLst>
              </p:cNvPr>
              <p:cNvSpPr/>
              <p:nvPr/>
            </p:nvSpPr>
            <p:spPr>
              <a:xfrm>
                <a:off x="1041394" y="1667282"/>
                <a:ext cx="3156980" cy="3732357"/>
              </a:xfrm>
              <a:prstGeom prst="roundRect">
                <a:avLst>
                  <a:gd name="adj" fmla="val 4689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C2C9C01-DA66-3821-6207-B0D5B9E482D1}"/>
                  </a:ext>
                </a:extLst>
              </p:cNvPr>
              <p:cNvSpPr txBox="1"/>
              <p:nvPr/>
            </p:nvSpPr>
            <p:spPr>
              <a:xfrm>
                <a:off x="1041394" y="4418731"/>
                <a:ext cx="315698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dirty="0">
                    <a:latin typeface="Comfortaa Medium" pitchFamily="2" charset="0"/>
                  </a:rPr>
                  <a:t>Использование не вставая со стула</a:t>
                </a:r>
              </a:p>
            </p:txBody>
          </p:sp>
        </p:grpSp>
        <p:pic>
          <p:nvPicPr>
            <p:cNvPr id="50" name="Picture 22" descr="Диван – Бесплатные иконки: мебель и дом">
              <a:extLst>
                <a:ext uri="{FF2B5EF4-FFF2-40B4-BE49-F238E27FC236}">
                  <a16:creationId xmlns:a16="http://schemas.microsoft.com/office/drawing/2014/main" id="{AA8D93C2-9AFF-9532-825A-F97EAD03F0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52220" y="2196646"/>
              <a:ext cx="1936320" cy="19363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B1400B5B-BF04-529A-07A2-98B964B6BD30}"/>
              </a:ext>
            </a:extLst>
          </p:cNvPr>
          <p:cNvGrpSpPr/>
          <p:nvPr/>
        </p:nvGrpSpPr>
        <p:grpSpPr>
          <a:xfrm>
            <a:off x="226218" y="192416"/>
            <a:ext cx="11720513" cy="786262"/>
            <a:chOff x="226218" y="192416"/>
            <a:chExt cx="11720513" cy="786262"/>
          </a:xfrm>
        </p:grpSpPr>
        <p:sp>
          <p:nvSpPr>
            <p:cNvPr id="5" name="Прямоугольник: скругленные углы 4">
              <a:extLst>
                <a:ext uri="{FF2B5EF4-FFF2-40B4-BE49-F238E27FC236}">
                  <a16:creationId xmlns:a16="http://schemas.microsoft.com/office/drawing/2014/main" id="{EF70C588-3357-CFA7-E443-276B3DE8372F}"/>
                </a:ext>
              </a:extLst>
            </p:cNvPr>
            <p:cNvSpPr/>
            <p:nvPr/>
          </p:nvSpPr>
          <p:spPr>
            <a:xfrm>
              <a:off x="226218" y="192416"/>
              <a:ext cx="11720513" cy="786262"/>
            </a:xfrm>
            <a:prstGeom prst="roundRect">
              <a:avLst>
                <a:gd name="adj" fmla="val 23264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BB18E94-97F6-4852-2CDB-A8074C3C5B49}"/>
                </a:ext>
              </a:extLst>
            </p:cNvPr>
            <p:cNvSpPr txBox="1"/>
            <p:nvPr/>
          </p:nvSpPr>
          <p:spPr>
            <a:xfrm>
              <a:off x="11029949" y="323937"/>
              <a:ext cx="91678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2800" dirty="0">
                  <a:latin typeface="Comfortaa Medium" pitchFamily="2" charset="0"/>
                </a:rPr>
                <a:t>6/7</a:t>
              </a:r>
            </a:p>
          </p:txBody>
        </p:sp>
        <p:sp>
          <p:nvSpPr>
            <p:cNvPr id="7" name="Заголовок 1">
              <a:extLst>
                <a:ext uri="{FF2B5EF4-FFF2-40B4-BE49-F238E27FC236}">
                  <a16:creationId xmlns:a16="http://schemas.microsoft.com/office/drawing/2014/main" id="{810B90D4-E213-A2D7-2CA9-E39969DD2C60}"/>
                </a:ext>
              </a:extLst>
            </p:cNvPr>
            <p:cNvSpPr txBox="1">
              <a:spLocks/>
            </p:cNvSpPr>
            <p:nvPr/>
          </p:nvSpPr>
          <p:spPr>
            <a:xfrm>
              <a:off x="278606" y="330766"/>
              <a:ext cx="10751342" cy="509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ru-RU" sz="3200" dirty="0">
                  <a:latin typeface="Comfortaa Medium" pitchFamily="2" charset="0"/>
                </a:rPr>
                <a:t>Преимущества проекта</a:t>
              </a:r>
            </a:p>
          </p:txBody>
        </p:sp>
      </p:grp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B1A990C-B6EE-BA54-FF0B-DF8215F493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3573" y="6690671"/>
            <a:ext cx="12195573" cy="167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D07D587-D26A-6299-C04F-A7B2BE86AB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3574" y="6690670"/>
            <a:ext cx="10157667" cy="167331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5004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1C3C3-0077-AE1D-E5AC-241A664FF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4B137328-195C-C343-7370-C4A755526655}"/>
              </a:ext>
            </a:extLst>
          </p:cNvPr>
          <p:cNvGrpSpPr/>
          <p:nvPr/>
        </p:nvGrpSpPr>
        <p:grpSpPr>
          <a:xfrm>
            <a:off x="660400" y="1841122"/>
            <a:ext cx="4660150" cy="3175755"/>
            <a:chOff x="2341062" y="2335789"/>
            <a:chExt cx="3121184" cy="1466727"/>
          </a:xfrm>
        </p:grpSpPr>
        <p:sp>
          <p:nvSpPr>
            <p:cNvPr id="4" name="Прямоугольник: скругленные углы 3">
              <a:extLst>
                <a:ext uri="{FF2B5EF4-FFF2-40B4-BE49-F238E27FC236}">
                  <a16:creationId xmlns:a16="http://schemas.microsoft.com/office/drawing/2014/main" id="{2EBD1A73-8D4A-E3F6-00E3-78341FF8385F}"/>
                </a:ext>
              </a:extLst>
            </p:cNvPr>
            <p:cNvSpPr/>
            <p:nvPr/>
          </p:nvSpPr>
          <p:spPr>
            <a:xfrm>
              <a:off x="2341062" y="2335789"/>
              <a:ext cx="3121184" cy="1466727"/>
            </a:xfrm>
            <a:prstGeom prst="roundRect">
              <a:avLst>
                <a:gd name="adj" fmla="val 4689"/>
              </a:avLst>
            </a:prstGeom>
            <a:solidFill>
              <a:schemeClr val="bg1"/>
            </a:solidFill>
            <a:ln>
              <a:solidFill>
                <a:srgbClr val="FFA72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9B5968C-50DC-1C00-843C-0492E03E7144}"/>
                </a:ext>
              </a:extLst>
            </p:cNvPr>
            <p:cNvSpPr txBox="1"/>
            <p:nvPr/>
          </p:nvSpPr>
          <p:spPr>
            <a:xfrm>
              <a:off x="2341062" y="2781678"/>
              <a:ext cx="2883160" cy="554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400" b="0" i="0" u="none" strike="noStrike" cap="none" dirty="0">
                  <a:solidFill>
                    <a:srgbClr val="0E0E0E"/>
                  </a:solidFill>
                  <a:latin typeface="Comfortaa Medium" pitchFamily="2" charset="0"/>
                  <a:ea typeface="Poppins"/>
                  <a:cs typeface="Poppins"/>
                  <a:sym typeface="Poppins"/>
                </a:rPr>
                <a:t>Поставленная цель достигнута, задачи выполнены </a:t>
              </a:r>
              <a:endParaRPr lang="ru-RU" sz="2400" b="0" i="0" u="none" strike="noStrike" cap="none" dirty="0">
                <a:solidFill>
                  <a:schemeClr val="dk1"/>
                </a:solidFill>
                <a:latin typeface="Comfortaa Medium" pitchFamily="2" charset="0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" name="Picture 4" descr="Скачать картинки Куча бумаг, стоковые фото Куча бумаг в ...">
            <a:extLst>
              <a:ext uri="{FF2B5EF4-FFF2-40B4-BE49-F238E27FC236}">
                <a16:creationId xmlns:a16="http://schemas.microsoft.com/office/drawing/2014/main" id="{540B2C80-8D04-FB8B-4928-983FE16B08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80912" y1="32432" x2="75169" y2="20120"/>
                        <a14:foregroundMark x1="75169" y1="20120" x2="84122" y2="23423"/>
                        <a14:foregroundMark x1="88851" y1="15015" x2="80236" y2="14715"/>
                        <a14:foregroundMark x1="72128" y1="85886" x2="86149" y2="89189"/>
                        <a14:foregroundMark x1="86149" y1="89189" x2="88682" y2="87387"/>
                        <a14:foregroundMark x1="58446" y1="88589" x2="58108" y2="42643"/>
                        <a14:foregroundMark x1="58108" y1="42643" x2="44595" y2="40841"/>
                        <a14:foregroundMark x1="44595" y1="40841" x2="40114" y2="55131"/>
                        <a14:foregroundMark x1="39311" y1="64993" x2="40034" y2="74174"/>
                        <a14:foregroundMark x1="40034" y1="74174" x2="55574" y2="88889"/>
                        <a14:foregroundMark x1="55574" y1="88889" x2="58615" y2="89189"/>
                        <a14:foregroundMark x1="9966" y1="68168" x2="24324" y2="68468"/>
                        <a14:foregroundMark x1="24324" y1="68468" x2="27365" y2="86486"/>
                        <a14:foregroundMark x1="27365" y1="86486" x2="16723" y2="86186"/>
                        <a14:foregroundMark x1="16723" y1="86186" x2="10473" y2="74775"/>
                        <a14:foregroundMark x1="10473" y1="74775" x2="10642" y2="70270"/>
                        <a14:backgroundMark x1="39020" y1="54955" x2="38514" y2="6486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022" t="10350" r="8680" b="7103"/>
          <a:stretch>
            <a:fillRect/>
          </a:stretch>
        </p:blipFill>
        <p:spPr bwMode="auto">
          <a:xfrm flipH="1">
            <a:off x="6095022" y="1841122"/>
            <a:ext cx="5525585" cy="3131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Стрелка: вправо 7">
            <a:extLst>
              <a:ext uri="{FF2B5EF4-FFF2-40B4-BE49-F238E27FC236}">
                <a16:creationId xmlns:a16="http://schemas.microsoft.com/office/drawing/2014/main" id="{AC877CA2-9573-9DE1-22A3-0618212CB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5022" y="5016877"/>
            <a:ext cx="5525585" cy="167330"/>
          </a:xfrm>
          <a:prstGeom prst="rightArrow">
            <a:avLst>
              <a:gd name="adj1" fmla="val 50000"/>
              <a:gd name="adj2" fmla="val 150859"/>
            </a:avLst>
          </a:prstGeom>
          <a:solidFill>
            <a:srgbClr val="FFA72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88A7BF2E-790A-F510-F236-7D79B6402F5D}"/>
              </a:ext>
            </a:extLst>
          </p:cNvPr>
          <p:cNvGrpSpPr/>
          <p:nvPr/>
        </p:nvGrpSpPr>
        <p:grpSpPr>
          <a:xfrm>
            <a:off x="226218" y="192416"/>
            <a:ext cx="11720513" cy="786262"/>
            <a:chOff x="226218" y="192416"/>
            <a:chExt cx="11720513" cy="786262"/>
          </a:xfrm>
        </p:grpSpPr>
        <p:sp>
          <p:nvSpPr>
            <p:cNvPr id="10" name="Прямоугольник: скругленные углы 9">
              <a:extLst>
                <a:ext uri="{FF2B5EF4-FFF2-40B4-BE49-F238E27FC236}">
                  <a16:creationId xmlns:a16="http://schemas.microsoft.com/office/drawing/2014/main" id="{2D8D914D-C4B6-0FC4-B6B9-5765BC26FFC0}"/>
                </a:ext>
              </a:extLst>
            </p:cNvPr>
            <p:cNvSpPr/>
            <p:nvPr/>
          </p:nvSpPr>
          <p:spPr>
            <a:xfrm>
              <a:off x="226218" y="192416"/>
              <a:ext cx="11720513" cy="786262"/>
            </a:xfrm>
            <a:prstGeom prst="roundRect">
              <a:avLst>
                <a:gd name="adj" fmla="val 23264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ED19A6A-8ABB-8ACE-9892-388EC433BD21}"/>
                </a:ext>
              </a:extLst>
            </p:cNvPr>
            <p:cNvSpPr txBox="1"/>
            <p:nvPr/>
          </p:nvSpPr>
          <p:spPr>
            <a:xfrm>
              <a:off x="11029949" y="323937"/>
              <a:ext cx="91678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2800" dirty="0">
                  <a:latin typeface="Comfortaa Medium" pitchFamily="2" charset="0"/>
                </a:rPr>
                <a:t>7/7</a:t>
              </a:r>
            </a:p>
          </p:txBody>
        </p:sp>
        <p:sp>
          <p:nvSpPr>
            <p:cNvPr id="12" name="Заголовок 1">
              <a:extLst>
                <a:ext uri="{FF2B5EF4-FFF2-40B4-BE49-F238E27FC236}">
                  <a16:creationId xmlns:a16="http://schemas.microsoft.com/office/drawing/2014/main" id="{BA0F8505-DDA2-4D60-22AC-741908CC2AD8}"/>
                </a:ext>
              </a:extLst>
            </p:cNvPr>
            <p:cNvSpPr txBox="1">
              <a:spLocks/>
            </p:cNvSpPr>
            <p:nvPr/>
          </p:nvSpPr>
          <p:spPr>
            <a:xfrm>
              <a:off x="278606" y="330766"/>
              <a:ext cx="10751342" cy="509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ru-RU" sz="3200" dirty="0">
                  <a:latin typeface="Comfortaa Medium" pitchFamily="2" charset="0"/>
                </a:rPr>
                <a:t>Заключение</a:t>
              </a:r>
            </a:p>
          </p:txBody>
        </p:sp>
      </p:grp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E866EB0-EE3B-07CB-77D9-18C143E19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3573" y="6690671"/>
            <a:ext cx="12195573" cy="167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7A8FC8B-F0BE-5ECB-83D4-CEA864E6C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3573" y="6690669"/>
            <a:ext cx="12195573" cy="167331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9020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7DCCA-A732-F6D6-E0E1-3065A9479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Овал 50">
            <a:extLst>
              <a:ext uri="{FF2B5EF4-FFF2-40B4-BE49-F238E27FC236}">
                <a16:creationId xmlns:a16="http://schemas.microsoft.com/office/drawing/2014/main" id="{EB5D8D7E-5B94-A65A-91F4-3E34818AF3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99844" y="4117310"/>
            <a:ext cx="5481380" cy="548138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Овал 48">
            <a:extLst>
              <a:ext uri="{FF2B5EF4-FFF2-40B4-BE49-F238E27FC236}">
                <a16:creationId xmlns:a16="http://schemas.microsoft.com/office/drawing/2014/main" id="{0E80C329-C34F-5FC1-07CE-CA1E5B2A8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4296229" y="-3528572"/>
            <a:ext cx="8076071" cy="798566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94C663-28C4-4E06-1E87-EB1C5CF5F5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9842" y="0"/>
            <a:ext cx="8412158" cy="1789967"/>
          </a:xfrm>
        </p:spPr>
        <p:txBody>
          <a:bodyPr>
            <a:noAutofit/>
          </a:bodyPr>
          <a:lstStyle/>
          <a:p>
            <a:r>
              <a:rPr lang="ru-RU" sz="1400" dirty="0">
                <a:latin typeface="Comfortaa Medium" pitchFamily="2" charset="0"/>
              </a:rPr>
              <a:t>ФЕДЕРАЛЬНОЕ ГОСУДАРСТВЕННОЕ БЮДЖЕТНОЕ ОБРАЗОВАТЕЛЬНОЕ</a:t>
            </a:r>
            <a:br>
              <a:rPr lang="ru-RU" sz="1400" dirty="0">
                <a:latin typeface="Comfortaa Medium" pitchFamily="2" charset="0"/>
              </a:rPr>
            </a:br>
            <a:r>
              <a:rPr lang="ru-RU" sz="1400" dirty="0">
                <a:latin typeface="Comfortaa Medium" pitchFamily="2" charset="0"/>
              </a:rPr>
              <a:t>УЧРЕЖДЕНИЕ ВЫСШЕГО ОБРАЗОВАНИЯ</a:t>
            </a:r>
            <a:br>
              <a:rPr lang="ru-RU" sz="1400" dirty="0">
                <a:latin typeface="Comfortaa Medium" pitchFamily="2" charset="0"/>
              </a:rPr>
            </a:br>
            <a:r>
              <a:rPr lang="ru-RU" sz="1400" dirty="0">
                <a:latin typeface="Comfortaa Medium" pitchFamily="2" charset="0"/>
              </a:rPr>
              <a:t>«САНКТ-ПЕТЕРБУРГСКИЙ ГОСУДАРСТВЕННЫЙ УНИВЕРСИТЕТ</a:t>
            </a:r>
            <a:br>
              <a:rPr lang="ru-RU" sz="1400" dirty="0">
                <a:latin typeface="Comfortaa Medium" pitchFamily="2" charset="0"/>
              </a:rPr>
            </a:br>
            <a:r>
              <a:rPr lang="ru-RU" sz="1400" dirty="0">
                <a:latin typeface="Comfortaa Medium" pitchFamily="2" charset="0"/>
              </a:rPr>
              <a:t>ТЕЛЕКОММУНИКАЦИЙ ИМ. ПРОФ. М.А. БОНЧ-БРУЕВИЧА»</a:t>
            </a:r>
            <a:br>
              <a:rPr lang="ru-RU" sz="1400" dirty="0">
                <a:latin typeface="Comfortaa Medium" pitchFamily="2" charset="0"/>
              </a:rPr>
            </a:br>
            <a:r>
              <a:rPr lang="ru-RU" sz="1400" dirty="0">
                <a:latin typeface="Comfortaa Medium" pitchFamily="2" charset="0"/>
              </a:rPr>
              <a:t>(СПбГУТ)</a:t>
            </a:r>
            <a:br>
              <a:rPr lang="ru-RU" sz="1400" dirty="0">
                <a:latin typeface="Comfortaa Medium" pitchFamily="2" charset="0"/>
              </a:rPr>
            </a:br>
            <a:r>
              <a:rPr lang="ru-RU" sz="1400" dirty="0">
                <a:latin typeface="Comfortaa Medium" pitchFamily="2" charset="0"/>
              </a:rPr>
              <a:t>АРХАНГЕЛЬСКИЙ КОЛЛЕДЖ ТЕЛЕКОММУНИКАЦИЙ</a:t>
            </a:r>
            <a:br>
              <a:rPr lang="ru-RU" sz="1400" dirty="0">
                <a:latin typeface="Comfortaa Medium" pitchFamily="2" charset="0"/>
              </a:rPr>
            </a:br>
            <a:r>
              <a:rPr lang="ru-RU" sz="1400" dirty="0">
                <a:latin typeface="Comfortaa Medium" pitchFamily="2" charset="0"/>
              </a:rPr>
              <a:t>ИМ. Б.Л. РОЗИНГА (ФИЛИАЛ) СПбГУТ</a:t>
            </a:r>
            <a:br>
              <a:rPr lang="ru-RU" sz="1400" dirty="0">
                <a:latin typeface="Comfortaa Medium" pitchFamily="2" charset="0"/>
              </a:rPr>
            </a:br>
            <a:r>
              <a:rPr lang="ru-RU" sz="1400" dirty="0">
                <a:latin typeface="Comfortaa Medium" pitchFamily="2" charset="0"/>
              </a:rPr>
              <a:t>(АКТ (ф) СПбГУТ)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8E5B68-5C47-188C-8F2B-1902ED1303C9}"/>
              </a:ext>
            </a:extLst>
          </p:cNvPr>
          <p:cNvSpPr txBox="1"/>
          <p:nvPr/>
        </p:nvSpPr>
        <p:spPr>
          <a:xfrm>
            <a:off x="161921" y="6254515"/>
            <a:ext cx="11814238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rgbClr val="0A0A0A"/>
                </a:solidFill>
                <a:latin typeface="Comfortaa Medium" pitchFamily="2" charset="0"/>
              </a:rPr>
              <a:t>Архангельск 2026</a:t>
            </a:r>
          </a:p>
        </p:txBody>
      </p:sp>
      <p:grpSp>
        <p:nvGrpSpPr>
          <p:cNvPr id="45" name="Группа 44">
            <a:extLst>
              <a:ext uri="{FF2B5EF4-FFF2-40B4-BE49-F238E27FC236}">
                <a16:creationId xmlns:a16="http://schemas.microsoft.com/office/drawing/2014/main" id="{8BCB34FA-48EF-F2B0-DD89-4371F2735D86}"/>
              </a:ext>
            </a:extLst>
          </p:cNvPr>
          <p:cNvGrpSpPr/>
          <p:nvPr/>
        </p:nvGrpSpPr>
        <p:grpSpPr>
          <a:xfrm>
            <a:off x="396683" y="4447382"/>
            <a:ext cx="7445845" cy="646331"/>
            <a:chOff x="302493" y="3951615"/>
            <a:chExt cx="7445845" cy="64633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95F1BD7-E86C-19F6-0008-B9C939D1AE1C}"/>
                </a:ext>
              </a:extLst>
            </p:cNvPr>
            <p:cNvSpPr txBox="1"/>
            <p:nvPr/>
          </p:nvSpPr>
          <p:spPr>
            <a:xfrm>
              <a:off x="1057275" y="3951615"/>
              <a:ext cx="669106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dirty="0">
                  <a:latin typeface="Comfortaa Medium" pitchFamily="2" charset="0"/>
                </a:rPr>
                <a:t>Екимов Вячеслав Андреевич</a:t>
              </a:r>
            </a:p>
            <a:p>
              <a:r>
                <a:rPr lang="ru-RU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mfortaa Medium" pitchFamily="2" charset="0"/>
                </a:rPr>
                <a:t>Дипломник</a:t>
              </a:r>
              <a:endParaRPr lang="en-US" dirty="0">
                <a:latin typeface="Comfortaa Medium" pitchFamily="2" charset="0"/>
              </a:endParaRPr>
            </a:p>
          </p:txBody>
        </p:sp>
        <p:grpSp>
          <p:nvGrpSpPr>
            <p:cNvPr id="33" name="Группа 32">
              <a:extLst>
                <a:ext uri="{FF2B5EF4-FFF2-40B4-BE49-F238E27FC236}">
                  <a16:creationId xmlns:a16="http://schemas.microsoft.com/office/drawing/2014/main" id="{D8C1B28C-CC0F-1014-53F0-3896B359D7B0}"/>
                </a:ext>
              </a:extLst>
            </p:cNvPr>
            <p:cNvGrpSpPr/>
            <p:nvPr/>
          </p:nvGrpSpPr>
          <p:grpSpPr>
            <a:xfrm>
              <a:off x="302493" y="3992823"/>
              <a:ext cx="656149" cy="558787"/>
              <a:chOff x="1169726" y="3999274"/>
              <a:chExt cx="656149" cy="558787"/>
            </a:xfrm>
          </p:grpSpPr>
          <p:sp>
            <p:nvSpPr>
              <p:cNvPr id="14" name="Овал 13">
                <a:extLst>
                  <a:ext uri="{FF2B5EF4-FFF2-40B4-BE49-F238E27FC236}">
                    <a16:creationId xmlns:a16="http://schemas.microsoft.com/office/drawing/2014/main" id="{1EE4B3A3-447D-419C-D0F3-04ADCC147D60}"/>
                  </a:ext>
                </a:extLst>
              </p:cNvPr>
              <p:cNvSpPr/>
              <p:nvPr/>
            </p:nvSpPr>
            <p:spPr>
              <a:xfrm>
                <a:off x="1217679" y="3999274"/>
                <a:ext cx="560244" cy="558787"/>
              </a:xfrm>
              <a:prstGeom prst="ellipse">
                <a:avLst/>
              </a:prstGeom>
              <a:solidFill>
                <a:srgbClr val="F7941D"/>
              </a:solidFill>
              <a:ln>
                <a:solidFill>
                  <a:srgbClr val="F7941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400" dirty="0">
                  <a:latin typeface="Bahnschrift" panose="020B0502040204020203" pitchFamily="34" charset="0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6EC5727-F607-8DB7-3D80-D13A29A1E57D}"/>
                  </a:ext>
                </a:extLst>
              </p:cNvPr>
              <p:cNvSpPr txBox="1"/>
              <p:nvPr/>
            </p:nvSpPr>
            <p:spPr>
              <a:xfrm>
                <a:off x="1169726" y="4114784"/>
                <a:ext cx="65614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Comfortaa Medium" pitchFamily="2" charset="0"/>
                  </a:rPr>
                  <a:t>ЕВ</a:t>
                </a:r>
                <a:endParaRPr lang="ru-RU" dirty="0">
                  <a:solidFill>
                    <a:schemeClr val="bg1"/>
                  </a:solidFill>
                  <a:latin typeface="Comfortaa Medium" pitchFamily="2" charset="0"/>
                </a:endParaRPr>
              </a:p>
            </p:txBody>
          </p:sp>
        </p:grpSp>
      </p:grp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AC52221F-8A97-67C5-9963-BC12EA8A4E5E}"/>
              </a:ext>
            </a:extLst>
          </p:cNvPr>
          <p:cNvGrpSpPr/>
          <p:nvPr/>
        </p:nvGrpSpPr>
        <p:grpSpPr>
          <a:xfrm>
            <a:off x="396683" y="5314163"/>
            <a:ext cx="7499765" cy="646331"/>
            <a:chOff x="248573" y="5125918"/>
            <a:chExt cx="7499765" cy="646331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B21B07A-FE6B-646D-E115-36221B9C7883}"/>
                </a:ext>
              </a:extLst>
            </p:cNvPr>
            <p:cNvSpPr txBox="1"/>
            <p:nvPr/>
          </p:nvSpPr>
          <p:spPr>
            <a:xfrm>
              <a:off x="1057276" y="5125918"/>
              <a:ext cx="6691062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ru-RU" dirty="0">
                  <a:latin typeface="Comfortaa Medium" pitchFamily="2" charset="0"/>
                </a:rPr>
                <a:t>Маломан Юлия Сергеевна</a:t>
              </a:r>
            </a:p>
            <a:p>
              <a:r>
                <a:rPr lang="ru-RU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mfortaa Medium" pitchFamily="2" charset="0"/>
                </a:rPr>
                <a:t>Руководитель</a:t>
              </a:r>
              <a:endParaRPr lang="en-US" dirty="0">
                <a:latin typeface="Comfortaa Medium" pitchFamily="2" charset="0"/>
              </a:endParaRPr>
            </a:p>
          </p:txBody>
        </p:sp>
        <p:grpSp>
          <p:nvGrpSpPr>
            <p:cNvPr id="31" name="Группа 30">
              <a:extLst>
                <a:ext uri="{FF2B5EF4-FFF2-40B4-BE49-F238E27FC236}">
                  <a16:creationId xmlns:a16="http://schemas.microsoft.com/office/drawing/2014/main" id="{37EAF2DE-2AD3-43EC-DA0C-08F7C97718B6}"/>
                </a:ext>
              </a:extLst>
            </p:cNvPr>
            <p:cNvGrpSpPr/>
            <p:nvPr/>
          </p:nvGrpSpPr>
          <p:grpSpPr>
            <a:xfrm>
              <a:off x="248573" y="5173577"/>
              <a:ext cx="763987" cy="558787"/>
              <a:chOff x="1115612" y="5161951"/>
              <a:chExt cx="763987" cy="558787"/>
            </a:xfrm>
          </p:grpSpPr>
          <p:sp>
            <p:nvSpPr>
              <p:cNvPr id="38" name="Овал 37">
                <a:extLst>
                  <a:ext uri="{FF2B5EF4-FFF2-40B4-BE49-F238E27FC236}">
                    <a16:creationId xmlns:a16="http://schemas.microsoft.com/office/drawing/2014/main" id="{437F7567-76C9-1096-EF85-558391455BA0}"/>
                  </a:ext>
                </a:extLst>
              </p:cNvPr>
              <p:cNvSpPr/>
              <p:nvPr/>
            </p:nvSpPr>
            <p:spPr>
              <a:xfrm>
                <a:off x="1217221" y="5161951"/>
                <a:ext cx="560244" cy="558787"/>
              </a:xfrm>
              <a:prstGeom prst="ellipse">
                <a:avLst/>
              </a:prstGeom>
              <a:solidFill>
                <a:srgbClr val="F7941D"/>
              </a:solidFill>
              <a:ln>
                <a:solidFill>
                  <a:srgbClr val="F7941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400" dirty="0">
                  <a:latin typeface="Bahnschrift" panose="020B0502040204020203" pitchFamily="34" charset="0"/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88AD637-60F3-4706-2F1A-93577B19EF94}"/>
                  </a:ext>
                </a:extLst>
              </p:cNvPr>
              <p:cNvSpPr txBox="1"/>
              <p:nvPr/>
            </p:nvSpPr>
            <p:spPr>
              <a:xfrm>
                <a:off x="1115612" y="5279806"/>
                <a:ext cx="76398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Comfortaa Medium" pitchFamily="2" charset="0"/>
                  </a:rPr>
                  <a:t>МЮ</a:t>
                </a:r>
              </a:p>
            </p:txBody>
          </p:sp>
        </p:grpSp>
      </p:grpSp>
      <p:sp>
        <p:nvSpPr>
          <p:cNvPr id="29" name="Подзаголовок 2">
            <a:extLst>
              <a:ext uri="{FF2B5EF4-FFF2-40B4-BE49-F238E27FC236}">
                <a16:creationId xmlns:a16="http://schemas.microsoft.com/office/drawing/2014/main" id="{292D4361-A972-2010-7E92-40D3304C9445}"/>
              </a:ext>
            </a:extLst>
          </p:cNvPr>
          <p:cNvSpPr txBox="1">
            <a:spLocks/>
          </p:cNvSpPr>
          <p:nvPr/>
        </p:nvSpPr>
        <p:spPr>
          <a:xfrm>
            <a:off x="3581400" y="1894114"/>
            <a:ext cx="8629522" cy="20996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5200" dirty="0">
                <a:latin typeface="Comfortaa Medium" pitchFamily="2" charset="0"/>
              </a:rPr>
              <a:t>ДИПЛОМНЫЙ ПРОЕКТ</a:t>
            </a:r>
          </a:p>
          <a:p>
            <a:pPr algn="l"/>
            <a:r>
              <a:rPr lang="ru-RU" sz="2600" dirty="0">
                <a:latin typeface="Comfortaa Medium" pitchFamily="2" charset="0"/>
              </a:rPr>
              <a:t>РАЗРАБОТКА ИНФОРМАЦИОННЫЙ СИСТЕМЫ </a:t>
            </a:r>
          </a:p>
          <a:p>
            <a:pPr algn="l"/>
            <a:r>
              <a:rPr lang="ru-RU" sz="2600" dirty="0">
                <a:latin typeface="Comfortaa Medium" pitchFamily="2" charset="0"/>
              </a:rPr>
              <a:t>УЧЕТА НОМЕРНОГО ФОНДА ОБЩЕЖИТИЯ</a:t>
            </a:r>
          </a:p>
        </p:txBody>
      </p:sp>
    </p:spTree>
    <p:extLst>
      <p:ext uri="{BB962C8B-B14F-4D97-AF65-F5344CB8AC3E}">
        <p14:creationId xmlns:p14="http://schemas.microsoft.com/office/powerpoint/2010/main" val="3063533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F9701F4-7400-6DA3-5F21-012057544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2C9BB98B-1FB8-0A68-EABA-5E4A2CF3CE86}"/>
              </a:ext>
            </a:extLst>
          </p:cNvPr>
          <p:cNvGrpSpPr/>
          <p:nvPr/>
        </p:nvGrpSpPr>
        <p:grpSpPr>
          <a:xfrm>
            <a:off x="226218" y="192416"/>
            <a:ext cx="11720513" cy="786262"/>
            <a:chOff x="226218" y="192416"/>
            <a:chExt cx="11720513" cy="786262"/>
          </a:xfrm>
        </p:grpSpPr>
        <p:sp>
          <p:nvSpPr>
            <p:cNvPr id="35" name="Прямоугольник: скругленные углы 34">
              <a:extLst>
                <a:ext uri="{FF2B5EF4-FFF2-40B4-BE49-F238E27FC236}">
                  <a16:creationId xmlns:a16="http://schemas.microsoft.com/office/drawing/2014/main" id="{9DF6558D-752F-9E41-2D11-D48AA45499B5}"/>
                </a:ext>
              </a:extLst>
            </p:cNvPr>
            <p:cNvSpPr/>
            <p:nvPr/>
          </p:nvSpPr>
          <p:spPr>
            <a:xfrm>
              <a:off x="226218" y="192416"/>
              <a:ext cx="11720513" cy="786262"/>
            </a:xfrm>
            <a:prstGeom prst="roundRect">
              <a:avLst>
                <a:gd name="adj" fmla="val 23264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456CEC0-3498-A5DF-FB82-EB3BFECEB75D}"/>
                </a:ext>
              </a:extLst>
            </p:cNvPr>
            <p:cNvSpPr txBox="1"/>
            <p:nvPr/>
          </p:nvSpPr>
          <p:spPr>
            <a:xfrm>
              <a:off x="11029949" y="323937"/>
              <a:ext cx="91678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2800" dirty="0">
                  <a:latin typeface="Comfortaa Medium" pitchFamily="2" charset="0"/>
                </a:rPr>
                <a:t>2/7</a:t>
              </a:r>
            </a:p>
          </p:txBody>
        </p:sp>
        <p:sp>
          <p:nvSpPr>
            <p:cNvPr id="37" name="Заголовок 1">
              <a:extLst>
                <a:ext uri="{FF2B5EF4-FFF2-40B4-BE49-F238E27FC236}">
                  <a16:creationId xmlns:a16="http://schemas.microsoft.com/office/drawing/2014/main" id="{F1A5030C-6122-8701-829A-5BA51AF46449}"/>
                </a:ext>
              </a:extLst>
            </p:cNvPr>
            <p:cNvSpPr txBox="1">
              <a:spLocks/>
            </p:cNvSpPr>
            <p:nvPr/>
          </p:nvSpPr>
          <p:spPr>
            <a:xfrm>
              <a:off x="278606" y="330766"/>
              <a:ext cx="10751342" cy="509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ru-RU" sz="3200" dirty="0">
                  <a:latin typeface="Comfortaa Medium" pitchFamily="2" charset="0"/>
                </a:rPr>
                <a:t>Актуальность</a:t>
              </a:r>
            </a:p>
          </p:txBody>
        </p:sp>
      </p:grp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F015B58-0997-6B09-EF09-E2E6A69BA5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8606" y="2071653"/>
            <a:ext cx="4784939" cy="3395697"/>
          </a:xfrm>
          <a:prstGeom prst="roundRect">
            <a:avLst>
              <a:gd name="adj" fmla="val 3843"/>
            </a:avLst>
          </a:prstGeom>
          <a:solidFill>
            <a:schemeClr val="bg1"/>
          </a:solidFill>
          <a:ln>
            <a:solidFill>
              <a:srgbClr val="F79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266617-155D-1D84-9CF3-BCBF845A8D19}"/>
              </a:ext>
            </a:extLst>
          </p:cNvPr>
          <p:cNvSpPr txBox="1"/>
          <p:nvPr/>
        </p:nvSpPr>
        <p:spPr>
          <a:xfrm>
            <a:off x="386630" y="2249336"/>
            <a:ext cx="4568890" cy="2801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ru-RU" sz="2400" dirty="0">
                <a:latin typeface="Comfortaa Medium" pitchFamily="2" charset="0"/>
              </a:rPr>
              <a:t>Отсутствие единой системы учета затрудняет управление фондом студенческих общежитий.</a:t>
            </a:r>
            <a:endParaRPr lang="ru-RU" sz="2400" b="0" i="0" u="none" strike="noStrike" cap="none" dirty="0">
              <a:solidFill>
                <a:schemeClr val="dk1"/>
              </a:solidFill>
              <a:latin typeface="Comfortaa Medium" pitchFamily="2" charset="0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4" descr="Скачать картинки Куча бумаг, стоковые фото Куча бумаг в ...">
            <a:extLst>
              <a:ext uri="{FF2B5EF4-FFF2-40B4-BE49-F238E27FC236}">
                <a16:creationId xmlns:a16="http://schemas.microsoft.com/office/drawing/2014/main" id="{DE4D1BEB-4B5B-2CEA-737D-433EF05428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80912" y1="32432" x2="75169" y2="20120"/>
                        <a14:foregroundMark x1="75169" y1="20120" x2="84122" y2="23423"/>
                        <a14:foregroundMark x1="88851" y1="15015" x2="80236" y2="14715"/>
                        <a14:foregroundMark x1="72128" y1="85886" x2="86149" y2="89189"/>
                        <a14:foregroundMark x1="86149" y1="89189" x2="88682" y2="87387"/>
                        <a14:foregroundMark x1="58446" y1="88589" x2="58108" y2="42643"/>
                        <a14:foregroundMark x1="58108" y1="42643" x2="44595" y2="40841"/>
                        <a14:foregroundMark x1="44595" y1="40841" x2="40114" y2="55131"/>
                        <a14:foregroundMark x1="39311" y1="64993" x2="40034" y2="74174"/>
                        <a14:foregroundMark x1="40034" y1="74174" x2="55574" y2="88889"/>
                        <a14:foregroundMark x1="55574" y1="88889" x2="58615" y2="89189"/>
                        <a14:foregroundMark x1="9966" y1="68168" x2="24324" y2="68468"/>
                        <a14:foregroundMark x1="24324" y1="68468" x2="27365" y2="86486"/>
                        <a14:foregroundMark x1="27365" y1="86486" x2="16723" y2="86186"/>
                        <a14:foregroundMark x1="16723" y1="86186" x2="10473" y2="74775"/>
                        <a14:foregroundMark x1="10473" y1="74775" x2="10642" y2="70270"/>
                        <a14:backgroundMark x1="39020" y1="54955" x2="38514" y2="6486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022" t="10350" r="8680" b="7103"/>
          <a:stretch>
            <a:fillRect/>
          </a:stretch>
        </p:blipFill>
        <p:spPr bwMode="auto">
          <a:xfrm>
            <a:off x="6162733" y="2024798"/>
            <a:ext cx="5261881" cy="2933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Стрелка: вправо 9">
            <a:extLst>
              <a:ext uri="{FF2B5EF4-FFF2-40B4-BE49-F238E27FC236}">
                <a16:creationId xmlns:a16="http://schemas.microsoft.com/office/drawing/2014/main" id="{098CB60A-17BD-A50F-FD52-0CB8EE800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9510" y="4957989"/>
            <a:ext cx="5205104" cy="167330"/>
          </a:xfrm>
          <a:prstGeom prst="rightArrow">
            <a:avLst>
              <a:gd name="adj1" fmla="val 50000"/>
              <a:gd name="adj2" fmla="val 150859"/>
            </a:avLst>
          </a:prstGeom>
          <a:solidFill>
            <a:srgbClr val="F7941D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75380B1-0DAC-FDBB-9A09-C77CEACB0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3573" y="6690671"/>
            <a:ext cx="12195573" cy="167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10A86A59-2596-58CE-8312-51DB5736D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3573" y="6690671"/>
            <a:ext cx="2022873" cy="16733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29838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3C3AA5-EF98-DF66-8E4B-97C117555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Группа 58">
            <a:extLst>
              <a:ext uri="{FF2B5EF4-FFF2-40B4-BE49-F238E27FC236}">
                <a16:creationId xmlns:a16="http://schemas.microsoft.com/office/drawing/2014/main" id="{67422A0C-93CA-C2D5-66D0-C8FA1765E708}"/>
              </a:ext>
            </a:extLst>
          </p:cNvPr>
          <p:cNvGrpSpPr/>
          <p:nvPr/>
        </p:nvGrpSpPr>
        <p:grpSpPr>
          <a:xfrm>
            <a:off x="680265" y="1966762"/>
            <a:ext cx="3156980" cy="3732357"/>
            <a:chOff x="1041394" y="1667282"/>
            <a:chExt cx="3156980" cy="3732357"/>
          </a:xfrm>
        </p:grpSpPr>
        <p:sp>
          <p:nvSpPr>
            <p:cNvPr id="60" name="Прямоугольник: скругленные углы 59">
              <a:extLst>
                <a:ext uri="{FF2B5EF4-FFF2-40B4-BE49-F238E27FC236}">
                  <a16:creationId xmlns:a16="http://schemas.microsoft.com/office/drawing/2014/main" id="{5F352D15-9C1C-03FD-FF27-F567ECB90B70}"/>
                </a:ext>
              </a:extLst>
            </p:cNvPr>
            <p:cNvSpPr/>
            <p:nvPr/>
          </p:nvSpPr>
          <p:spPr>
            <a:xfrm>
              <a:off x="1041394" y="1667282"/>
              <a:ext cx="3156980" cy="3732357"/>
            </a:xfrm>
            <a:prstGeom prst="roundRect">
              <a:avLst>
                <a:gd name="adj" fmla="val 468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3074" name="Picture 2" descr="Более 70 работ на тему «колледж парк иллюстрации»: стоковые фото, картинки  и изображения royalty-free - iStock">
              <a:extLst>
                <a:ext uri="{FF2B5EF4-FFF2-40B4-BE49-F238E27FC236}">
                  <a16:creationId xmlns:a16="http://schemas.microsoft.com/office/drawing/2014/main" id="{58328962-BEDB-309E-40BA-0BBC539969C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24673" b="75817" l="24510" r="74510">
                          <a14:foregroundMark x1="30229" y1="41993" x2="29902" y2="41993"/>
                          <a14:foregroundMark x1="27778" y1="54085" x2="27778" y2="54085"/>
                          <a14:foregroundMark x1="50163" y1="50163" x2="50163" y2="50163"/>
                          <a14:foregroundMark x1="72712" y1="53105" x2="72712" y2="53105"/>
                          <a14:foregroundMark x1="74510" y1="46242" x2="74510" y2="46242"/>
                          <a14:foregroundMark x1="64216" y1="73366" x2="64216" y2="73366"/>
                          <a14:foregroundMark x1="50490" y1="74183" x2="50490" y2="74183"/>
                          <a14:foregroundMark x1="47876" y1="74346" x2="47876" y2="74346"/>
                          <a14:foregroundMark x1="24673" y1="74183" x2="24673" y2="74183"/>
                          <a14:foregroundMark x1="27288" y1="75817" x2="27288" y2="75817"/>
                          <a14:foregroundMark x1="55229" y1="27124" x2="55229" y2="27124"/>
                          <a14:foregroundMark x1="49673" y1="24673" x2="49673" y2="2467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26" t="22494" r="22676" b="22296"/>
            <a:stretch>
              <a:fillRect/>
            </a:stretch>
          </p:blipFill>
          <p:spPr bwMode="auto">
            <a:xfrm>
              <a:off x="1561772" y="2135385"/>
              <a:ext cx="2116224" cy="20864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D7B6F76-710D-3F34-A0DA-E35D313E5D3D}"/>
                </a:ext>
              </a:extLst>
            </p:cNvPr>
            <p:cNvSpPr txBox="1"/>
            <p:nvPr/>
          </p:nvSpPr>
          <p:spPr>
            <a:xfrm>
              <a:off x="1041394" y="4544874"/>
              <a:ext cx="3156980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ru-RU" sz="2000" dirty="0">
                  <a:latin typeface="Comfortaa Medium" pitchFamily="2" charset="0"/>
                </a:rPr>
                <a:t>Сотрудники колледжа </a:t>
              </a:r>
            </a:p>
          </p:txBody>
        </p:sp>
      </p:grpSp>
      <p:grpSp>
        <p:nvGrpSpPr>
          <p:cNvPr id="62" name="Группа 61">
            <a:extLst>
              <a:ext uri="{FF2B5EF4-FFF2-40B4-BE49-F238E27FC236}">
                <a16:creationId xmlns:a16="http://schemas.microsoft.com/office/drawing/2014/main" id="{F30CE74F-097D-DB6E-5E25-31C161B0AB29}"/>
              </a:ext>
            </a:extLst>
          </p:cNvPr>
          <p:cNvGrpSpPr/>
          <p:nvPr/>
        </p:nvGrpSpPr>
        <p:grpSpPr>
          <a:xfrm>
            <a:off x="4517510" y="1968496"/>
            <a:ext cx="3156980" cy="3732357"/>
            <a:chOff x="4932510" y="1703727"/>
            <a:chExt cx="3156980" cy="3732357"/>
          </a:xfrm>
        </p:grpSpPr>
        <p:grpSp>
          <p:nvGrpSpPr>
            <p:cNvPr id="63" name="Группа 62">
              <a:extLst>
                <a:ext uri="{FF2B5EF4-FFF2-40B4-BE49-F238E27FC236}">
                  <a16:creationId xmlns:a16="http://schemas.microsoft.com/office/drawing/2014/main" id="{19AC5DC1-1651-0733-5C87-41DB0EC2B7A8}"/>
                </a:ext>
              </a:extLst>
            </p:cNvPr>
            <p:cNvGrpSpPr/>
            <p:nvPr/>
          </p:nvGrpSpPr>
          <p:grpSpPr>
            <a:xfrm>
              <a:off x="4932510" y="1703727"/>
              <a:ext cx="3156980" cy="3732357"/>
              <a:chOff x="4836648" y="1703727"/>
              <a:chExt cx="3156980" cy="3732357"/>
            </a:xfrm>
          </p:grpSpPr>
          <p:sp>
            <p:nvSpPr>
              <p:cNvPr id="1025" name="Прямоугольник: скругленные углы 1024">
                <a:extLst>
                  <a:ext uri="{FF2B5EF4-FFF2-40B4-BE49-F238E27FC236}">
                    <a16:creationId xmlns:a16="http://schemas.microsoft.com/office/drawing/2014/main" id="{8C8A3165-9889-9C68-7FC9-082F6F00EB91}"/>
                  </a:ext>
                </a:extLst>
              </p:cNvPr>
              <p:cNvSpPr/>
              <p:nvPr/>
            </p:nvSpPr>
            <p:spPr>
              <a:xfrm>
                <a:off x="4836648" y="1703727"/>
                <a:ext cx="3156980" cy="3732357"/>
              </a:xfrm>
              <a:prstGeom prst="roundRect">
                <a:avLst>
                  <a:gd name="adj" fmla="val 4689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26" name="TextBox 1025">
                <a:extLst>
                  <a:ext uri="{FF2B5EF4-FFF2-40B4-BE49-F238E27FC236}">
                    <a16:creationId xmlns:a16="http://schemas.microsoft.com/office/drawing/2014/main" id="{7371AD57-DCB1-2C7C-6F33-D73C5851F8D9}"/>
                  </a:ext>
                </a:extLst>
              </p:cNvPr>
              <p:cNvSpPr txBox="1"/>
              <p:nvPr/>
            </p:nvSpPr>
            <p:spPr>
              <a:xfrm>
                <a:off x="4836648" y="4581319"/>
                <a:ext cx="31569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:r>
                  <a:rPr lang="ru-RU" sz="2000" dirty="0">
                    <a:latin typeface="Comfortaa Medium" pitchFamily="2" charset="0"/>
                  </a:rPr>
                  <a:t>Коменданты</a:t>
                </a:r>
              </a:p>
            </p:txBody>
          </p:sp>
        </p:grpSp>
        <p:pic>
          <p:nvPicPr>
            <p:cNvPr id="1024" name="Picture 4" descr="Корпуса и корпуса для ноутбуков Компьютерные иконки, Ноутбук, электроника,  прямоугольник png | PNGEgg">
              <a:extLst>
                <a:ext uri="{FF2B5EF4-FFF2-40B4-BE49-F238E27FC236}">
                  <a16:creationId xmlns:a16="http://schemas.microsoft.com/office/drawing/2014/main" id="{D12D34E8-ADF6-E22A-1363-B3FDC387861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934" t="8844" r="20935" b="8844"/>
            <a:stretch>
              <a:fillRect/>
            </a:stretch>
          </p:blipFill>
          <p:spPr bwMode="auto">
            <a:xfrm>
              <a:off x="5401022" y="2486555"/>
              <a:ext cx="2219956" cy="1788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CE67473B-02DD-5A75-DC6D-0FF8E2749CA2}"/>
              </a:ext>
            </a:extLst>
          </p:cNvPr>
          <p:cNvGrpSpPr/>
          <p:nvPr/>
        </p:nvGrpSpPr>
        <p:grpSpPr>
          <a:xfrm>
            <a:off x="226218" y="192416"/>
            <a:ext cx="11720513" cy="786262"/>
            <a:chOff x="226218" y="192416"/>
            <a:chExt cx="11720513" cy="786262"/>
          </a:xfrm>
        </p:grpSpPr>
        <p:sp>
          <p:nvSpPr>
            <p:cNvPr id="15" name="Прямоугольник: скругленные углы 14">
              <a:extLst>
                <a:ext uri="{FF2B5EF4-FFF2-40B4-BE49-F238E27FC236}">
                  <a16:creationId xmlns:a16="http://schemas.microsoft.com/office/drawing/2014/main" id="{EF51725E-F448-FED9-AB6A-9BF8EAB11748}"/>
                </a:ext>
              </a:extLst>
            </p:cNvPr>
            <p:cNvSpPr/>
            <p:nvPr/>
          </p:nvSpPr>
          <p:spPr>
            <a:xfrm>
              <a:off x="226218" y="192416"/>
              <a:ext cx="11720513" cy="786262"/>
            </a:xfrm>
            <a:prstGeom prst="roundRect">
              <a:avLst>
                <a:gd name="adj" fmla="val 23264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AEA60EA-03EE-909D-6A41-49F1DEDFC2EB}"/>
                </a:ext>
              </a:extLst>
            </p:cNvPr>
            <p:cNvSpPr txBox="1"/>
            <p:nvPr/>
          </p:nvSpPr>
          <p:spPr>
            <a:xfrm>
              <a:off x="11029949" y="323937"/>
              <a:ext cx="91678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2800" dirty="0">
                  <a:latin typeface="Comfortaa Medium" pitchFamily="2" charset="0"/>
                </a:rPr>
                <a:t>3/7</a:t>
              </a:r>
            </a:p>
          </p:txBody>
        </p:sp>
        <p:sp>
          <p:nvSpPr>
            <p:cNvPr id="17" name="Заголовок 1">
              <a:extLst>
                <a:ext uri="{FF2B5EF4-FFF2-40B4-BE49-F238E27FC236}">
                  <a16:creationId xmlns:a16="http://schemas.microsoft.com/office/drawing/2014/main" id="{DA7DE3DF-489A-F36D-A173-6A2487A40177}"/>
                </a:ext>
              </a:extLst>
            </p:cNvPr>
            <p:cNvSpPr txBox="1">
              <a:spLocks/>
            </p:cNvSpPr>
            <p:nvPr/>
          </p:nvSpPr>
          <p:spPr>
            <a:xfrm>
              <a:off x="278606" y="330766"/>
              <a:ext cx="10751342" cy="509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ru-RU" sz="3200" dirty="0">
                  <a:latin typeface="Comfortaa Medium" pitchFamily="2" charset="0"/>
                </a:rPr>
                <a:t>Целевая аудитория</a:t>
              </a:r>
            </a:p>
          </p:txBody>
        </p:sp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97E19043-A9BE-886C-353B-E04230E92961}"/>
              </a:ext>
            </a:extLst>
          </p:cNvPr>
          <p:cNvGrpSpPr/>
          <p:nvPr/>
        </p:nvGrpSpPr>
        <p:grpSpPr>
          <a:xfrm>
            <a:off x="8354755" y="1968496"/>
            <a:ext cx="3156980" cy="3732357"/>
            <a:chOff x="8354755" y="1562822"/>
            <a:chExt cx="3156980" cy="3732357"/>
          </a:xfrm>
        </p:grpSpPr>
        <p:sp>
          <p:nvSpPr>
            <p:cNvPr id="1030" name="Прямоугольник: скругленные углы 1029">
              <a:extLst>
                <a:ext uri="{FF2B5EF4-FFF2-40B4-BE49-F238E27FC236}">
                  <a16:creationId xmlns:a16="http://schemas.microsoft.com/office/drawing/2014/main" id="{83C7E64A-E1E9-D7A1-B049-5F27A8888257}"/>
                </a:ext>
              </a:extLst>
            </p:cNvPr>
            <p:cNvSpPr/>
            <p:nvPr/>
          </p:nvSpPr>
          <p:spPr>
            <a:xfrm>
              <a:off x="8354755" y="1562822"/>
              <a:ext cx="3156980" cy="3732357"/>
            </a:xfrm>
            <a:prstGeom prst="roundRect">
              <a:avLst>
                <a:gd name="adj" fmla="val 468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661994B-5694-EC8D-AC1B-1FBE0D5EE489}"/>
                </a:ext>
              </a:extLst>
            </p:cNvPr>
            <p:cNvSpPr txBox="1"/>
            <p:nvPr/>
          </p:nvSpPr>
          <p:spPr>
            <a:xfrm>
              <a:off x="8354755" y="4440414"/>
              <a:ext cx="315698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ru-RU" sz="2000" dirty="0">
                  <a:latin typeface="Comfortaa Medium" pitchFamily="2" charset="0"/>
                </a:rPr>
                <a:t>Воспитатели</a:t>
              </a:r>
              <a:endParaRPr lang="ru-RU" sz="2400" dirty="0">
                <a:latin typeface="Comfortaa Medium" pitchFamily="2" charset="0"/>
              </a:endParaRPr>
            </a:p>
          </p:txBody>
        </p:sp>
        <p:pic>
          <p:nvPicPr>
            <p:cNvPr id="23" name="Picture 6" descr="Иконка «Мобильный телефон» | MyWebIcons">
              <a:extLst>
                <a:ext uri="{FF2B5EF4-FFF2-40B4-BE49-F238E27FC236}">
                  <a16:creationId xmlns:a16="http://schemas.microsoft.com/office/drawing/2014/main" id="{520E7E92-F410-310A-5434-1C4A7EAFD3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23267" y="2129785"/>
              <a:ext cx="2219956" cy="22199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53C39965-50D8-6459-4129-4D0DDF392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3573" y="6690671"/>
            <a:ext cx="12195573" cy="167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F1127A29-3731-F7A5-810F-510FF9A4F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3573" y="6690671"/>
            <a:ext cx="2022873" cy="16733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56974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8BC4A3A-E7AE-1EEA-AACD-F062DA6D1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98AF50A0-B533-CC0D-FFAC-8A0D52C925A2}"/>
              </a:ext>
            </a:extLst>
          </p:cNvPr>
          <p:cNvGrpSpPr/>
          <p:nvPr/>
        </p:nvGrpSpPr>
        <p:grpSpPr>
          <a:xfrm>
            <a:off x="436132" y="1289769"/>
            <a:ext cx="11319736" cy="936757"/>
            <a:chOff x="436132" y="1289769"/>
            <a:chExt cx="11319736" cy="936757"/>
          </a:xfrm>
        </p:grpSpPr>
        <p:sp>
          <p:nvSpPr>
            <p:cNvPr id="35" name="Прямоугольник: скругленные углы 34">
              <a:extLst>
                <a:ext uri="{FF2B5EF4-FFF2-40B4-BE49-F238E27FC236}">
                  <a16:creationId xmlns:a16="http://schemas.microsoft.com/office/drawing/2014/main" id="{92C194BA-5EF5-48BB-CE7F-F40D7A20A382}"/>
                </a:ext>
              </a:extLst>
            </p:cNvPr>
            <p:cNvSpPr/>
            <p:nvPr/>
          </p:nvSpPr>
          <p:spPr>
            <a:xfrm>
              <a:off x="436132" y="1289769"/>
              <a:ext cx="11319736" cy="936757"/>
            </a:xfrm>
            <a:prstGeom prst="roundRect">
              <a:avLst>
                <a:gd name="adj" fmla="val 18701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882F559-3189-FD6D-CC17-85E342FDFB88}"/>
                </a:ext>
              </a:extLst>
            </p:cNvPr>
            <p:cNvSpPr txBox="1"/>
            <p:nvPr/>
          </p:nvSpPr>
          <p:spPr>
            <a:xfrm>
              <a:off x="1170745" y="1573481"/>
              <a:ext cx="90856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ru-RU" dirty="0">
                  <a:solidFill>
                    <a:srgbClr val="0E0E0E"/>
                  </a:solidFill>
                  <a:latin typeface="Comfortaa Medium" pitchFamily="2" charset="0"/>
                  <a:ea typeface="Pacifico"/>
                  <a:cs typeface="Poppins" panose="020B0604020202020204" charset="0"/>
                  <a:sym typeface="Pacifico"/>
                </a:rPr>
                <a:t>Анализ потребностей целевой аудитории</a:t>
              </a:r>
            </a:p>
          </p:txBody>
        </p:sp>
        <p:sp>
          <p:nvSpPr>
            <p:cNvPr id="37" name="Овал 36">
              <a:extLst>
                <a:ext uri="{FF2B5EF4-FFF2-40B4-BE49-F238E27FC236}">
                  <a16:creationId xmlns:a16="http://schemas.microsoft.com/office/drawing/2014/main" id="{37CC72B0-36C1-57A8-7F89-1E194456A5D6}"/>
                </a:ext>
              </a:extLst>
            </p:cNvPr>
            <p:cNvSpPr/>
            <p:nvPr/>
          </p:nvSpPr>
          <p:spPr>
            <a:xfrm>
              <a:off x="611959" y="1478754"/>
              <a:ext cx="558787" cy="558787"/>
            </a:xfrm>
            <a:prstGeom prst="ellipse">
              <a:avLst/>
            </a:prstGeom>
            <a:solidFill>
              <a:srgbClr val="F7941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>
                <a:latin typeface="Bahnschrift" panose="020B0502040204020203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983E0A2-6B81-46A5-B265-C1EA26B6798E}"/>
                </a:ext>
              </a:extLst>
            </p:cNvPr>
            <p:cNvSpPr txBox="1"/>
            <p:nvPr/>
          </p:nvSpPr>
          <p:spPr>
            <a:xfrm>
              <a:off x="564131" y="1588870"/>
              <a:ext cx="65444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Comfortaa Medium" pitchFamily="2" charset="0"/>
                </a:rPr>
                <a:t>1</a:t>
              </a:r>
              <a:endParaRPr lang="ru-RU" dirty="0">
                <a:solidFill>
                  <a:schemeClr val="bg1"/>
                </a:solidFill>
                <a:latin typeface="Comfortaa Medium" pitchFamily="2" charset="0"/>
              </a:endParaRPr>
            </a:p>
          </p:txBody>
        </p:sp>
      </p:grpSp>
      <p:grpSp>
        <p:nvGrpSpPr>
          <p:cNvPr id="39" name="Группа 38">
            <a:extLst>
              <a:ext uri="{FF2B5EF4-FFF2-40B4-BE49-F238E27FC236}">
                <a16:creationId xmlns:a16="http://schemas.microsoft.com/office/drawing/2014/main" id="{5A63F0CE-C1CC-70F9-F254-34F0EF7ECB05}"/>
              </a:ext>
            </a:extLst>
          </p:cNvPr>
          <p:cNvGrpSpPr/>
          <p:nvPr/>
        </p:nvGrpSpPr>
        <p:grpSpPr>
          <a:xfrm>
            <a:off x="436132" y="2639994"/>
            <a:ext cx="5322678" cy="936757"/>
            <a:chOff x="1041393" y="3810289"/>
            <a:chExt cx="5322678" cy="936757"/>
          </a:xfrm>
        </p:grpSpPr>
        <p:sp>
          <p:nvSpPr>
            <p:cNvPr id="40" name="Прямоугольник: скругленные углы 39">
              <a:extLst>
                <a:ext uri="{FF2B5EF4-FFF2-40B4-BE49-F238E27FC236}">
                  <a16:creationId xmlns:a16="http://schemas.microsoft.com/office/drawing/2014/main" id="{6952F47D-2E87-8CE6-29F6-A324D10A5AA1}"/>
                </a:ext>
              </a:extLst>
            </p:cNvPr>
            <p:cNvSpPr/>
            <p:nvPr/>
          </p:nvSpPr>
          <p:spPr>
            <a:xfrm>
              <a:off x="1041393" y="3810289"/>
              <a:ext cx="5322678" cy="936757"/>
            </a:xfrm>
            <a:prstGeom prst="roundRect">
              <a:avLst>
                <a:gd name="adj" fmla="val 18924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F6D3810-38BB-1761-006F-0474B15F1129}"/>
                </a:ext>
              </a:extLst>
            </p:cNvPr>
            <p:cNvSpPr txBox="1"/>
            <p:nvPr/>
          </p:nvSpPr>
          <p:spPr>
            <a:xfrm>
              <a:off x="1823833" y="3955502"/>
              <a:ext cx="454023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dirty="0">
                  <a:solidFill>
                    <a:srgbClr val="0E0E0E"/>
                  </a:solidFill>
                  <a:latin typeface="Comfortaa Medium" pitchFamily="2" charset="0"/>
                  <a:ea typeface="Pacifico"/>
                  <a:cs typeface="Poppins" panose="020B0604020202020204" charset="0"/>
                  <a:sym typeface="Pacifico"/>
                </a:rPr>
                <a:t>Проектирование архитектуры ПО</a:t>
              </a:r>
            </a:p>
          </p:txBody>
        </p:sp>
        <p:sp>
          <p:nvSpPr>
            <p:cNvPr id="42" name="Овал 41">
              <a:extLst>
                <a:ext uri="{FF2B5EF4-FFF2-40B4-BE49-F238E27FC236}">
                  <a16:creationId xmlns:a16="http://schemas.microsoft.com/office/drawing/2014/main" id="{B873F9C1-4DAC-FFC7-9855-93FD64CFA06A}"/>
                </a:ext>
              </a:extLst>
            </p:cNvPr>
            <p:cNvSpPr/>
            <p:nvPr/>
          </p:nvSpPr>
          <p:spPr>
            <a:xfrm>
              <a:off x="1217220" y="3999274"/>
              <a:ext cx="558787" cy="558787"/>
            </a:xfrm>
            <a:prstGeom prst="ellipse">
              <a:avLst/>
            </a:prstGeom>
            <a:solidFill>
              <a:srgbClr val="F7941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>
                <a:latin typeface="Bahnschrift" panose="020B0502040204020203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CA39B19-AD61-34FC-D388-1E9203487C3E}"/>
                </a:ext>
              </a:extLst>
            </p:cNvPr>
            <p:cNvSpPr txBox="1"/>
            <p:nvPr/>
          </p:nvSpPr>
          <p:spPr>
            <a:xfrm>
              <a:off x="1169392" y="4109390"/>
              <a:ext cx="65444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Comfortaa Medium" pitchFamily="2" charset="0"/>
                </a:rPr>
                <a:t>2</a:t>
              </a:r>
              <a:endParaRPr lang="ru-RU" dirty="0">
                <a:solidFill>
                  <a:schemeClr val="bg1"/>
                </a:solidFill>
                <a:latin typeface="Comfortaa Medium" pitchFamily="2" charset="0"/>
              </a:endParaRPr>
            </a:p>
          </p:txBody>
        </p:sp>
      </p:grpSp>
      <p:grpSp>
        <p:nvGrpSpPr>
          <p:cNvPr id="56" name="Группа 55">
            <a:extLst>
              <a:ext uri="{FF2B5EF4-FFF2-40B4-BE49-F238E27FC236}">
                <a16:creationId xmlns:a16="http://schemas.microsoft.com/office/drawing/2014/main" id="{B3A554DB-15EF-3D4D-D54C-0C50BDCE5843}"/>
              </a:ext>
            </a:extLst>
          </p:cNvPr>
          <p:cNvGrpSpPr/>
          <p:nvPr/>
        </p:nvGrpSpPr>
        <p:grpSpPr>
          <a:xfrm>
            <a:off x="436132" y="3990219"/>
            <a:ext cx="5322678" cy="936757"/>
            <a:chOff x="1041393" y="3810289"/>
            <a:chExt cx="5322678" cy="936757"/>
          </a:xfrm>
        </p:grpSpPr>
        <p:sp>
          <p:nvSpPr>
            <p:cNvPr id="57" name="Прямоугольник: скругленные углы 56">
              <a:extLst>
                <a:ext uri="{FF2B5EF4-FFF2-40B4-BE49-F238E27FC236}">
                  <a16:creationId xmlns:a16="http://schemas.microsoft.com/office/drawing/2014/main" id="{C9430649-466A-CBF3-28E0-E630717422D1}"/>
                </a:ext>
              </a:extLst>
            </p:cNvPr>
            <p:cNvSpPr/>
            <p:nvPr/>
          </p:nvSpPr>
          <p:spPr>
            <a:xfrm>
              <a:off x="1041393" y="3810289"/>
              <a:ext cx="5322678" cy="936757"/>
            </a:xfrm>
            <a:prstGeom prst="roundRect">
              <a:avLst>
                <a:gd name="adj" fmla="val 18925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AAB5DCA-D418-676C-5262-9C98DFBE982A}"/>
                </a:ext>
              </a:extLst>
            </p:cNvPr>
            <p:cNvSpPr txBox="1"/>
            <p:nvPr/>
          </p:nvSpPr>
          <p:spPr>
            <a:xfrm>
              <a:off x="1823834" y="4094001"/>
              <a:ext cx="427216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dirty="0">
                  <a:solidFill>
                    <a:srgbClr val="0E0E0E"/>
                  </a:solidFill>
                  <a:latin typeface="Comfortaa Medium" pitchFamily="2" charset="0"/>
                  <a:ea typeface="Pacifico"/>
                  <a:cs typeface="Poppins" panose="020B0604020202020204" charset="0"/>
                  <a:sym typeface="Pacifico"/>
                </a:rPr>
                <a:t>Разработка структуры БД</a:t>
              </a:r>
            </a:p>
          </p:txBody>
        </p:sp>
        <p:sp>
          <p:nvSpPr>
            <p:cNvPr id="59" name="Овал 58">
              <a:extLst>
                <a:ext uri="{FF2B5EF4-FFF2-40B4-BE49-F238E27FC236}">
                  <a16:creationId xmlns:a16="http://schemas.microsoft.com/office/drawing/2014/main" id="{0D0F482E-98A4-5127-C6FA-62B0A6B27197}"/>
                </a:ext>
              </a:extLst>
            </p:cNvPr>
            <p:cNvSpPr/>
            <p:nvPr/>
          </p:nvSpPr>
          <p:spPr>
            <a:xfrm>
              <a:off x="1217220" y="3999274"/>
              <a:ext cx="558787" cy="558787"/>
            </a:xfrm>
            <a:prstGeom prst="ellipse">
              <a:avLst/>
            </a:prstGeom>
            <a:solidFill>
              <a:srgbClr val="F7941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>
                <a:latin typeface="Bahnschrift" panose="020B0502040204020203" pitchFamily="34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2B39EB9-1922-6491-8896-469708E04313}"/>
                </a:ext>
              </a:extLst>
            </p:cNvPr>
            <p:cNvSpPr txBox="1"/>
            <p:nvPr/>
          </p:nvSpPr>
          <p:spPr>
            <a:xfrm>
              <a:off x="1169392" y="4109390"/>
              <a:ext cx="65444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Comfortaa Medium" pitchFamily="2" charset="0"/>
                </a:rPr>
                <a:t>3</a:t>
              </a:r>
              <a:endParaRPr lang="ru-RU" dirty="0">
                <a:solidFill>
                  <a:schemeClr val="bg1"/>
                </a:solidFill>
                <a:latin typeface="Comfortaa Medium" pitchFamily="2" charset="0"/>
              </a:endParaRPr>
            </a:p>
          </p:txBody>
        </p:sp>
      </p:grpSp>
      <p:grpSp>
        <p:nvGrpSpPr>
          <p:cNvPr id="81" name="Группа 80">
            <a:extLst>
              <a:ext uri="{FF2B5EF4-FFF2-40B4-BE49-F238E27FC236}">
                <a16:creationId xmlns:a16="http://schemas.microsoft.com/office/drawing/2014/main" id="{0E569526-ED5C-D578-CA4C-406EB7C8FA19}"/>
              </a:ext>
            </a:extLst>
          </p:cNvPr>
          <p:cNvGrpSpPr/>
          <p:nvPr/>
        </p:nvGrpSpPr>
        <p:grpSpPr>
          <a:xfrm>
            <a:off x="478410" y="5340444"/>
            <a:ext cx="5322678" cy="936757"/>
            <a:chOff x="1041393" y="3810289"/>
            <a:chExt cx="5322678" cy="936757"/>
          </a:xfrm>
        </p:grpSpPr>
        <p:sp>
          <p:nvSpPr>
            <p:cNvPr id="82" name="Прямоугольник: скругленные углы 81">
              <a:extLst>
                <a:ext uri="{FF2B5EF4-FFF2-40B4-BE49-F238E27FC236}">
                  <a16:creationId xmlns:a16="http://schemas.microsoft.com/office/drawing/2014/main" id="{2847B3B2-5F0C-7EF4-01C0-E18EC0D67E77}"/>
                </a:ext>
              </a:extLst>
            </p:cNvPr>
            <p:cNvSpPr/>
            <p:nvPr/>
          </p:nvSpPr>
          <p:spPr>
            <a:xfrm>
              <a:off x="1041393" y="3810289"/>
              <a:ext cx="5322678" cy="936757"/>
            </a:xfrm>
            <a:prstGeom prst="roundRect">
              <a:avLst>
                <a:gd name="adj" fmla="val 24008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186343CC-571B-B925-5202-E163532D84F6}"/>
                </a:ext>
              </a:extLst>
            </p:cNvPr>
            <p:cNvSpPr txBox="1"/>
            <p:nvPr/>
          </p:nvSpPr>
          <p:spPr>
            <a:xfrm>
              <a:off x="1823834" y="3955502"/>
              <a:ext cx="427216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dirty="0">
                  <a:solidFill>
                    <a:srgbClr val="0E0E0E"/>
                  </a:solidFill>
                  <a:latin typeface="Comfortaa Medium" pitchFamily="2" charset="0"/>
                  <a:ea typeface="Pacifico"/>
                  <a:cs typeface="Poppins" panose="020B0604020202020204" charset="0"/>
                  <a:sym typeface="Pacifico"/>
                </a:rPr>
                <a:t>Разработка интерфейса пользователя</a:t>
              </a:r>
            </a:p>
          </p:txBody>
        </p:sp>
        <p:sp>
          <p:nvSpPr>
            <p:cNvPr id="84" name="Овал 83">
              <a:extLst>
                <a:ext uri="{FF2B5EF4-FFF2-40B4-BE49-F238E27FC236}">
                  <a16:creationId xmlns:a16="http://schemas.microsoft.com/office/drawing/2014/main" id="{D70F06E0-0109-B4AD-1416-9D3A92A8BA8C}"/>
                </a:ext>
              </a:extLst>
            </p:cNvPr>
            <p:cNvSpPr/>
            <p:nvPr/>
          </p:nvSpPr>
          <p:spPr>
            <a:xfrm>
              <a:off x="1217220" y="3999274"/>
              <a:ext cx="558787" cy="558787"/>
            </a:xfrm>
            <a:prstGeom prst="ellipse">
              <a:avLst/>
            </a:prstGeom>
            <a:solidFill>
              <a:srgbClr val="F7941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>
                <a:latin typeface="Bahnschrift" panose="020B0502040204020203" pitchFamily="34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2BE52EEE-79B3-7B66-F062-86C16AB1680C}"/>
                </a:ext>
              </a:extLst>
            </p:cNvPr>
            <p:cNvSpPr txBox="1"/>
            <p:nvPr/>
          </p:nvSpPr>
          <p:spPr>
            <a:xfrm>
              <a:off x="1169392" y="4109390"/>
              <a:ext cx="65444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Comfortaa Medium" pitchFamily="2" charset="0"/>
                </a:rPr>
                <a:t>4</a:t>
              </a:r>
              <a:endParaRPr lang="ru-RU" dirty="0">
                <a:solidFill>
                  <a:schemeClr val="bg1"/>
                </a:solidFill>
                <a:latin typeface="Comfortaa Medium" pitchFamily="2" charset="0"/>
              </a:endParaRPr>
            </a:p>
          </p:txBody>
        </p:sp>
      </p:grpSp>
      <p:grpSp>
        <p:nvGrpSpPr>
          <p:cNvPr id="86" name="Группа 85">
            <a:extLst>
              <a:ext uri="{FF2B5EF4-FFF2-40B4-BE49-F238E27FC236}">
                <a16:creationId xmlns:a16="http://schemas.microsoft.com/office/drawing/2014/main" id="{D49125A3-F675-F4DD-E9A3-93C7FB6F573E}"/>
              </a:ext>
            </a:extLst>
          </p:cNvPr>
          <p:cNvGrpSpPr/>
          <p:nvPr/>
        </p:nvGrpSpPr>
        <p:grpSpPr>
          <a:xfrm>
            <a:off x="6433190" y="2643519"/>
            <a:ext cx="5322678" cy="936757"/>
            <a:chOff x="1041393" y="3810289"/>
            <a:chExt cx="5322678" cy="936757"/>
          </a:xfrm>
        </p:grpSpPr>
        <p:sp>
          <p:nvSpPr>
            <p:cNvPr id="87" name="Прямоугольник: скругленные углы 86">
              <a:extLst>
                <a:ext uri="{FF2B5EF4-FFF2-40B4-BE49-F238E27FC236}">
                  <a16:creationId xmlns:a16="http://schemas.microsoft.com/office/drawing/2014/main" id="{A74C4349-9036-FD47-3B91-331CDCE29D47}"/>
                </a:ext>
              </a:extLst>
            </p:cNvPr>
            <p:cNvSpPr/>
            <p:nvPr/>
          </p:nvSpPr>
          <p:spPr>
            <a:xfrm>
              <a:off x="1041393" y="3810289"/>
              <a:ext cx="5322678" cy="936757"/>
            </a:xfrm>
            <a:prstGeom prst="roundRect">
              <a:avLst>
                <a:gd name="adj" fmla="val 17908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EC977B90-0D6B-545E-9150-C52B003AAECF}"/>
                </a:ext>
              </a:extLst>
            </p:cNvPr>
            <p:cNvSpPr txBox="1"/>
            <p:nvPr/>
          </p:nvSpPr>
          <p:spPr>
            <a:xfrm>
              <a:off x="1871662" y="4094001"/>
              <a:ext cx="427216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dirty="0">
                  <a:solidFill>
                    <a:srgbClr val="0E0E0E"/>
                  </a:solidFill>
                  <a:latin typeface="Comfortaa Medium" pitchFamily="2" charset="0"/>
                  <a:ea typeface="Pacifico"/>
                  <a:cs typeface="Poppins" panose="020B0604020202020204" charset="0"/>
                  <a:sym typeface="Pacifico"/>
                </a:rPr>
                <a:t>Разработка ПО</a:t>
              </a:r>
            </a:p>
          </p:txBody>
        </p:sp>
        <p:sp>
          <p:nvSpPr>
            <p:cNvPr id="89" name="Овал 88">
              <a:extLst>
                <a:ext uri="{FF2B5EF4-FFF2-40B4-BE49-F238E27FC236}">
                  <a16:creationId xmlns:a16="http://schemas.microsoft.com/office/drawing/2014/main" id="{6CE8D0CD-C3DA-5705-5D42-91B602A3A0BE}"/>
                </a:ext>
              </a:extLst>
            </p:cNvPr>
            <p:cNvSpPr/>
            <p:nvPr/>
          </p:nvSpPr>
          <p:spPr>
            <a:xfrm>
              <a:off x="1217220" y="3999274"/>
              <a:ext cx="558787" cy="558787"/>
            </a:xfrm>
            <a:prstGeom prst="ellipse">
              <a:avLst/>
            </a:prstGeom>
            <a:solidFill>
              <a:srgbClr val="F7941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>
                <a:latin typeface="Bahnschrift" panose="020B0502040204020203" pitchFamily="34" charset="0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74B672B9-DC29-1452-951F-38FF820D9F6C}"/>
                </a:ext>
              </a:extLst>
            </p:cNvPr>
            <p:cNvSpPr txBox="1"/>
            <p:nvPr/>
          </p:nvSpPr>
          <p:spPr>
            <a:xfrm>
              <a:off x="1169392" y="4109390"/>
              <a:ext cx="65444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Comfortaa Medium" pitchFamily="2" charset="0"/>
                </a:rPr>
                <a:t>5</a:t>
              </a:r>
              <a:endParaRPr lang="ru-RU" dirty="0">
                <a:solidFill>
                  <a:schemeClr val="bg1"/>
                </a:solidFill>
                <a:latin typeface="Comfortaa Medium" pitchFamily="2" charset="0"/>
              </a:endParaRPr>
            </a:p>
          </p:txBody>
        </p:sp>
      </p:grpSp>
      <p:grpSp>
        <p:nvGrpSpPr>
          <p:cNvPr id="96" name="Группа 95">
            <a:extLst>
              <a:ext uri="{FF2B5EF4-FFF2-40B4-BE49-F238E27FC236}">
                <a16:creationId xmlns:a16="http://schemas.microsoft.com/office/drawing/2014/main" id="{E3671830-AE90-189A-31C0-344E2F4BCF5D}"/>
              </a:ext>
            </a:extLst>
          </p:cNvPr>
          <p:cNvGrpSpPr/>
          <p:nvPr/>
        </p:nvGrpSpPr>
        <p:grpSpPr>
          <a:xfrm>
            <a:off x="6337222" y="3990219"/>
            <a:ext cx="5322678" cy="936757"/>
            <a:chOff x="1041393" y="3810289"/>
            <a:chExt cx="5322678" cy="936757"/>
          </a:xfrm>
        </p:grpSpPr>
        <p:sp>
          <p:nvSpPr>
            <p:cNvPr id="97" name="Прямоугольник: скругленные углы 96">
              <a:extLst>
                <a:ext uri="{FF2B5EF4-FFF2-40B4-BE49-F238E27FC236}">
                  <a16:creationId xmlns:a16="http://schemas.microsoft.com/office/drawing/2014/main" id="{AE842E35-53A4-9DEF-B4EF-F4527A6AD5E2}"/>
                </a:ext>
              </a:extLst>
            </p:cNvPr>
            <p:cNvSpPr/>
            <p:nvPr/>
          </p:nvSpPr>
          <p:spPr>
            <a:xfrm>
              <a:off x="1041393" y="3810289"/>
              <a:ext cx="5322678" cy="936757"/>
            </a:xfrm>
            <a:prstGeom prst="roundRect">
              <a:avLst>
                <a:gd name="adj" fmla="val 18924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10A5374B-0F1A-AD12-4C5B-0360B6CA5AE3}"/>
                </a:ext>
              </a:extLst>
            </p:cNvPr>
            <p:cNvSpPr txBox="1"/>
            <p:nvPr/>
          </p:nvSpPr>
          <p:spPr>
            <a:xfrm>
              <a:off x="1823834" y="4094001"/>
              <a:ext cx="427216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dirty="0">
                  <a:solidFill>
                    <a:srgbClr val="0E0E0E"/>
                  </a:solidFill>
                  <a:latin typeface="Comfortaa Medium" pitchFamily="2" charset="0"/>
                  <a:ea typeface="Pacifico"/>
                  <a:cs typeface="Poppins" panose="020B0604020202020204" charset="0"/>
                  <a:sym typeface="Pacifico"/>
                </a:rPr>
                <a:t>Тестирование и отладка ПО</a:t>
              </a:r>
              <a:endParaRPr lang="ru-RU" dirty="0">
                <a:latin typeface="Comfortaa Medium" pitchFamily="2" charset="0"/>
              </a:endParaRPr>
            </a:p>
          </p:txBody>
        </p:sp>
        <p:sp>
          <p:nvSpPr>
            <p:cNvPr id="99" name="Овал 98">
              <a:extLst>
                <a:ext uri="{FF2B5EF4-FFF2-40B4-BE49-F238E27FC236}">
                  <a16:creationId xmlns:a16="http://schemas.microsoft.com/office/drawing/2014/main" id="{87CC053A-D08C-BDD4-72A1-B8C70ACABEFD}"/>
                </a:ext>
              </a:extLst>
            </p:cNvPr>
            <p:cNvSpPr/>
            <p:nvPr/>
          </p:nvSpPr>
          <p:spPr>
            <a:xfrm>
              <a:off x="1217220" y="3999274"/>
              <a:ext cx="558787" cy="558787"/>
            </a:xfrm>
            <a:prstGeom prst="ellipse">
              <a:avLst/>
            </a:prstGeom>
            <a:solidFill>
              <a:srgbClr val="F7941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>
                <a:latin typeface="Bahnschrift" panose="020B0502040204020203" pitchFamily="34" charset="0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DC0DFAE3-07E5-4E43-AE89-406C3D869B7E}"/>
                </a:ext>
              </a:extLst>
            </p:cNvPr>
            <p:cNvSpPr txBox="1"/>
            <p:nvPr/>
          </p:nvSpPr>
          <p:spPr>
            <a:xfrm>
              <a:off x="1169392" y="4109390"/>
              <a:ext cx="65444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Comfortaa Medium" pitchFamily="2" charset="0"/>
                </a:rPr>
                <a:t>6</a:t>
              </a:r>
              <a:endParaRPr lang="ru-RU" dirty="0">
                <a:solidFill>
                  <a:schemeClr val="bg1"/>
                </a:solidFill>
                <a:latin typeface="Comfortaa Medium" pitchFamily="2" charset="0"/>
              </a:endParaRPr>
            </a:p>
          </p:txBody>
        </p:sp>
      </p:grpSp>
      <p:grpSp>
        <p:nvGrpSpPr>
          <p:cNvPr id="101" name="Группа 100">
            <a:extLst>
              <a:ext uri="{FF2B5EF4-FFF2-40B4-BE49-F238E27FC236}">
                <a16:creationId xmlns:a16="http://schemas.microsoft.com/office/drawing/2014/main" id="{6E052527-A590-97E5-4362-F31CEABFD083}"/>
              </a:ext>
            </a:extLst>
          </p:cNvPr>
          <p:cNvGrpSpPr/>
          <p:nvPr/>
        </p:nvGrpSpPr>
        <p:grpSpPr>
          <a:xfrm>
            <a:off x="6337222" y="5340444"/>
            <a:ext cx="5322678" cy="936757"/>
            <a:chOff x="1041393" y="3810289"/>
            <a:chExt cx="5322678" cy="936757"/>
          </a:xfrm>
        </p:grpSpPr>
        <p:sp>
          <p:nvSpPr>
            <p:cNvPr id="102" name="Прямоугольник: скругленные углы 101">
              <a:extLst>
                <a:ext uri="{FF2B5EF4-FFF2-40B4-BE49-F238E27FC236}">
                  <a16:creationId xmlns:a16="http://schemas.microsoft.com/office/drawing/2014/main" id="{CA7DA645-5C1A-5198-CE42-9D548E147063}"/>
                </a:ext>
              </a:extLst>
            </p:cNvPr>
            <p:cNvSpPr/>
            <p:nvPr/>
          </p:nvSpPr>
          <p:spPr>
            <a:xfrm>
              <a:off x="1041393" y="3810289"/>
              <a:ext cx="5322678" cy="936757"/>
            </a:xfrm>
            <a:prstGeom prst="roundRect">
              <a:avLst>
                <a:gd name="adj" fmla="val 17908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5B235CAE-EA30-97E0-3795-76B385EAFF4C}"/>
                </a:ext>
              </a:extLst>
            </p:cNvPr>
            <p:cNvSpPr txBox="1"/>
            <p:nvPr/>
          </p:nvSpPr>
          <p:spPr>
            <a:xfrm>
              <a:off x="1823834" y="4094001"/>
              <a:ext cx="427216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dirty="0">
                  <a:solidFill>
                    <a:srgbClr val="0E0E0E"/>
                  </a:solidFill>
                  <a:latin typeface="Comfortaa Medium" pitchFamily="2" charset="0"/>
                  <a:ea typeface="Pacifico"/>
                  <a:cs typeface="Poppins" panose="020B0604020202020204" charset="0"/>
                  <a:sym typeface="Pacifico"/>
                </a:rPr>
                <a:t>Написание документации</a:t>
              </a:r>
            </a:p>
          </p:txBody>
        </p:sp>
        <p:sp>
          <p:nvSpPr>
            <p:cNvPr id="104" name="Овал 103">
              <a:extLst>
                <a:ext uri="{FF2B5EF4-FFF2-40B4-BE49-F238E27FC236}">
                  <a16:creationId xmlns:a16="http://schemas.microsoft.com/office/drawing/2014/main" id="{FE9A29B7-9C21-0161-370D-C351192D459C}"/>
                </a:ext>
              </a:extLst>
            </p:cNvPr>
            <p:cNvSpPr/>
            <p:nvPr/>
          </p:nvSpPr>
          <p:spPr>
            <a:xfrm>
              <a:off x="1217220" y="3999274"/>
              <a:ext cx="558787" cy="558787"/>
            </a:xfrm>
            <a:prstGeom prst="ellipse">
              <a:avLst/>
            </a:prstGeom>
            <a:solidFill>
              <a:srgbClr val="F7941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>
                <a:latin typeface="Bahnschrift" panose="020B0502040204020203" pitchFamily="34" charset="0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A251C82C-633F-02F5-A3E1-A28F58E711F2}"/>
                </a:ext>
              </a:extLst>
            </p:cNvPr>
            <p:cNvSpPr txBox="1"/>
            <p:nvPr/>
          </p:nvSpPr>
          <p:spPr>
            <a:xfrm>
              <a:off x="1169392" y="4109390"/>
              <a:ext cx="65444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Comfortaa Medium" pitchFamily="2" charset="0"/>
                </a:rPr>
                <a:t>7</a:t>
              </a:r>
              <a:endParaRPr lang="ru-RU" dirty="0">
                <a:solidFill>
                  <a:schemeClr val="bg1"/>
                </a:solidFill>
                <a:latin typeface="Comfortaa Medium" pitchFamily="2" charset="0"/>
              </a:endParaRPr>
            </a:p>
          </p:txBody>
        </p:sp>
      </p:grp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04782158-750E-CE06-72AB-EB2A94E19131}"/>
              </a:ext>
            </a:extLst>
          </p:cNvPr>
          <p:cNvGrpSpPr/>
          <p:nvPr/>
        </p:nvGrpSpPr>
        <p:grpSpPr>
          <a:xfrm>
            <a:off x="226218" y="192416"/>
            <a:ext cx="11720513" cy="786262"/>
            <a:chOff x="226218" y="192416"/>
            <a:chExt cx="11720513" cy="786262"/>
          </a:xfrm>
        </p:grpSpPr>
        <p:sp>
          <p:nvSpPr>
            <p:cNvPr id="5" name="Прямоугольник: скругленные углы 4">
              <a:extLst>
                <a:ext uri="{FF2B5EF4-FFF2-40B4-BE49-F238E27FC236}">
                  <a16:creationId xmlns:a16="http://schemas.microsoft.com/office/drawing/2014/main" id="{99A77029-4334-3991-6C04-17D8BF58C646}"/>
                </a:ext>
              </a:extLst>
            </p:cNvPr>
            <p:cNvSpPr/>
            <p:nvPr/>
          </p:nvSpPr>
          <p:spPr>
            <a:xfrm>
              <a:off x="226218" y="192416"/>
              <a:ext cx="11720513" cy="786262"/>
            </a:xfrm>
            <a:prstGeom prst="roundRect">
              <a:avLst>
                <a:gd name="adj" fmla="val 23264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1A06FE7-5DD1-1114-0248-CFD1C434C43B}"/>
                </a:ext>
              </a:extLst>
            </p:cNvPr>
            <p:cNvSpPr txBox="1"/>
            <p:nvPr/>
          </p:nvSpPr>
          <p:spPr>
            <a:xfrm>
              <a:off x="11029949" y="323937"/>
              <a:ext cx="91678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2800" dirty="0">
                  <a:latin typeface="Comfortaa Medium" pitchFamily="2" charset="0"/>
                </a:rPr>
                <a:t>2/7</a:t>
              </a:r>
            </a:p>
          </p:txBody>
        </p:sp>
        <p:sp>
          <p:nvSpPr>
            <p:cNvPr id="7" name="Заголовок 1">
              <a:extLst>
                <a:ext uri="{FF2B5EF4-FFF2-40B4-BE49-F238E27FC236}">
                  <a16:creationId xmlns:a16="http://schemas.microsoft.com/office/drawing/2014/main" id="{4956D725-D176-4C90-0CAF-0B8D7BAB5E2A}"/>
                </a:ext>
              </a:extLst>
            </p:cNvPr>
            <p:cNvSpPr txBox="1">
              <a:spLocks/>
            </p:cNvSpPr>
            <p:nvPr/>
          </p:nvSpPr>
          <p:spPr>
            <a:xfrm>
              <a:off x="278606" y="330766"/>
              <a:ext cx="10751342" cy="509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ru-RU" sz="3200" dirty="0">
                  <a:latin typeface="Comfortaa Medium" pitchFamily="2" charset="0"/>
                </a:rPr>
                <a:t>Задачи</a:t>
              </a:r>
            </a:p>
          </p:txBody>
        </p:sp>
      </p:grp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3A6D444-6735-ECBD-2C6B-09FC82C22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3573" y="6690671"/>
            <a:ext cx="12195573" cy="167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697F9FE-CFF3-A167-C34E-F8F707F42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3573" y="6690671"/>
            <a:ext cx="2022873" cy="16733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91960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CC2D230-5E2F-E325-51E5-751E18A28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04A34952-3605-25F5-58CA-505A5F203419}"/>
              </a:ext>
            </a:extLst>
          </p:cNvPr>
          <p:cNvGrpSpPr/>
          <p:nvPr/>
        </p:nvGrpSpPr>
        <p:grpSpPr>
          <a:xfrm>
            <a:off x="278606" y="2224323"/>
            <a:ext cx="6122238" cy="2891652"/>
            <a:chOff x="278606" y="2224323"/>
            <a:chExt cx="6122238" cy="2891652"/>
          </a:xfrm>
        </p:grpSpPr>
        <p:sp>
          <p:nvSpPr>
            <p:cNvPr id="3" name="Прямоугольник: скругленные углы 2">
              <a:extLst>
                <a:ext uri="{FF2B5EF4-FFF2-40B4-BE49-F238E27FC236}">
                  <a16:creationId xmlns:a16="http://schemas.microsoft.com/office/drawing/2014/main" id="{A4FB9E8B-2EFD-604A-027C-0433D1447EE3}"/>
                </a:ext>
              </a:extLst>
            </p:cNvPr>
            <p:cNvSpPr/>
            <p:nvPr/>
          </p:nvSpPr>
          <p:spPr>
            <a:xfrm>
              <a:off x="278606" y="2224323"/>
              <a:ext cx="6122238" cy="2891652"/>
            </a:xfrm>
            <a:prstGeom prst="roundRect">
              <a:avLst>
                <a:gd name="adj" fmla="val 4689"/>
              </a:avLst>
            </a:prstGeom>
            <a:solidFill>
              <a:schemeClr val="bg1"/>
            </a:solidFill>
            <a:ln>
              <a:solidFill>
                <a:srgbClr val="FFA72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FFEF581E-062D-5219-D5E2-E90588C873A5}"/>
                </a:ext>
              </a:extLst>
            </p:cNvPr>
            <p:cNvSpPr txBox="1"/>
            <p:nvPr/>
          </p:nvSpPr>
          <p:spPr>
            <a:xfrm>
              <a:off x="409234" y="2481825"/>
              <a:ext cx="5991610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800" b="1" i="0" u="none" strike="noStrike" cap="none" dirty="0">
                  <a:latin typeface="Comfortaa SemiBold" pitchFamily="2" charset="0"/>
                  <a:ea typeface="Pacifico"/>
                  <a:cs typeface="Pacifico"/>
                  <a:sym typeface="Pacifico"/>
                </a:rPr>
                <a:t>Разработка веб-приложения УНФО</a:t>
              </a:r>
              <a:endParaRPr lang="ru-RU" sz="2800" b="1" i="0" u="none" strike="noStrike" cap="none" dirty="0">
                <a:latin typeface="Comfortaa SemiBold" pitchFamily="2" charset="0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AF0EA88D-FEF7-72B0-DCF0-3D156DDF4C27}"/>
                </a:ext>
              </a:extLst>
            </p:cNvPr>
            <p:cNvSpPr txBox="1"/>
            <p:nvPr/>
          </p:nvSpPr>
          <p:spPr>
            <a:xfrm>
              <a:off x="445593" y="3435932"/>
              <a:ext cx="4779594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800" dirty="0">
                  <a:latin typeface="Calibri"/>
                  <a:ea typeface="Calibri"/>
                  <a:cs typeface="Poppins"/>
                  <a:sym typeface="Poppins"/>
                </a:rPr>
                <a:t>для автоматизации учета проживающих и управления структурой общежития</a:t>
              </a:r>
              <a:endParaRPr lang="ru-RU" sz="2800" b="0" i="0" u="none" strike="noStrike" cap="none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26" name="Picture 2" descr="Цель – Бесплатные иконки: бизнес">
            <a:extLst>
              <a:ext uri="{FF2B5EF4-FFF2-40B4-BE49-F238E27FC236}">
                <a16:creationId xmlns:a16="http://schemas.microsoft.com/office/drawing/2014/main" id="{422E6DCE-A80C-89A9-EE64-8B16C7C2A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2241" y="1791165"/>
            <a:ext cx="3602803" cy="3602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4A0FF024-BB2C-E6D0-6C8E-6239847A824A}"/>
              </a:ext>
            </a:extLst>
          </p:cNvPr>
          <p:cNvGrpSpPr/>
          <p:nvPr/>
        </p:nvGrpSpPr>
        <p:grpSpPr>
          <a:xfrm>
            <a:off x="226218" y="192416"/>
            <a:ext cx="11720513" cy="786262"/>
            <a:chOff x="226218" y="192416"/>
            <a:chExt cx="11720513" cy="786262"/>
          </a:xfrm>
        </p:grpSpPr>
        <p:sp>
          <p:nvSpPr>
            <p:cNvPr id="4" name="Прямоугольник: скругленные углы 3">
              <a:extLst>
                <a:ext uri="{FF2B5EF4-FFF2-40B4-BE49-F238E27FC236}">
                  <a16:creationId xmlns:a16="http://schemas.microsoft.com/office/drawing/2014/main" id="{673EC3EE-6F28-60DF-DC25-A03C379DD93C}"/>
                </a:ext>
              </a:extLst>
            </p:cNvPr>
            <p:cNvSpPr/>
            <p:nvPr/>
          </p:nvSpPr>
          <p:spPr>
            <a:xfrm>
              <a:off x="226218" y="192416"/>
              <a:ext cx="11720513" cy="786262"/>
            </a:xfrm>
            <a:prstGeom prst="roundRect">
              <a:avLst>
                <a:gd name="adj" fmla="val 23264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CA33C1B-0F05-3093-E5C4-AB75D1BA7A8B}"/>
                </a:ext>
              </a:extLst>
            </p:cNvPr>
            <p:cNvSpPr txBox="1"/>
            <p:nvPr/>
          </p:nvSpPr>
          <p:spPr>
            <a:xfrm>
              <a:off x="11029949" y="323937"/>
              <a:ext cx="91678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2800" dirty="0">
                  <a:latin typeface="Comfortaa Medium" pitchFamily="2" charset="0"/>
                </a:rPr>
                <a:t>2/7</a:t>
              </a:r>
            </a:p>
          </p:txBody>
        </p:sp>
        <p:sp>
          <p:nvSpPr>
            <p:cNvPr id="6" name="Заголовок 1">
              <a:extLst>
                <a:ext uri="{FF2B5EF4-FFF2-40B4-BE49-F238E27FC236}">
                  <a16:creationId xmlns:a16="http://schemas.microsoft.com/office/drawing/2014/main" id="{694A2BF7-9577-AD6D-8436-041259EF7608}"/>
                </a:ext>
              </a:extLst>
            </p:cNvPr>
            <p:cNvSpPr txBox="1">
              <a:spLocks/>
            </p:cNvSpPr>
            <p:nvPr/>
          </p:nvSpPr>
          <p:spPr>
            <a:xfrm>
              <a:off x="278606" y="330766"/>
              <a:ext cx="10751342" cy="509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ru-RU" sz="3200" dirty="0">
                  <a:latin typeface="Comfortaa Medium" pitchFamily="2" charset="0"/>
                </a:rPr>
                <a:t>Цель</a:t>
              </a:r>
            </a:p>
          </p:txBody>
        </p:sp>
      </p:grp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9584EA9-8122-B609-F3CE-C62BF4270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3573" y="6690671"/>
            <a:ext cx="12195573" cy="167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BF3F11E-6ACB-6921-054D-4A91BE4F42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3573" y="6690671"/>
            <a:ext cx="2022873" cy="16733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2029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4FCE6F3-C04C-904E-E83B-EDBF8EDD6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F2B8B958-5FE1-BB68-1100-6AF810D87CA1}"/>
              </a:ext>
            </a:extLst>
          </p:cNvPr>
          <p:cNvGrpSpPr/>
          <p:nvPr/>
        </p:nvGrpSpPr>
        <p:grpSpPr>
          <a:xfrm>
            <a:off x="226218" y="192416"/>
            <a:ext cx="11720513" cy="786262"/>
            <a:chOff x="226218" y="192416"/>
            <a:chExt cx="11720513" cy="786262"/>
          </a:xfrm>
        </p:grpSpPr>
        <p:sp>
          <p:nvSpPr>
            <p:cNvPr id="8" name="Прямоугольник: скругленные углы 7">
              <a:extLst>
                <a:ext uri="{FF2B5EF4-FFF2-40B4-BE49-F238E27FC236}">
                  <a16:creationId xmlns:a16="http://schemas.microsoft.com/office/drawing/2014/main" id="{966FB042-ACB6-FBB2-072B-3C888510DE3D}"/>
                </a:ext>
              </a:extLst>
            </p:cNvPr>
            <p:cNvSpPr/>
            <p:nvPr/>
          </p:nvSpPr>
          <p:spPr>
            <a:xfrm>
              <a:off x="226218" y="192416"/>
              <a:ext cx="11720513" cy="786262"/>
            </a:xfrm>
            <a:prstGeom prst="roundRect">
              <a:avLst>
                <a:gd name="adj" fmla="val 23264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08D5C00-BD70-EC02-0560-AB1E957CDAD1}"/>
                </a:ext>
              </a:extLst>
            </p:cNvPr>
            <p:cNvSpPr txBox="1"/>
            <p:nvPr/>
          </p:nvSpPr>
          <p:spPr>
            <a:xfrm>
              <a:off x="11029949" y="323937"/>
              <a:ext cx="91678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2800" dirty="0">
                  <a:latin typeface="Comfortaa Medium" pitchFamily="2" charset="0"/>
                </a:rPr>
                <a:t>2/7</a:t>
              </a:r>
            </a:p>
          </p:txBody>
        </p:sp>
        <p:sp>
          <p:nvSpPr>
            <p:cNvPr id="10" name="Заголовок 1">
              <a:extLst>
                <a:ext uri="{FF2B5EF4-FFF2-40B4-BE49-F238E27FC236}">
                  <a16:creationId xmlns:a16="http://schemas.microsoft.com/office/drawing/2014/main" id="{9B09DE58-AB85-7097-E419-5CE3522AEB62}"/>
                </a:ext>
              </a:extLst>
            </p:cNvPr>
            <p:cNvSpPr txBox="1">
              <a:spLocks/>
            </p:cNvSpPr>
            <p:nvPr/>
          </p:nvSpPr>
          <p:spPr>
            <a:xfrm>
              <a:off x="278606" y="330766"/>
              <a:ext cx="10751342" cy="509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ru-RU" sz="3200" dirty="0">
                  <a:latin typeface="Comfortaa Medium" pitchFamily="2" charset="0"/>
                </a:rPr>
                <a:t>Архитектура системы</a:t>
              </a:r>
            </a:p>
          </p:txBody>
        </p:sp>
      </p:grp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C8AC2687-2B53-CB7D-9E0A-9401A8B73E4F}"/>
              </a:ext>
            </a:extLst>
          </p:cNvPr>
          <p:cNvGrpSpPr/>
          <p:nvPr/>
        </p:nvGrpSpPr>
        <p:grpSpPr>
          <a:xfrm>
            <a:off x="1200149" y="1851442"/>
            <a:ext cx="8982075" cy="4330283"/>
            <a:chOff x="1200149" y="1851442"/>
            <a:chExt cx="8982075" cy="4330283"/>
          </a:xfrm>
        </p:grpSpPr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37CE18AF-3CD9-C309-2F43-33D5D9B45F71}"/>
                </a:ext>
              </a:extLst>
            </p:cNvPr>
            <p:cNvGrpSpPr/>
            <p:nvPr/>
          </p:nvGrpSpPr>
          <p:grpSpPr>
            <a:xfrm>
              <a:off x="1200149" y="1851442"/>
              <a:ext cx="8982075" cy="4330283"/>
              <a:chOff x="2096190" y="1851442"/>
              <a:chExt cx="7732920" cy="4330283"/>
            </a:xfrm>
          </p:grpSpPr>
          <p:sp>
            <p:nvSpPr>
              <p:cNvPr id="7" name="Прямоугольник: скругленные углы 6">
                <a:extLst>
                  <a:ext uri="{FF2B5EF4-FFF2-40B4-BE49-F238E27FC236}">
                    <a16:creationId xmlns:a16="http://schemas.microsoft.com/office/drawing/2014/main" id="{14280383-9BD1-F3AD-DF02-8EFD9CA85A46}"/>
                  </a:ext>
                </a:extLst>
              </p:cNvPr>
              <p:cNvSpPr/>
              <p:nvPr/>
            </p:nvSpPr>
            <p:spPr>
              <a:xfrm>
                <a:off x="4329006" y="4410075"/>
                <a:ext cx="3286901" cy="1771650"/>
              </a:xfrm>
              <a:prstGeom prst="roundRect">
                <a:avLst>
                  <a:gd name="adj" fmla="val 8785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Comfortaa Medium" pitchFamily="2" charset="0"/>
                  </a:rPr>
                  <a:t>Клиент</a:t>
                </a:r>
              </a:p>
              <a:p>
                <a:pPr algn="ctr"/>
                <a:endParaRPr lang="ru-RU" dirty="0">
                  <a:solidFill>
                    <a:schemeClr val="tx1"/>
                  </a:solidFill>
                  <a:latin typeface="Comfortaa Medium" pitchFamily="2" charset="0"/>
                </a:endParaRPr>
              </a:p>
              <a:p>
                <a:pPr algn="ctr"/>
                <a:endParaRPr lang="ru-RU" dirty="0">
                  <a:solidFill>
                    <a:schemeClr val="tx1"/>
                  </a:solidFill>
                  <a:latin typeface="Comfortaa Medium" pitchFamily="2" charset="0"/>
                </a:endParaRPr>
              </a:p>
              <a:p>
                <a:pPr algn="ctr"/>
                <a:endParaRPr lang="ru-RU" dirty="0">
                  <a:solidFill>
                    <a:schemeClr val="tx1"/>
                  </a:solidFill>
                  <a:latin typeface="Comfortaa Medium" pitchFamily="2" charset="0"/>
                </a:endParaRPr>
              </a:p>
              <a:p>
                <a:pPr algn="ctr"/>
                <a:endParaRPr lang="ru-RU" dirty="0">
                  <a:solidFill>
                    <a:schemeClr val="tx1"/>
                  </a:solidFill>
                  <a:latin typeface="Comfortaa Medium" pitchFamily="2" charset="0"/>
                </a:endParaRPr>
              </a:p>
            </p:txBody>
          </p:sp>
          <p:grpSp>
            <p:nvGrpSpPr>
              <p:cNvPr id="58" name="Группа 57">
                <a:extLst>
                  <a:ext uri="{FF2B5EF4-FFF2-40B4-BE49-F238E27FC236}">
                    <a16:creationId xmlns:a16="http://schemas.microsoft.com/office/drawing/2014/main" id="{CAEADBD3-A672-DED4-B0F3-6D9C1F3A2B18}"/>
                  </a:ext>
                </a:extLst>
              </p:cNvPr>
              <p:cNvGrpSpPr/>
              <p:nvPr/>
            </p:nvGrpSpPr>
            <p:grpSpPr>
              <a:xfrm>
                <a:off x="2096190" y="1851442"/>
                <a:ext cx="7732920" cy="4142651"/>
                <a:chOff x="2601696" y="2305050"/>
                <a:chExt cx="6970929" cy="3734438"/>
              </a:xfrm>
            </p:grpSpPr>
            <p:sp>
              <p:nvSpPr>
                <p:cNvPr id="34" name="Прямоугольник: скругленные углы 33">
                  <a:extLst>
                    <a:ext uri="{FF2B5EF4-FFF2-40B4-BE49-F238E27FC236}">
                      <a16:creationId xmlns:a16="http://schemas.microsoft.com/office/drawing/2014/main" id="{7BC65B17-085A-FD12-88AF-DE6936E11F0D}"/>
                    </a:ext>
                  </a:extLst>
                </p:cNvPr>
                <p:cNvSpPr/>
                <p:nvPr/>
              </p:nvSpPr>
              <p:spPr>
                <a:xfrm>
                  <a:off x="2601696" y="2305050"/>
                  <a:ext cx="6970929" cy="2066925"/>
                </a:xfrm>
                <a:prstGeom prst="roundRect">
                  <a:avLst>
                    <a:gd name="adj" fmla="val 4818"/>
                  </a:avLst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dirty="0">
                      <a:solidFill>
                        <a:schemeClr val="tx1"/>
                      </a:solidFill>
                      <a:latin typeface="Comfortaa Medium" pitchFamily="2" charset="0"/>
                    </a:rPr>
                    <a:t>Сервер</a:t>
                  </a:r>
                </a:p>
                <a:p>
                  <a:pPr algn="ctr"/>
                  <a:endParaRPr lang="ru-RU" dirty="0">
                    <a:solidFill>
                      <a:schemeClr val="tx1"/>
                    </a:solidFill>
                    <a:latin typeface="Comfortaa Medium" pitchFamily="2" charset="0"/>
                  </a:endParaRPr>
                </a:p>
                <a:p>
                  <a:pPr algn="ctr"/>
                  <a:endParaRPr lang="ru-RU" dirty="0">
                    <a:solidFill>
                      <a:schemeClr val="tx1"/>
                    </a:solidFill>
                    <a:latin typeface="Comfortaa Medium" pitchFamily="2" charset="0"/>
                  </a:endParaRPr>
                </a:p>
                <a:p>
                  <a:pPr algn="ctr"/>
                  <a:endParaRPr lang="ru-RU" dirty="0">
                    <a:solidFill>
                      <a:schemeClr val="tx1"/>
                    </a:solidFill>
                    <a:latin typeface="Comfortaa Medium" pitchFamily="2" charset="0"/>
                  </a:endParaRPr>
                </a:p>
                <a:p>
                  <a:pPr algn="ctr"/>
                  <a:endParaRPr lang="ru-RU" dirty="0">
                    <a:solidFill>
                      <a:schemeClr val="tx1"/>
                    </a:solidFill>
                    <a:latin typeface="Comfortaa Medium" pitchFamily="2" charset="0"/>
                  </a:endParaRPr>
                </a:p>
              </p:txBody>
            </p:sp>
            <p:sp>
              <p:nvSpPr>
                <p:cNvPr id="35" name="Прямоугольник: скругленные углы 34">
                  <a:extLst>
                    <a:ext uri="{FF2B5EF4-FFF2-40B4-BE49-F238E27FC236}">
                      <a16:creationId xmlns:a16="http://schemas.microsoft.com/office/drawing/2014/main" id="{1ECA7979-34F0-56C8-1C91-78FC075843F0}"/>
                    </a:ext>
                  </a:extLst>
                </p:cNvPr>
                <p:cNvSpPr/>
                <p:nvPr/>
              </p:nvSpPr>
              <p:spPr>
                <a:xfrm>
                  <a:off x="5110162" y="5242407"/>
                  <a:ext cx="1971676" cy="797081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dirty="0">
                      <a:solidFill>
                        <a:schemeClr val="tx1"/>
                      </a:solidFill>
                      <a:latin typeface="Comfortaa Medium" pitchFamily="2" charset="0"/>
                    </a:rPr>
                    <a:t>УНФО</a:t>
                  </a:r>
                </a:p>
              </p:txBody>
            </p:sp>
            <p:sp>
              <p:nvSpPr>
                <p:cNvPr id="33" name="Прямоугольник: скругленные углы 32">
                  <a:extLst>
                    <a:ext uri="{FF2B5EF4-FFF2-40B4-BE49-F238E27FC236}">
                      <a16:creationId xmlns:a16="http://schemas.microsoft.com/office/drawing/2014/main" id="{3299F8B5-F131-F5A5-45A3-2257B1A206A4}"/>
                    </a:ext>
                  </a:extLst>
                </p:cNvPr>
                <p:cNvSpPr/>
                <p:nvPr/>
              </p:nvSpPr>
              <p:spPr>
                <a:xfrm>
                  <a:off x="5110162" y="3234977"/>
                  <a:ext cx="1971676" cy="797081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Comfortaa Medium" pitchFamily="2" charset="0"/>
                    </a:rPr>
                    <a:t>API</a:t>
                  </a:r>
                  <a:endParaRPr lang="ru-RU" dirty="0">
                    <a:solidFill>
                      <a:schemeClr val="tx1"/>
                    </a:solidFill>
                    <a:latin typeface="Comfortaa Medium" pitchFamily="2" charset="0"/>
                  </a:endParaRPr>
                </a:p>
              </p:txBody>
            </p:sp>
            <p:sp>
              <p:nvSpPr>
                <p:cNvPr id="38" name="Прямоугольник: скругленные углы 37">
                  <a:extLst>
                    <a:ext uri="{FF2B5EF4-FFF2-40B4-BE49-F238E27FC236}">
                      <a16:creationId xmlns:a16="http://schemas.microsoft.com/office/drawing/2014/main" id="{59038C30-FE58-AD58-814D-B120C0D96249}"/>
                    </a:ext>
                  </a:extLst>
                </p:cNvPr>
                <p:cNvSpPr/>
                <p:nvPr/>
              </p:nvSpPr>
              <p:spPr>
                <a:xfrm>
                  <a:off x="2807948" y="3234977"/>
                  <a:ext cx="1806545" cy="797081"/>
                </a:xfrm>
                <a:prstGeom prst="roundRect">
                  <a:avLst>
                    <a:gd name="adj" fmla="val 13082"/>
                  </a:avLst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dirty="0">
                      <a:solidFill>
                        <a:schemeClr val="tx1"/>
                      </a:solidFill>
                      <a:latin typeface="Comfortaa Medium" pitchFamily="2" charset="0"/>
                    </a:rPr>
                    <a:t>База данных </a:t>
                  </a:r>
                  <a:r>
                    <a:rPr lang="en-US" dirty="0">
                      <a:solidFill>
                        <a:schemeClr val="tx1"/>
                      </a:solidFill>
                      <a:latin typeface="Comfortaa Medium" pitchFamily="2" charset="0"/>
                    </a:rPr>
                    <a:t>MySQL</a:t>
                  </a:r>
                  <a:endParaRPr lang="ru-RU" dirty="0">
                    <a:solidFill>
                      <a:schemeClr val="tx1"/>
                    </a:solidFill>
                    <a:latin typeface="Comfortaa Medium" pitchFamily="2" charset="0"/>
                  </a:endParaRPr>
                </a:p>
              </p:txBody>
            </p:sp>
            <p:sp>
              <p:nvSpPr>
                <p:cNvPr id="39" name="Прямоугольник: скругленные углы 38">
                  <a:extLst>
                    <a:ext uri="{FF2B5EF4-FFF2-40B4-BE49-F238E27FC236}">
                      <a16:creationId xmlns:a16="http://schemas.microsoft.com/office/drawing/2014/main" id="{9341A8C8-B130-57BE-0385-BC9B3AA1B4AE}"/>
                    </a:ext>
                  </a:extLst>
                </p:cNvPr>
                <p:cNvSpPr/>
                <p:nvPr/>
              </p:nvSpPr>
              <p:spPr>
                <a:xfrm>
                  <a:off x="7577505" y="3234977"/>
                  <a:ext cx="1806546" cy="797081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dirty="0">
                      <a:solidFill>
                        <a:schemeClr val="tx1"/>
                      </a:solidFill>
                      <a:latin typeface="Comfortaa Medium" pitchFamily="2" charset="0"/>
                    </a:rPr>
                    <a:t>Веб-сервер</a:t>
                  </a:r>
                </a:p>
              </p:txBody>
            </p:sp>
            <p:cxnSp>
              <p:nvCxnSpPr>
                <p:cNvPr id="41" name="Прямая соединительная линия 40">
                  <a:extLst>
                    <a:ext uri="{FF2B5EF4-FFF2-40B4-BE49-F238E27FC236}">
                      <a16:creationId xmlns:a16="http://schemas.microsoft.com/office/drawing/2014/main" id="{C16EAF6B-7F79-F899-253B-35414FF68C85}"/>
                    </a:ext>
                  </a:extLst>
                </p:cNvPr>
                <p:cNvCxnSpPr>
                  <a:cxnSpLocks/>
                  <a:stCxn id="38" idx="3"/>
                  <a:endCxn id="33" idx="1"/>
                </p:cNvCxnSpPr>
                <p:nvPr/>
              </p:nvCxnSpPr>
              <p:spPr>
                <a:xfrm>
                  <a:off x="4614493" y="3633518"/>
                  <a:ext cx="495668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Прямая соединительная линия 46">
                  <a:extLst>
                    <a:ext uri="{FF2B5EF4-FFF2-40B4-BE49-F238E27FC236}">
                      <a16:creationId xmlns:a16="http://schemas.microsoft.com/office/drawing/2014/main" id="{DA9AD919-4632-E802-E6C6-15E2A1CB3E67}"/>
                    </a:ext>
                  </a:extLst>
                </p:cNvPr>
                <p:cNvCxnSpPr>
                  <a:cxnSpLocks/>
                  <a:stCxn id="33" idx="3"/>
                  <a:endCxn id="39" idx="1"/>
                </p:cNvCxnSpPr>
                <p:nvPr/>
              </p:nvCxnSpPr>
              <p:spPr>
                <a:xfrm>
                  <a:off x="7081838" y="3633518"/>
                  <a:ext cx="495667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Соединитель: уступ 50">
                  <a:extLst>
                    <a:ext uri="{FF2B5EF4-FFF2-40B4-BE49-F238E27FC236}">
                      <a16:creationId xmlns:a16="http://schemas.microsoft.com/office/drawing/2014/main" id="{8A84A74E-39D4-5756-0CCD-E3CF8627D16C}"/>
                    </a:ext>
                  </a:extLst>
                </p:cNvPr>
                <p:cNvCxnSpPr>
                  <a:cxnSpLocks/>
                  <a:stCxn id="39" idx="2"/>
                  <a:endCxn id="7" idx="3"/>
                </p:cNvCxnSpPr>
                <p:nvPr/>
              </p:nvCxnSpPr>
              <p:spPr>
                <a:xfrm rot="5400000">
                  <a:off x="7340125" y="4269441"/>
                  <a:ext cx="1378036" cy="903270"/>
                </a:xfrm>
                <a:prstGeom prst="bentConnector2">
                  <a:avLst/>
                </a:prstGeom>
                <a:ln cap="flat">
                  <a:miter lim="800000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321FF0E-BCB7-80C3-66FD-0707C41DEB41}"/>
                </a:ext>
              </a:extLst>
            </p:cNvPr>
            <p:cNvSpPr txBox="1"/>
            <p:nvPr/>
          </p:nvSpPr>
          <p:spPr>
            <a:xfrm>
              <a:off x="3793647" y="3033180"/>
              <a:ext cx="638671" cy="257175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algn="l"/>
              <a:r>
                <a:rPr lang="ru-RU" sz="1400" dirty="0">
                  <a:latin typeface="Comfortaa Medium" pitchFamily="2" charset="0"/>
                </a:rPr>
                <a:t>3306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4B3AEC0-250B-7727-748A-56456EC7C694}"/>
                </a:ext>
              </a:extLst>
            </p:cNvPr>
            <p:cNvSpPr txBox="1"/>
            <p:nvPr/>
          </p:nvSpPr>
          <p:spPr>
            <a:xfrm>
              <a:off x="6972832" y="3030245"/>
              <a:ext cx="638671" cy="257175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algn="l"/>
              <a:r>
                <a:rPr lang="ru-RU" sz="1400" dirty="0">
                  <a:latin typeface="Comfortaa Medium" pitchFamily="2" charset="0"/>
                </a:rPr>
                <a:t>5000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E0FB1D2-3506-2AF4-1A9B-E34796D69C24}"/>
                </a:ext>
              </a:extLst>
            </p:cNvPr>
            <p:cNvSpPr txBox="1"/>
            <p:nvPr/>
          </p:nvSpPr>
          <p:spPr>
            <a:xfrm>
              <a:off x="7930841" y="5017067"/>
              <a:ext cx="638671" cy="257175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algn="l"/>
              <a:r>
                <a:rPr lang="ru-RU" sz="1400" dirty="0">
                  <a:latin typeface="Comfortaa Medium" pitchFamily="2" charset="0"/>
                </a:rPr>
                <a:t>443</a:t>
              </a:r>
            </a:p>
          </p:txBody>
        </p:sp>
      </p:grp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454DF8D6-E9B8-F610-D476-A485895D4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3573" y="6690671"/>
            <a:ext cx="12195573" cy="167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79243682-2DC1-2A7D-0F78-D07FB86AC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3573" y="6690670"/>
            <a:ext cx="8252223" cy="167331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8165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 anchor="ctr">
        <a:noAutofit/>
      </a:bodyPr>
      <a:lstStyle>
        <a:defPPr algn="l">
          <a:defRPr sz="3200" dirty="0" smtClean="0">
            <a:latin typeface="Comfortaa Medium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5012</TotalTime>
  <Words>745</Words>
  <Application>Microsoft Office PowerPoint</Application>
  <PresentationFormat>Широкоэкранный</PresentationFormat>
  <Paragraphs>136</Paragraphs>
  <Slides>13</Slides>
  <Notes>13</Notes>
  <HiddenSlides>5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1" baseType="lpstr">
      <vt:lpstr>Calibri</vt:lpstr>
      <vt:lpstr>Comfortaa SemiBold</vt:lpstr>
      <vt:lpstr>Aptos Display</vt:lpstr>
      <vt:lpstr>Aptos</vt:lpstr>
      <vt:lpstr>Bahnschrift</vt:lpstr>
      <vt:lpstr>Arial</vt:lpstr>
      <vt:lpstr>Comfortaa Medium</vt:lpstr>
      <vt:lpstr>Тема Office</vt:lpstr>
      <vt:lpstr>ФЕДЕРАЛЬНОЕ ГОСУДАРСТВЕННОЕ БЮДЖЕТНОЕ ОБРАЗОВАТЕЛЬНОЕ УЧРЕЖДЕНИЕ ВЫСШЕГО ОБРАЗОВАНИЯ «САНКТ-ПЕТЕРБУРГСКИЙ ГОСУДАРСТВЕННЫЙ УНИВЕРСИТЕТ ТЕЛЕКОММУНИКАЦИЙ ИМ. ПРОФ. М.А. БОНЧ-БРУЕВИЧА» (СПбГУТ) АРХАНГЕЛЬСКИЙ КОЛЛЕДЖ ТЕЛЕКОММУНИКАЦИЙ ИМ. Б.Л. РОЗИНГА (ФИЛИАЛ) СПбГУТ (АКТ (ф) СПбГУТ)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ФЕДЕРАЛЬНОЕ ГОСУДАРСТВЕННОЕ БЮДЖЕТНОЕ ОБРАЗОВАТЕЛЬНОЕ УЧРЕЖДЕНИЕ ВЫСШЕГО ОБРАЗОВАНИЯ «САНКТ-ПЕТЕРБУРГСКИЙ ГОСУДАРСТВЕННЫЙ УНИВЕРСИТЕТ ТЕЛЕКОММУНИКАЦИЙ ИМ. ПРОФ. М.А. БОНЧ-БРУЕВИЧА» (СПбГУТ) АРХАНГЕЛЬСКИЙ КОЛЛЕДЖ ТЕЛЕКОММУНИКАЦИЙ ИМ. Б.Л. РОЗИНГА (ФИЛИАЛ) СПбГУТ (АКТ (ф) СПбГУТ)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Вячеслав Екимов</dc:creator>
  <cp:lastModifiedBy>Вячеслав Екимов</cp:lastModifiedBy>
  <cp:revision>210</cp:revision>
  <dcterms:created xsi:type="dcterms:W3CDTF">2025-11-25T06:59:53Z</dcterms:created>
  <dcterms:modified xsi:type="dcterms:W3CDTF">2026-05-22T10:43:50Z</dcterms:modified>
</cp:coreProperties>
</file>