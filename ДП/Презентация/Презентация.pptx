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7" r:id="rId2"/>
    <p:sldId id="260" r:id="rId3"/>
    <p:sldId id="261" r:id="rId4"/>
    <p:sldId id="262" r:id="rId5"/>
    <p:sldId id="269" r:id="rId6"/>
    <p:sldId id="263" r:id="rId7"/>
    <p:sldId id="264" r:id="rId8"/>
    <p:sldId id="265" r:id="rId9"/>
    <p:sldId id="270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50BD95-F608-64F7-6F20-62898EB5AE6C}" name="Вячеслав Екимов" initials="ВЕ" userId="04c4849db6b4c79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7FB"/>
    <a:srgbClr val="CAC8CE"/>
    <a:srgbClr val="F7941D"/>
    <a:srgbClr val="0A0A0A"/>
    <a:srgbClr val="FFA726"/>
    <a:srgbClr val="FFB951"/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39" autoAdjust="0"/>
  </p:normalViewPr>
  <p:slideViewPr>
    <p:cSldViewPr snapToGrid="0">
      <p:cViewPr>
        <p:scale>
          <a:sx n="100" d="100"/>
          <a:sy n="100" d="100"/>
        </p:scale>
        <p:origin x="95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A30F77-5712-483B-AA1A-1F3B9FE8DBCC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9357B-58AA-43FF-A802-AA7AB61A6A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197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614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C0C57-2EE8-B831-0B8D-056DB7A90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5A1B50E-FF6B-ADD7-EC26-77E74F488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4A95348-9ABA-DE3E-6021-FACDEC533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0E59680-2E01-845D-19CA-BF17A2436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9313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17" Type="http://schemas.openxmlformats.org/officeDocument/2006/relationships/image" Target="../media/image18.png"/><Relationship Id="rId2" Type="http://schemas.openxmlformats.org/officeDocument/2006/relationships/image" Target="../media/image5.png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5" Type="http://schemas.openxmlformats.org/officeDocument/2006/relationships/image" Target="../media/image16.png"/><Relationship Id="rId10" Type="http://schemas.microsoft.com/office/2007/relationships/hdphoto" Target="../media/hdphoto3.wdp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microsoft.com/office/2007/relationships/hdphoto" Target="../media/hdphoto4.wd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DC20C-B974-7D50-DE3D-F4AE2E02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1A48AAD8-6144-9780-7F06-C30A4B2A1A41}"/>
              </a:ext>
            </a:extLst>
          </p:cNvPr>
          <p:cNvSpPr/>
          <p:nvPr/>
        </p:nvSpPr>
        <p:spPr>
          <a:xfrm>
            <a:off x="8023370" y="3286998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616325C3-EFE7-4BDB-1551-6B7CB9DF0A09}"/>
              </a:ext>
            </a:extLst>
          </p:cNvPr>
          <p:cNvSpPr/>
          <p:nvPr/>
        </p:nvSpPr>
        <p:spPr>
          <a:xfrm>
            <a:off x="-4296229" y="-3556000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AB9DA4-E4CA-C2E1-47CE-6C9568A85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9842" y="0"/>
            <a:ext cx="8412158" cy="1789967"/>
          </a:xfrm>
        </p:spPr>
        <p:txBody>
          <a:bodyPr>
            <a:noAutofit/>
          </a:bodyPr>
          <a:lstStyle/>
          <a:p>
            <a:r>
              <a:rPr lang="ru-RU" sz="14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(СПбГУТ)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ИМ. Б.Л. РОЗИНГА (ФИЛИАЛ) СПбГУТ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1CD4C-39F8-5AB1-A900-3DDA4842C56E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AD85015E-7D46-3E84-D99E-72E645489E2A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F83941-24F9-4C65-E887-ED78DBD9BA03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Дипломник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56813F5-9AA5-14C3-41A3-9E6A35314B3A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ED0394F8-5703-1198-BD2B-A14DD074DBC5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4FAFDF-A957-9B2B-70B5-B612DA3D90B7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33F6D357-730F-9F96-71BB-4E6519630FF1}"/>
              </a:ext>
            </a:extLst>
          </p:cNvPr>
          <p:cNvGrpSpPr/>
          <p:nvPr/>
        </p:nvGrpSpPr>
        <p:grpSpPr>
          <a:xfrm>
            <a:off x="342763" y="5325049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053BD7-399E-F3C5-6D32-5B88110F9CF6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DC9F433C-E88C-0EF2-4364-4B4793046D49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A28C6147-73C2-AE23-E8A6-4FE47C79D092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885912-CBAF-F984-FD36-F3664EB563B4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D18717F3-75BD-60DC-E9B0-7FC3309B3F3F}"/>
              </a:ext>
            </a:extLst>
          </p:cNvPr>
          <p:cNvSpPr txBox="1">
            <a:spLocks/>
          </p:cNvSpPr>
          <p:nvPr/>
        </p:nvSpPr>
        <p:spPr>
          <a:xfrm>
            <a:off x="342763" y="2203790"/>
            <a:ext cx="11868159" cy="1789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3589948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4FB9E8B-2EFD-604A-027C-0433D1447EE3}"/>
              </a:ext>
            </a:extLst>
          </p:cNvPr>
          <p:cNvSpPr/>
          <p:nvPr/>
        </p:nvSpPr>
        <p:spPr>
          <a:xfrm>
            <a:off x="660400" y="1841122"/>
            <a:ext cx="4660150" cy="3175755"/>
          </a:xfrm>
          <a:prstGeom prst="roundRect">
            <a:avLst>
              <a:gd name="adj" fmla="val 4689"/>
            </a:avLst>
          </a:prstGeom>
          <a:solidFill>
            <a:schemeClr val="bg1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B0166C61-C690-81AE-91B8-293C4A8C2B44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6D646FD-AFE7-01D7-1566-607136C799C5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123FEB-B6A9-F4DE-7E3C-CC2187FFE58F}"/>
              </a:ext>
            </a:extLst>
          </p:cNvPr>
          <p:cNvSpPr/>
          <p:nvPr/>
        </p:nvSpPr>
        <p:spPr>
          <a:xfrm>
            <a:off x="-3573" y="6690671"/>
            <a:ext cx="295632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EF581E-062D-5219-D5E2-E90588C873A5}"/>
              </a:ext>
            </a:extLst>
          </p:cNvPr>
          <p:cNvSpPr txBox="1"/>
          <p:nvPr/>
        </p:nvSpPr>
        <p:spPr>
          <a:xfrm>
            <a:off x="730118" y="2103351"/>
            <a:ext cx="454196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u="none" strike="noStrike" cap="none" dirty="0">
                <a:latin typeface="Comfortaa SemiBold" pitchFamily="2" charset="0"/>
                <a:ea typeface="Pacifico"/>
                <a:cs typeface="Pacifico"/>
                <a:sym typeface="Pacifico"/>
              </a:rPr>
              <a:t>Создание программного решени</a:t>
            </a:r>
            <a:r>
              <a:rPr lang="ru-RU" sz="2000" b="1" dirty="0">
                <a:latin typeface="Comfortaa SemiBold" pitchFamily="2" charset="0"/>
                <a:ea typeface="Pacifico"/>
                <a:cs typeface="Pacifico"/>
                <a:sym typeface="Pacifico"/>
              </a:rPr>
              <a:t>я</a:t>
            </a:r>
            <a:endParaRPr lang="ru-RU" sz="2000" b="1" i="0" u="none" strike="noStrike" cap="none" dirty="0">
              <a:latin typeface="Comfortaa SemiBold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0EA88D-FEF7-72B0-DCF0-3D156DDF4C27}"/>
              </a:ext>
            </a:extLst>
          </p:cNvPr>
          <p:cNvSpPr txBox="1"/>
          <p:nvPr/>
        </p:nvSpPr>
        <p:spPr>
          <a:xfrm>
            <a:off x="730118" y="3073466"/>
            <a:ext cx="425072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latin typeface="Calibri"/>
                <a:ea typeface="Calibri"/>
                <a:cs typeface="Poppins"/>
                <a:sym typeface="Poppins"/>
              </a:rPr>
              <a:t>для сотрудников администрации, которое будет обеспечивать упрощенную форму учета данных о студентах проживающих в общежитии и оборудовании</a:t>
            </a:r>
            <a:endParaRPr lang="ru-RU" sz="2000" b="0" i="0" u="none" strike="noStrike" cap="none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Цель – Бесплатные иконки: бизнес">
            <a:extLst>
              <a:ext uri="{FF2B5EF4-FFF2-40B4-BE49-F238E27FC236}">
                <a16:creationId xmlns:a16="http://schemas.microsoft.com/office/drawing/2014/main" id="{422E6DCE-A80C-89A9-EE64-8B16C7C2A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2483" y="1982084"/>
            <a:ext cx="3602803" cy="360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42EAAD7-8ADF-7777-3EEE-D69618D0ED0D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3</a:t>
            </a:r>
          </a:p>
        </p:txBody>
      </p:sp>
      <p:sp>
        <p:nvSpPr>
          <p:cNvPr id="37" name="Заголовок 1">
            <a:extLst>
              <a:ext uri="{FF2B5EF4-FFF2-40B4-BE49-F238E27FC236}">
                <a16:creationId xmlns:a16="http://schemas.microsoft.com/office/drawing/2014/main" id="{6220976A-07CC-FCE4-4415-4766270E53DE}"/>
              </a:ext>
            </a:extLst>
          </p:cNvPr>
          <p:cNvSpPr txBox="1">
            <a:spLocks/>
          </p:cNvSpPr>
          <p:nvPr/>
        </p:nvSpPr>
        <p:spPr>
          <a:xfrm>
            <a:off x="190500" y="228389"/>
            <a:ext cx="10952621" cy="509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>
                <a:latin typeface="Comfortaa Medium" pitchFamily="2" charset="0"/>
              </a:rPr>
              <a:t>Цель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5BD3DABE-5DF2-128B-E6D7-AC63FF832B54}"/>
              </a:ext>
            </a:extLst>
          </p:cNvPr>
          <p:cNvSpPr/>
          <p:nvPr/>
        </p:nvSpPr>
        <p:spPr>
          <a:xfrm>
            <a:off x="-3573" y="-8876123"/>
            <a:ext cx="7975563" cy="7975563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0040A7-9D13-3975-CCB1-C0D2432A2952}"/>
              </a:ext>
            </a:extLst>
          </p:cNvPr>
          <p:cNvSpPr txBox="1"/>
          <p:nvPr/>
        </p:nvSpPr>
        <p:spPr>
          <a:xfrm>
            <a:off x="571037" y="-6289014"/>
            <a:ext cx="4568890" cy="2801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Comfortaa Medium" pitchFamily="2" charset="0"/>
              </a:rPr>
              <a:t>Отсутствие единой системы учета осложняет управление фондом студенческих общежитий</a:t>
            </a:r>
            <a:r>
              <a:rPr lang="ru-RU" dirty="0">
                <a:solidFill>
                  <a:schemeClr val="bg1"/>
                </a:solidFill>
                <a:latin typeface="Comfortaa Medium" pitchFamily="2" charset="0"/>
              </a:rPr>
              <a:t>.</a:t>
            </a:r>
            <a:endParaRPr lang="ru-RU" sz="1800" b="0" i="0" u="none" strike="noStrike" cap="none" dirty="0">
              <a:solidFill>
                <a:schemeClr val="bg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263EF27-B39A-9D88-784C-0C80A129C85A}"/>
              </a:ext>
            </a:extLst>
          </p:cNvPr>
          <p:cNvGrpSpPr/>
          <p:nvPr/>
        </p:nvGrpSpPr>
        <p:grpSpPr>
          <a:xfrm>
            <a:off x="436132" y="1289769"/>
            <a:ext cx="5322678" cy="936757"/>
            <a:chOff x="1041393" y="3810289"/>
            <a:chExt cx="5322678" cy="936757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2C194BA-5EF5-48BB-CE7F-F40D7A20A38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2992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82F559-3189-FD6D-CC17-85E342FDFB88}"/>
                </a:ext>
              </a:extLst>
            </p:cNvPr>
            <p:cNvSpPr txBox="1"/>
            <p:nvPr/>
          </p:nvSpPr>
          <p:spPr>
            <a:xfrm>
              <a:off x="1776007" y="3908537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потребностей целевой аудитории</a:t>
              </a: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37CC72B0-36C1-57A8-7F89-1E194456A5D6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83E0A2-6B81-46A5-B265-C1EA26B6798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5A63F0CE-C1CC-70F9-F254-34F0EF7ECB05}"/>
              </a:ext>
            </a:extLst>
          </p:cNvPr>
          <p:cNvGrpSpPr/>
          <p:nvPr/>
        </p:nvGrpSpPr>
        <p:grpSpPr>
          <a:xfrm>
            <a:off x="436132" y="2639994"/>
            <a:ext cx="5322678" cy="936757"/>
            <a:chOff x="1041393" y="3810289"/>
            <a:chExt cx="5322678" cy="936757"/>
          </a:xfrm>
        </p:grpSpPr>
        <p:sp>
          <p:nvSpPr>
            <p:cNvPr id="40" name="Прямоугольник: скругленные углы 39">
              <a:extLst>
                <a:ext uri="{FF2B5EF4-FFF2-40B4-BE49-F238E27FC236}">
                  <a16:creationId xmlns:a16="http://schemas.microsoft.com/office/drawing/2014/main" id="{6952F47D-2E87-8CE6-29F6-A324D10A5AA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D3810-38BB-1761-006F-0474B15F1129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</a:t>
              </a:r>
            </a:p>
          </p:txBody>
        </p:sp>
        <p:sp>
          <p:nvSpPr>
            <p:cNvPr id="42" name="Овал 41">
              <a:extLst>
                <a:ext uri="{FF2B5EF4-FFF2-40B4-BE49-F238E27FC236}">
                  <a16:creationId xmlns:a16="http://schemas.microsoft.com/office/drawing/2014/main" id="{B873F9C1-4DAC-FFC7-9855-93FD64CFA06A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CA39B19-AD61-34FC-D388-1E9203487C3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B3A554DB-15EF-3D4D-D54C-0C50BDCE5843}"/>
              </a:ext>
            </a:extLst>
          </p:cNvPr>
          <p:cNvGrpSpPr/>
          <p:nvPr/>
        </p:nvGrpSpPr>
        <p:grpSpPr>
          <a:xfrm>
            <a:off x="436132" y="3990219"/>
            <a:ext cx="5322678" cy="936757"/>
            <a:chOff x="1041393" y="3810289"/>
            <a:chExt cx="5322678" cy="936757"/>
          </a:xfrm>
        </p:grpSpPr>
        <p:sp>
          <p:nvSpPr>
            <p:cNvPr id="57" name="Прямоугольник: скругленные углы 56">
              <a:extLst>
                <a:ext uri="{FF2B5EF4-FFF2-40B4-BE49-F238E27FC236}">
                  <a16:creationId xmlns:a16="http://schemas.microsoft.com/office/drawing/2014/main" id="{C9430649-466A-CBF3-28E0-E630717422D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5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AB5DCA-D418-676C-5262-9C98DFBE982A}"/>
                </a:ext>
              </a:extLst>
            </p:cNvPr>
            <p:cNvSpPr txBox="1"/>
            <p:nvPr/>
          </p:nvSpPr>
          <p:spPr>
            <a:xfrm>
              <a:off x="1823834" y="3947562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базы данных</a:t>
              </a:r>
            </a:p>
          </p:txBody>
        </p:sp>
        <p:sp>
          <p:nvSpPr>
            <p:cNvPr id="59" name="Овал 58">
              <a:extLst>
                <a:ext uri="{FF2B5EF4-FFF2-40B4-BE49-F238E27FC236}">
                  <a16:creationId xmlns:a16="http://schemas.microsoft.com/office/drawing/2014/main" id="{0D0F482E-98A4-5127-C6FA-62B0A6B27197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2B39EB9-1922-6491-8896-469708E04313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1" name="Группа 80">
            <a:extLst>
              <a:ext uri="{FF2B5EF4-FFF2-40B4-BE49-F238E27FC236}">
                <a16:creationId xmlns:a16="http://schemas.microsoft.com/office/drawing/2014/main" id="{0E569526-ED5C-D578-CA4C-406EB7C8FA19}"/>
              </a:ext>
            </a:extLst>
          </p:cNvPr>
          <p:cNvGrpSpPr/>
          <p:nvPr/>
        </p:nvGrpSpPr>
        <p:grpSpPr>
          <a:xfrm>
            <a:off x="478410" y="5340444"/>
            <a:ext cx="5322678" cy="936757"/>
            <a:chOff x="1041393" y="3810289"/>
            <a:chExt cx="5322678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2847B3B2-5F0C-7EF4-01C0-E18EC0D67E7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40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86343CC-571B-B925-5202-E163532D84F6}"/>
                </a:ext>
              </a:extLst>
            </p:cNvPr>
            <p:cNvSpPr txBox="1"/>
            <p:nvPr/>
          </p:nvSpPr>
          <p:spPr>
            <a:xfrm>
              <a:off x="1823834" y="4078252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интерфейса</a:t>
              </a:r>
            </a:p>
          </p:txBody>
        </p:sp>
        <p:sp>
          <p:nvSpPr>
            <p:cNvPr id="84" name="Овал 83">
              <a:extLst>
                <a:ext uri="{FF2B5EF4-FFF2-40B4-BE49-F238E27FC236}">
                  <a16:creationId xmlns:a16="http://schemas.microsoft.com/office/drawing/2014/main" id="{D70F06E0-0109-B4AD-1416-9D3A92A8BA8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E52EEE-79B3-7B66-F062-86C16AB1680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D49125A3-F675-F4DD-E9A3-93C7FB6F573E}"/>
              </a:ext>
            </a:extLst>
          </p:cNvPr>
          <p:cNvGrpSpPr/>
          <p:nvPr/>
        </p:nvGrpSpPr>
        <p:grpSpPr>
          <a:xfrm>
            <a:off x="6337222" y="1289769"/>
            <a:ext cx="5322678" cy="936757"/>
            <a:chOff x="1041393" y="3810289"/>
            <a:chExt cx="5322678" cy="936757"/>
          </a:xfrm>
        </p:grpSpPr>
        <p:sp>
          <p:nvSpPr>
            <p:cNvPr id="87" name="Прямоугольник: скругленные углы 86">
              <a:extLst>
                <a:ext uri="{FF2B5EF4-FFF2-40B4-BE49-F238E27FC236}">
                  <a16:creationId xmlns:a16="http://schemas.microsoft.com/office/drawing/2014/main" id="{A74C4349-9036-FD47-3B91-331CDCE29D4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C977B90-0D6B-545E-9150-C52B003AAECF}"/>
                </a:ext>
              </a:extLst>
            </p:cNvPr>
            <p:cNvSpPr txBox="1"/>
            <p:nvPr/>
          </p:nvSpPr>
          <p:spPr>
            <a:xfrm>
              <a:off x="1871662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Реализация модулей системы</a:t>
              </a:r>
            </a:p>
          </p:txBody>
        </p:sp>
        <p:sp>
          <p:nvSpPr>
            <p:cNvPr id="89" name="Овал 88">
              <a:extLst>
                <a:ext uri="{FF2B5EF4-FFF2-40B4-BE49-F238E27FC236}">
                  <a16:creationId xmlns:a16="http://schemas.microsoft.com/office/drawing/2014/main" id="{6CE8D0CD-C3DA-5705-5D42-91B602A3A0BE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B672B9-DC29-1452-951F-38FF820D9F6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1" name="Группа 90">
            <a:extLst>
              <a:ext uri="{FF2B5EF4-FFF2-40B4-BE49-F238E27FC236}">
                <a16:creationId xmlns:a16="http://schemas.microsoft.com/office/drawing/2014/main" id="{345F01F0-B088-3785-3A8C-2F8CDBD49F23}"/>
              </a:ext>
            </a:extLst>
          </p:cNvPr>
          <p:cNvGrpSpPr/>
          <p:nvPr/>
        </p:nvGrpSpPr>
        <p:grpSpPr>
          <a:xfrm>
            <a:off x="6337222" y="2639994"/>
            <a:ext cx="5322678" cy="936757"/>
            <a:chOff x="1041393" y="3810289"/>
            <a:chExt cx="5322678" cy="936757"/>
          </a:xfrm>
        </p:grpSpPr>
        <p:sp>
          <p:nvSpPr>
            <p:cNvPr id="92" name="Прямоугольник: скругленные углы 91">
              <a:extLst>
                <a:ext uri="{FF2B5EF4-FFF2-40B4-BE49-F238E27FC236}">
                  <a16:creationId xmlns:a16="http://schemas.microsoft.com/office/drawing/2014/main" id="{33F2B824-5F8C-0ADE-653B-46149B73506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095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F28F16-75AB-8E3F-EDBD-9FDE2E3FE06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Интеграция модулей системы</a:t>
              </a:r>
            </a:p>
          </p:txBody>
        </p:sp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637AB873-927D-319F-9235-B2339B0F6688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E43FCC-80F1-B174-00F1-9CB02613598B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E3671830-AE90-189A-31C0-344E2F4BCF5D}"/>
              </a:ext>
            </a:extLst>
          </p:cNvPr>
          <p:cNvGrpSpPr/>
          <p:nvPr/>
        </p:nvGrpSpPr>
        <p:grpSpPr>
          <a:xfrm>
            <a:off x="6337222" y="3990219"/>
            <a:ext cx="5322678" cy="936757"/>
            <a:chOff x="1041393" y="3810289"/>
            <a:chExt cx="5322678" cy="936757"/>
          </a:xfrm>
        </p:grpSpPr>
        <p:sp>
          <p:nvSpPr>
            <p:cNvPr id="97" name="Прямоугольник: скругленные углы 96">
              <a:extLst>
                <a:ext uri="{FF2B5EF4-FFF2-40B4-BE49-F238E27FC236}">
                  <a16:creationId xmlns:a16="http://schemas.microsoft.com/office/drawing/2014/main" id="{AE842E35-53A4-9DEF-B4EF-F4527A6AD5E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0A5374B-0F1A-AD12-4C5B-0360B6CA5AE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</a:t>
              </a:r>
              <a:endParaRPr lang="ru-RU" dirty="0">
                <a:latin typeface="Comfortaa Medium" pitchFamily="2" charset="0"/>
              </a:endParaRPr>
            </a:p>
          </p:txBody>
        </p:sp>
        <p:sp>
          <p:nvSpPr>
            <p:cNvPr id="99" name="Овал 98">
              <a:extLst>
                <a:ext uri="{FF2B5EF4-FFF2-40B4-BE49-F238E27FC236}">
                  <a16:creationId xmlns:a16="http://schemas.microsoft.com/office/drawing/2014/main" id="{87CC053A-D08C-BDD4-72A1-B8C70ACABEFD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C0DFAE3-07E5-4E43-AE89-406C3D869B7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1" name="Группа 100">
            <a:extLst>
              <a:ext uri="{FF2B5EF4-FFF2-40B4-BE49-F238E27FC236}">
                <a16:creationId xmlns:a16="http://schemas.microsoft.com/office/drawing/2014/main" id="{6E052527-A590-97E5-4362-F31CEABFD083}"/>
              </a:ext>
            </a:extLst>
          </p:cNvPr>
          <p:cNvGrpSpPr/>
          <p:nvPr/>
        </p:nvGrpSpPr>
        <p:grpSpPr>
          <a:xfrm>
            <a:off x="6337222" y="5340444"/>
            <a:ext cx="5322678" cy="936757"/>
            <a:chOff x="1041393" y="3810289"/>
            <a:chExt cx="5322678" cy="936757"/>
          </a:xfrm>
        </p:grpSpPr>
        <p:sp>
          <p:nvSpPr>
            <p:cNvPr id="102" name="Прямоугольник: скругленные углы 101">
              <a:extLst>
                <a:ext uri="{FF2B5EF4-FFF2-40B4-BE49-F238E27FC236}">
                  <a16:creationId xmlns:a16="http://schemas.microsoft.com/office/drawing/2014/main" id="{CA7DA645-5C1A-5198-CE42-9D548E147063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235CAE-EA30-97E0-3795-76B385EAFF4C}"/>
                </a:ext>
              </a:extLst>
            </p:cNvPr>
            <p:cNvSpPr txBox="1"/>
            <p:nvPr/>
          </p:nvSpPr>
          <p:spPr>
            <a:xfrm>
              <a:off x="1823834" y="4076727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4" name="Овал 103">
              <a:extLst>
                <a:ext uri="{FF2B5EF4-FFF2-40B4-BE49-F238E27FC236}">
                  <a16:creationId xmlns:a16="http://schemas.microsoft.com/office/drawing/2014/main" id="{FE9A29B7-9C21-0161-370D-C351192D459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51C82C-633F-02F5-A3E1-A28F58E711F2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8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BF4E0A3-1F76-D75A-D515-73C0DDAA34D8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F47DF1B-FD6C-BD5A-BA39-790DFBA706DC}"/>
              </a:ext>
            </a:extLst>
          </p:cNvPr>
          <p:cNvSpPr/>
          <p:nvPr/>
        </p:nvSpPr>
        <p:spPr>
          <a:xfrm>
            <a:off x="-3573" y="6690671"/>
            <a:ext cx="4813697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126E88E7-CE0B-47B2-1C1C-620FB16D1957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Заголовок 1">
            <a:extLst>
              <a:ext uri="{FF2B5EF4-FFF2-40B4-BE49-F238E27FC236}">
                <a16:creationId xmlns:a16="http://schemas.microsoft.com/office/drawing/2014/main" id="{8D212F61-8D0C-8495-3FBC-7B9741F2D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Задачи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86CA7F-9D84-0C75-036F-244FFB2F1350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B0827-AFB6-532B-B761-50B7D3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FCC5EFB-5E08-8625-E4AB-37A6CA10194E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4C0D245-857A-E2E9-6AF3-E3A6EBB1609F}"/>
              </a:ext>
            </a:extLst>
          </p:cNvPr>
          <p:cNvSpPr/>
          <p:nvPr/>
        </p:nvSpPr>
        <p:spPr>
          <a:xfrm>
            <a:off x="-3572" y="6687203"/>
            <a:ext cx="6213872" cy="17079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B71C67-FB67-15DB-F06A-208B3A64BF14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5</a:t>
            </a:r>
          </a:p>
        </p:txBody>
      </p: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B668F218-94DA-241A-1D25-F78CB22DA5A5}"/>
              </a:ext>
            </a:extLst>
          </p:cNvPr>
          <p:cNvGrpSpPr/>
          <p:nvPr/>
        </p:nvGrpSpPr>
        <p:grpSpPr>
          <a:xfrm>
            <a:off x="680265" y="1562822"/>
            <a:ext cx="3156980" cy="3732357"/>
            <a:chOff x="1041394" y="1667282"/>
            <a:chExt cx="3156980" cy="3732357"/>
          </a:xfrm>
        </p:grpSpPr>
        <p:sp>
          <p:nvSpPr>
            <p:cNvPr id="60" name="Прямоугольник: скругленные углы 59">
              <a:extLst>
                <a:ext uri="{FF2B5EF4-FFF2-40B4-BE49-F238E27FC236}">
                  <a16:creationId xmlns:a16="http://schemas.microsoft.com/office/drawing/2014/main" id="{672A310A-91B1-96D1-7256-D923F900F72E}"/>
                </a:ext>
              </a:extLst>
            </p:cNvPr>
            <p:cNvSpPr/>
            <p:nvPr/>
          </p:nvSpPr>
          <p:spPr>
            <a:xfrm>
              <a:off x="1041394" y="166728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074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B27A964A-CB08-4BCA-764A-2AD159EAD6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1561772" y="2135385"/>
              <a:ext cx="2116224" cy="20864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ABC9447-49B4-8D28-5198-E2812D3E99EE}"/>
                </a:ext>
              </a:extLst>
            </p:cNvPr>
            <p:cNvSpPr txBox="1"/>
            <p:nvPr/>
          </p:nvSpPr>
          <p:spPr>
            <a:xfrm>
              <a:off x="1041394" y="4544874"/>
              <a:ext cx="3156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69C73553-D1F0-BC41-C3CF-0E6A4AA3A655}"/>
              </a:ext>
            </a:extLst>
          </p:cNvPr>
          <p:cNvGrpSpPr/>
          <p:nvPr/>
        </p:nvGrpSpPr>
        <p:grpSpPr>
          <a:xfrm>
            <a:off x="4517510" y="1562822"/>
            <a:ext cx="3156980" cy="3732357"/>
            <a:chOff x="4932510" y="1703727"/>
            <a:chExt cx="3156980" cy="3732357"/>
          </a:xfrm>
        </p:grpSpPr>
        <p:grpSp>
          <p:nvGrpSpPr>
            <p:cNvPr id="63" name="Группа 62">
              <a:extLst>
                <a:ext uri="{FF2B5EF4-FFF2-40B4-BE49-F238E27FC236}">
                  <a16:creationId xmlns:a16="http://schemas.microsoft.com/office/drawing/2014/main" id="{1CA3B8BC-5630-AB17-C767-29D1F630DE41}"/>
                </a:ext>
              </a:extLst>
            </p:cNvPr>
            <p:cNvGrpSpPr/>
            <p:nvPr/>
          </p:nvGrpSpPr>
          <p:grpSpPr>
            <a:xfrm>
              <a:off x="4932510" y="1703727"/>
              <a:ext cx="3156980" cy="3732357"/>
              <a:chOff x="4836648" y="1703727"/>
              <a:chExt cx="3156980" cy="3732357"/>
            </a:xfrm>
          </p:grpSpPr>
          <p:sp>
            <p:nvSpPr>
              <p:cNvPr id="1025" name="Прямоугольник: скругленные углы 1024">
                <a:extLst>
                  <a:ext uri="{FF2B5EF4-FFF2-40B4-BE49-F238E27FC236}">
                    <a16:creationId xmlns:a16="http://schemas.microsoft.com/office/drawing/2014/main" id="{B1B5234B-2937-EF70-546B-A8F040F243C2}"/>
                  </a:ext>
                </a:extLst>
              </p:cNvPr>
              <p:cNvSpPr/>
              <p:nvPr/>
            </p:nvSpPr>
            <p:spPr>
              <a:xfrm>
                <a:off x="4836648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E5B6AC38-B55B-1EE9-B637-F6B36BDE7F5D}"/>
                  </a:ext>
                </a:extLst>
              </p:cNvPr>
              <p:cNvSpPr txBox="1"/>
              <p:nvPr/>
            </p:nvSpPr>
            <p:spPr>
              <a:xfrm>
                <a:off x="4836648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Коменданты</a:t>
                </a:r>
              </a:p>
            </p:txBody>
          </p:sp>
        </p:grpSp>
        <p:pic>
          <p:nvPicPr>
            <p:cNvPr id="1024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4AADC2EE-5AAB-B45D-9931-67E3DE0A185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401022" y="2486555"/>
              <a:ext cx="2219956" cy="1788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7" name="Группа 1026">
            <a:extLst>
              <a:ext uri="{FF2B5EF4-FFF2-40B4-BE49-F238E27FC236}">
                <a16:creationId xmlns:a16="http://schemas.microsoft.com/office/drawing/2014/main" id="{9B7602A2-2FDF-C8B2-6C24-54325DC86F6D}"/>
              </a:ext>
            </a:extLst>
          </p:cNvPr>
          <p:cNvGrpSpPr/>
          <p:nvPr/>
        </p:nvGrpSpPr>
        <p:grpSpPr>
          <a:xfrm>
            <a:off x="8354755" y="1562822"/>
            <a:ext cx="3156980" cy="3732357"/>
            <a:chOff x="8587653" y="1703727"/>
            <a:chExt cx="3156980" cy="3732357"/>
          </a:xfrm>
        </p:grpSpPr>
        <p:grpSp>
          <p:nvGrpSpPr>
            <p:cNvPr id="1028" name="Группа 1027">
              <a:extLst>
                <a:ext uri="{FF2B5EF4-FFF2-40B4-BE49-F238E27FC236}">
                  <a16:creationId xmlns:a16="http://schemas.microsoft.com/office/drawing/2014/main" id="{1D97C07C-3177-14F0-6015-F83B72D7CD23}"/>
                </a:ext>
              </a:extLst>
            </p:cNvPr>
            <p:cNvGrpSpPr/>
            <p:nvPr/>
          </p:nvGrpSpPr>
          <p:grpSpPr>
            <a:xfrm>
              <a:off x="8587653" y="1703727"/>
              <a:ext cx="3156980" cy="3732357"/>
              <a:chOff x="8351680" y="1703727"/>
              <a:chExt cx="3156980" cy="3732357"/>
            </a:xfrm>
          </p:grpSpPr>
          <p:sp>
            <p:nvSpPr>
              <p:cNvPr id="1030" name="Прямоугольник: скругленные углы 1029">
                <a:extLst>
                  <a:ext uri="{FF2B5EF4-FFF2-40B4-BE49-F238E27FC236}">
                    <a16:creationId xmlns:a16="http://schemas.microsoft.com/office/drawing/2014/main" id="{24239B64-5F5D-6950-4554-29F0D85EBE6B}"/>
                  </a:ext>
                </a:extLst>
              </p:cNvPr>
              <p:cNvSpPr/>
              <p:nvPr/>
            </p:nvSpPr>
            <p:spPr>
              <a:xfrm>
                <a:off x="8351680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691BCC79-35C4-2EB1-2432-E8814CE9A578}"/>
                  </a:ext>
                </a:extLst>
              </p:cNvPr>
              <p:cNvSpPr txBox="1"/>
              <p:nvPr/>
            </p:nvSpPr>
            <p:spPr>
              <a:xfrm>
                <a:off x="8351680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Воспитатели</a:t>
                </a:r>
              </a:p>
            </p:txBody>
          </p:sp>
        </p:grpSp>
        <p:pic>
          <p:nvPicPr>
            <p:cNvPr id="1029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3279BDCE-9155-491C-28A0-84D474BAFA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7067" y="2241592"/>
              <a:ext cx="2278152" cy="2278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32" name="Прямоугольник: скругленные углы 1031">
            <a:extLst>
              <a:ext uri="{FF2B5EF4-FFF2-40B4-BE49-F238E27FC236}">
                <a16:creationId xmlns:a16="http://schemas.microsoft.com/office/drawing/2014/main" id="{F7CF8F26-F7D9-1A9A-571B-B3F1C4886E47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3" name="Заголовок 1">
            <a:extLst>
              <a:ext uri="{FF2B5EF4-FFF2-40B4-BE49-F238E27FC236}">
                <a16:creationId xmlns:a16="http://schemas.microsoft.com/office/drawing/2014/main" id="{DFFF0764-BE0C-F6BF-AAE0-F908237A0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Целевая аудитория</a:t>
            </a:r>
          </a:p>
        </p:txBody>
      </p:sp>
    </p:spTree>
    <p:extLst>
      <p:ext uri="{BB962C8B-B14F-4D97-AF65-F5344CB8AC3E}">
        <p14:creationId xmlns:p14="http://schemas.microsoft.com/office/powerpoint/2010/main" val="1600425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35C5F6-3378-F4F8-05A1-763E97AD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C673DEBC-B840-9506-6B7A-234A75099D0B}"/>
              </a:ext>
            </a:extLst>
          </p:cNvPr>
          <p:cNvGrpSpPr/>
          <p:nvPr/>
        </p:nvGrpSpPr>
        <p:grpSpPr>
          <a:xfrm>
            <a:off x="95250" y="1128760"/>
            <a:ext cx="5189355" cy="1914425"/>
            <a:chOff x="126237" y="1900773"/>
            <a:chExt cx="5189355" cy="1914425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D3830C61-5EB3-4B90-1EFA-E49B61F2E52C}"/>
                </a:ext>
              </a:extLst>
            </p:cNvPr>
            <p:cNvGrpSpPr/>
            <p:nvPr/>
          </p:nvGrpSpPr>
          <p:grpSpPr>
            <a:xfrm>
              <a:off x="126237" y="1900773"/>
              <a:ext cx="5189355" cy="1914425"/>
              <a:chOff x="-873883" y="564905"/>
              <a:chExt cx="5189355" cy="1914425"/>
            </a:xfrm>
          </p:grpSpPr>
          <p:sp>
            <p:nvSpPr>
              <p:cNvPr id="2" name="Прямоугольник: скругленные углы 1">
                <a:extLst>
                  <a:ext uri="{FF2B5EF4-FFF2-40B4-BE49-F238E27FC236}">
                    <a16:creationId xmlns:a16="http://schemas.microsoft.com/office/drawing/2014/main" id="{AC6F7DCE-F8FF-329B-0A1D-233B1E9ACD8C}"/>
                  </a:ext>
                </a:extLst>
              </p:cNvPr>
              <p:cNvSpPr/>
              <p:nvPr/>
            </p:nvSpPr>
            <p:spPr>
              <a:xfrm>
                <a:off x="-873883" y="564905"/>
                <a:ext cx="5189355" cy="1914425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056" name="Picture 32" descr="Mysql workbench - Free Icon PNG, SVG">
                <a:extLst>
                  <a:ext uri="{FF2B5EF4-FFF2-40B4-BE49-F238E27FC236}">
                    <a16:creationId xmlns:a16="http://schemas.microsoft.com/office/drawing/2014/main" id="{51B312B1-0EF1-D4EE-DE15-B602875779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43344" y="1175277"/>
                <a:ext cx="1155980" cy="11559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Рисунок 37" descr="Изображение выглядит как Графика, Шрифт, логотип, текст&#10;&#10;Содержимое, созданное искусственным интеллектом, может быть неверным.">
                <a:extLst>
                  <a:ext uri="{FF2B5EF4-FFF2-40B4-BE49-F238E27FC236}">
                    <a16:creationId xmlns:a16="http://schemas.microsoft.com/office/drawing/2014/main" id="{0833D493-4C65-7357-6648-2E37729B9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0833" y="1290723"/>
                <a:ext cx="961746" cy="961746"/>
              </a:xfrm>
              <a:prstGeom prst="rect">
                <a:avLst/>
              </a:prstGeom>
            </p:spPr>
          </p:pic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3DD384F-519F-B084-1FF9-0B3E0617F612}"/>
                </a:ext>
              </a:extLst>
            </p:cNvPr>
            <p:cNvSpPr txBox="1"/>
            <p:nvPr/>
          </p:nvSpPr>
          <p:spPr>
            <a:xfrm>
              <a:off x="126238" y="2043676"/>
              <a:ext cx="4397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БАЗА ДАННЫХ</a:t>
              </a: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760B5C48-696B-9F2A-801C-7BB4EAE27F48}"/>
              </a:ext>
            </a:extLst>
          </p:cNvPr>
          <p:cNvGrpSpPr/>
          <p:nvPr/>
        </p:nvGrpSpPr>
        <p:grpSpPr>
          <a:xfrm>
            <a:off x="95792" y="3294676"/>
            <a:ext cx="5188813" cy="3131582"/>
            <a:chOff x="2463106" y="3150091"/>
            <a:chExt cx="5188813" cy="3131582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71738136-2A00-365E-28A1-B9C1A5BEF6EA}"/>
                </a:ext>
              </a:extLst>
            </p:cNvPr>
            <p:cNvGrpSpPr/>
            <p:nvPr/>
          </p:nvGrpSpPr>
          <p:grpSpPr>
            <a:xfrm>
              <a:off x="2463107" y="3150091"/>
              <a:ext cx="5188812" cy="3131582"/>
              <a:chOff x="-752666" y="3101899"/>
              <a:chExt cx="5188812" cy="3131582"/>
            </a:xfrm>
          </p:grpSpPr>
          <p:sp>
            <p:nvSpPr>
              <p:cNvPr id="3" name="Прямоугольник: скругленные углы 2">
                <a:extLst>
                  <a:ext uri="{FF2B5EF4-FFF2-40B4-BE49-F238E27FC236}">
                    <a16:creationId xmlns:a16="http://schemas.microsoft.com/office/drawing/2014/main" id="{41EAB47F-264D-BC7B-DB96-283A0F1AC8F8}"/>
                  </a:ext>
                </a:extLst>
              </p:cNvPr>
              <p:cNvSpPr/>
              <p:nvPr/>
            </p:nvSpPr>
            <p:spPr>
              <a:xfrm>
                <a:off x="-752666" y="3101899"/>
                <a:ext cx="5188812" cy="3131582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27" name="Группа 26">
                <a:extLst>
                  <a:ext uri="{FF2B5EF4-FFF2-40B4-BE49-F238E27FC236}">
                    <a16:creationId xmlns:a16="http://schemas.microsoft.com/office/drawing/2014/main" id="{31BE1093-7A55-8350-70D6-5FE35A22E216}"/>
                  </a:ext>
                </a:extLst>
              </p:cNvPr>
              <p:cNvGrpSpPr/>
              <p:nvPr/>
            </p:nvGrpSpPr>
            <p:grpSpPr>
              <a:xfrm>
                <a:off x="-120758" y="3803033"/>
                <a:ext cx="3104011" cy="2309583"/>
                <a:chOff x="2372360" y="1244860"/>
                <a:chExt cx="3104011" cy="2309583"/>
              </a:xfrm>
            </p:grpSpPr>
            <p:pic>
              <p:nvPicPr>
                <p:cNvPr id="9" name="Рисунок 8">
                  <a:extLst>
                    <a:ext uri="{FF2B5EF4-FFF2-40B4-BE49-F238E27FC236}">
                      <a16:creationId xmlns:a16="http://schemas.microsoft.com/office/drawing/2014/main" id="{51C288CB-7F45-0F73-A0A1-335A3D1C8B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-9144" t="-3130" r="-6877" b="-1"/>
                <a:stretch>
                  <a:fillRect/>
                </a:stretch>
              </p:blipFill>
              <p:spPr>
                <a:xfrm>
                  <a:off x="4426507" y="1279947"/>
                  <a:ext cx="1049864" cy="1049862"/>
                </a:xfrm>
                <a:prstGeom prst="rect">
                  <a:avLst/>
                </a:prstGeom>
              </p:spPr>
            </p:pic>
            <p:pic>
              <p:nvPicPr>
                <p:cNvPr id="33" name="Рисунок 32" descr="Изображение выглядит как круг, Графика, символ, снимок экрана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FB10391F-598B-BD24-7E12-1D04345805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14625" y="2564128"/>
                  <a:ext cx="961746" cy="961746"/>
                </a:xfrm>
                <a:prstGeom prst="rect">
                  <a:avLst/>
                </a:prstGeom>
              </p:spPr>
            </p:pic>
            <p:pic>
              <p:nvPicPr>
                <p:cNvPr id="35" name="Рисунок 34" descr="Изображение выглядит как круг, Графика, снимок экрана, Шрифт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AFF10FA3-DD66-A5A8-5855-5A8DBA1351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70448" y="2613359"/>
                  <a:ext cx="941084" cy="941084"/>
                </a:xfrm>
                <a:prstGeom prst="rect">
                  <a:avLst/>
                </a:prstGeom>
              </p:spPr>
            </p:pic>
            <p:pic>
              <p:nvPicPr>
                <p:cNvPr id="1054" name="Picture 30">
                  <a:extLst>
                    <a:ext uri="{FF2B5EF4-FFF2-40B4-BE49-F238E27FC236}">
                      <a16:creationId xmlns:a16="http://schemas.microsoft.com/office/drawing/2014/main" id="{74BE1B59-854B-CCB1-DE92-EB65221C5F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72360" y="1244860"/>
                  <a:ext cx="1155980" cy="11559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927CEF3-06AB-1876-C1FF-71460B73B26B}"/>
                </a:ext>
              </a:extLst>
            </p:cNvPr>
            <p:cNvSpPr txBox="1"/>
            <p:nvPr/>
          </p:nvSpPr>
          <p:spPr>
            <a:xfrm>
              <a:off x="2463106" y="3330251"/>
              <a:ext cx="43977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API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2D9BCE78-80E8-1ADA-1FB4-AB73F040E07D}"/>
              </a:ext>
            </a:extLst>
          </p:cNvPr>
          <p:cNvGrpSpPr/>
          <p:nvPr/>
        </p:nvGrpSpPr>
        <p:grpSpPr>
          <a:xfrm>
            <a:off x="5526299" y="3300645"/>
            <a:ext cx="6508537" cy="3135067"/>
            <a:chOff x="5559092" y="3399222"/>
            <a:chExt cx="6508537" cy="3135067"/>
          </a:xfrm>
        </p:grpSpPr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8BBCBEFE-E898-E46B-EAB1-9D07CED3F0DF}"/>
                </a:ext>
              </a:extLst>
            </p:cNvPr>
            <p:cNvGrpSpPr/>
            <p:nvPr/>
          </p:nvGrpSpPr>
          <p:grpSpPr>
            <a:xfrm>
              <a:off x="5592863" y="3399222"/>
              <a:ext cx="6474766" cy="3135067"/>
              <a:chOff x="9094404" y="3105802"/>
              <a:chExt cx="6474766" cy="3135067"/>
            </a:xfrm>
          </p:grpSpPr>
          <p:sp>
            <p:nvSpPr>
              <p:cNvPr id="30" name="Прямоугольник: скругленные углы 29">
                <a:extLst>
                  <a:ext uri="{FF2B5EF4-FFF2-40B4-BE49-F238E27FC236}">
                    <a16:creationId xmlns:a16="http://schemas.microsoft.com/office/drawing/2014/main" id="{F2CE65FE-4597-7281-A722-5134FCC053E8}"/>
                  </a:ext>
                </a:extLst>
              </p:cNvPr>
              <p:cNvSpPr/>
              <p:nvPr/>
            </p:nvSpPr>
            <p:spPr>
              <a:xfrm>
                <a:off x="9094404" y="3105802"/>
                <a:ext cx="6474766" cy="313506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7" name="Группа 6">
                <a:extLst>
                  <a:ext uri="{FF2B5EF4-FFF2-40B4-BE49-F238E27FC236}">
                    <a16:creationId xmlns:a16="http://schemas.microsoft.com/office/drawing/2014/main" id="{C828BFC2-C5A9-D901-0DFE-091DC60B5576}"/>
                  </a:ext>
                </a:extLst>
              </p:cNvPr>
              <p:cNvGrpSpPr/>
              <p:nvPr/>
            </p:nvGrpSpPr>
            <p:grpSpPr>
              <a:xfrm>
                <a:off x="9295805" y="4184571"/>
                <a:ext cx="6075141" cy="1201726"/>
                <a:chOff x="5460709" y="5501222"/>
                <a:chExt cx="6075141" cy="1201726"/>
              </a:xfrm>
            </p:grpSpPr>
            <p:pic>
              <p:nvPicPr>
                <p:cNvPr id="1036" name="Picture 12" descr="Докер – Бесплатные иконки: бренды и логотипы">
                  <a:extLst>
                    <a:ext uri="{FF2B5EF4-FFF2-40B4-BE49-F238E27FC236}">
                      <a16:creationId xmlns:a16="http://schemas.microsoft.com/office/drawing/2014/main" id="{9A79A14D-5671-1AAE-6856-3A6ACCB719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060146" y="5644885"/>
                  <a:ext cx="914400" cy="91440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2" name="Picture 18" descr="What - Docker Compose Logo Transparent Png,Compose Icon - free transparent  png images - pngaaa.com">
                  <a:extLst>
                    <a:ext uri="{FF2B5EF4-FFF2-40B4-BE49-F238E27FC236}">
                      <a16:creationId xmlns:a16="http://schemas.microsoft.com/office/drawing/2014/main" id="{8E0F4AE6-6C70-79DA-0CB1-AA7B4EE1076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ackgroundRemoval t="6693" b="93307" l="10000" r="90000">
                              <a14:foregroundMark x1="65444" y1="11513" x2="65444" y2="11513"/>
                              <a14:foregroundMark x1="68556" y1="6827" x2="68556" y2="6827"/>
                              <a14:foregroundMark x1="58889" y1="88086" x2="58889" y2="88086"/>
                              <a14:foregroundMark x1="59889" y1="89826" x2="59889" y2="89826"/>
                              <a14:foregroundMark x1="58556" y1="93307" x2="58556" y2="93307"/>
                              <a14:foregroundMark x1="51778" y1="55689" x2="51778" y2="55689"/>
                              <a14:foregroundMark x1="47778" y1="53548" x2="48889" y2="55823"/>
                              <a14:foregroundMark x1="50556" y1="51539" x2="53556" y2="56894"/>
                              <a14:backgroundMark x1="46444" y1="68541" x2="46444" y2="68541"/>
                              <a14:backgroundMark x1="59000" y1="68541" x2="59000" y2="68541"/>
                              <a14:backgroundMark x1="58111" y1="68273" x2="58111" y2="68273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8895" r="18881"/>
                <a:stretch>
                  <a:fillRect/>
                </a:stretch>
              </p:blipFill>
              <p:spPr bwMode="auto">
                <a:xfrm>
                  <a:off x="10668444" y="5523587"/>
                  <a:ext cx="867406" cy="1156996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4" name="Picture 20">
                  <a:extLst>
                    <a:ext uri="{FF2B5EF4-FFF2-40B4-BE49-F238E27FC236}">
                      <a16:creationId xmlns:a16="http://schemas.microsoft.com/office/drawing/2014/main" id="{464CD113-0D78-0EB4-A331-81C71C2BF3E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460709" y="5577154"/>
                  <a:ext cx="1049861" cy="104986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0" name="Picture 46">
                  <a:extLst>
                    <a:ext uri="{FF2B5EF4-FFF2-40B4-BE49-F238E27FC236}">
                      <a16:creationId xmlns:a16="http://schemas.microsoft.com/office/drawing/2014/main" id="{AC96E036-2433-6091-BC1A-E0F75A90B80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70917"/>
                <a:stretch>
                  <a:fillRect/>
                </a:stretch>
              </p:blipFill>
              <p:spPr bwMode="auto">
                <a:xfrm>
                  <a:off x="7204468" y="5501222"/>
                  <a:ext cx="1161780" cy="1201726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613B8F-287A-FB90-4EBD-86DBB404EAEC}"/>
                </a:ext>
              </a:extLst>
            </p:cNvPr>
            <p:cNvSpPr txBox="1"/>
            <p:nvPr/>
          </p:nvSpPr>
          <p:spPr>
            <a:xfrm>
              <a:off x="5559092" y="3555621"/>
              <a:ext cx="65085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СЕРВЕР</a:t>
              </a: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557AD496-4CC1-8A5A-0B0B-CB853E40BA11}"/>
              </a:ext>
            </a:extLst>
          </p:cNvPr>
          <p:cNvGrpSpPr/>
          <p:nvPr/>
        </p:nvGrpSpPr>
        <p:grpSpPr>
          <a:xfrm>
            <a:off x="5560070" y="1131261"/>
            <a:ext cx="6508537" cy="1914424"/>
            <a:chOff x="5559092" y="1288511"/>
            <a:chExt cx="6508537" cy="1914424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397D9150-90CD-3E39-B0AD-F3D7E2836DCE}"/>
                </a:ext>
              </a:extLst>
            </p:cNvPr>
            <p:cNvGrpSpPr/>
            <p:nvPr/>
          </p:nvGrpSpPr>
          <p:grpSpPr>
            <a:xfrm>
              <a:off x="5559092" y="1288511"/>
              <a:ext cx="6508537" cy="1914424"/>
              <a:chOff x="3629659" y="1979926"/>
              <a:chExt cx="6508537" cy="1914424"/>
            </a:xfrm>
          </p:grpSpPr>
          <p:sp>
            <p:nvSpPr>
              <p:cNvPr id="4" name="Прямоугольник: скругленные углы 3">
                <a:extLst>
                  <a:ext uri="{FF2B5EF4-FFF2-40B4-BE49-F238E27FC236}">
                    <a16:creationId xmlns:a16="http://schemas.microsoft.com/office/drawing/2014/main" id="{7AC27E85-6937-0972-3A98-41F1A4B2D029}"/>
                  </a:ext>
                </a:extLst>
              </p:cNvPr>
              <p:cNvSpPr/>
              <p:nvPr/>
            </p:nvSpPr>
            <p:spPr>
              <a:xfrm>
                <a:off x="3629659" y="1979926"/>
                <a:ext cx="6508537" cy="1914424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D23A6329-DF53-CE67-5DC6-9F18E06620E5}"/>
                  </a:ext>
                </a:extLst>
              </p:cNvPr>
              <p:cNvGrpSpPr/>
              <p:nvPr/>
            </p:nvGrpSpPr>
            <p:grpSpPr>
              <a:xfrm>
                <a:off x="3864831" y="2721986"/>
                <a:ext cx="5997900" cy="1057345"/>
                <a:chOff x="3014928" y="2777758"/>
                <a:chExt cx="5997900" cy="1057345"/>
              </a:xfrm>
            </p:grpSpPr>
            <p:pic>
              <p:nvPicPr>
                <p:cNvPr id="1046" name="Picture 22" descr="Vite color icon in PNG, SVG">
                  <a:extLst>
                    <a:ext uri="{FF2B5EF4-FFF2-40B4-BE49-F238E27FC236}">
                      <a16:creationId xmlns:a16="http://schemas.microsoft.com/office/drawing/2014/main" id="{B2C4E98C-90EA-3A3E-BA43-05E37DD01F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backgroundRemoval t="8750" b="92917" l="8500" r="91000">
                              <a14:foregroundMark x1="8500" y1="22667" x2="8500" y2="22667"/>
                              <a14:foregroundMark x1="68333" y1="8750" x2="68333" y2="8750"/>
                              <a14:foregroundMark x1="91083" y1="20667" x2="91083" y2="20667"/>
                              <a14:foregroundMark x1="50167" y1="92917" x2="50167" y2="92917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98428" y="2849230"/>
                  <a:ext cx="914400" cy="914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8" name="Picture 24">
                  <a:extLst>
                    <a:ext uri="{FF2B5EF4-FFF2-40B4-BE49-F238E27FC236}">
                      <a16:creationId xmlns:a16="http://schemas.microsoft.com/office/drawing/2014/main" id="{6C592F3B-3DEB-C5B4-CCB2-E6C7D6577A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374416" y="2848025"/>
                  <a:ext cx="1030140" cy="91681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2" name="Picture 28">
                  <a:extLst>
                    <a:ext uri="{FF2B5EF4-FFF2-40B4-BE49-F238E27FC236}">
                      <a16:creationId xmlns:a16="http://schemas.microsoft.com/office/drawing/2014/main" id="{1BBFB894-65E2-7321-C8C4-4303B4C346A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014928" y="2777758"/>
                  <a:ext cx="1057345" cy="105734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8" name="Picture 34" descr="Typescript - Free brands and logotypes icons">
                  <a:extLst>
                    <a:ext uri="{FF2B5EF4-FFF2-40B4-BE49-F238E27FC236}">
                      <a16:creationId xmlns:a16="http://schemas.microsoft.com/office/drawing/2014/main" id="{C985CBF1-461F-7E3B-9ADB-2D7BA557021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766144" y="2849230"/>
                  <a:ext cx="914401" cy="91440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27CBB24-A96F-AF7B-B629-5BE5BE7A53C3}"/>
                </a:ext>
              </a:extLst>
            </p:cNvPr>
            <p:cNvSpPr txBox="1"/>
            <p:nvPr/>
          </p:nvSpPr>
          <p:spPr>
            <a:xfrm>
              <a:off x="5559092" y="1425807"/>
              <a:ext cx="65085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FRONTEND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0134A57-FA0D-CAA2-9DA4-8ED9CE37A0BE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41B1E05-075D-1618-9F71-6A5963B3520F}"/>
              </a:ext>
            </a:extLst>
          </p:cNvPr>
          <p:cNvSpPr/>
          <p:nvPr/>
        </p:nvSpPr>
        <p:spPr>
          <a:xfrm>
            <a:off x="-3572" y="6690671"/>
            <a:ext cx="7071122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1A34A352-4669-4085-2D3D-ADFE950BD393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B28B4489-6DF0-9537-91F8-FA61B26D4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Средства разработки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9A5CAC-87EE-9DEB-81CB-54AEAD85E5AA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4339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CAEADBD3-A672-DED4-B0F3-6D9C1F3A2B18}"/>
              </a:ext>
            </a:extLst>
          </p:cNvPr>
          <p:cNvGrpSpPr/>
          <p:nvPr/>
        </p:nvGrpSpPr>
        <p:grpSpPr>
          <a:xfrm>
            <a:off x="2229540" y="2099092"/>
            <a:ext cx="7732920" cy="3593140"/>
            <a:chOff x="2601696" y="2305050"/>
            <a:chExt cx="6970929" cy="323907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BC65B17-085A-FD12-88AF-DE6936E11F0D}"/>
                </a:ext>
              </a:extLst>
            </p:cNvPr>
            <p:cNvSpPr/>
            <p:nvPr/>
          </p:nvSpPr>
          <p:spPr>
            <a:xfrm>
              <a:off x="2601696" y="2305050"/>
              <a:ext cx="6970929" cy="2066925"/>
            </a:xfrm>
            <a:prstGeom prst="roundRect">
              <a:avLst>
                <a:gd name="adj" fmla="val 4818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Сервер</a:t>
              </a: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1ECA7979-34F0-56C8-1C91-78FC075843F0}"/>
                </a:ext>
              </a:extLst>
            </p:cNvPr>
            <p:cNvSpPr/>
            <p:nvPr/>
          </p:nvSpPr>
          <p:spPr>
            <a:xfrm>
              <a:off x="5123884" y="4747046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Браузер</a:t>
              </a:r>
            </a:p>
          </p:txBody>
        </p:sp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3299F8B5-F131-F5A5-45A3-2257B1A206A4}"/>
                </a:ext>
              </a:extLst>
            </p:cNvPr>
            <p:cNvSpPr/>
            <p:nvPr/>
          </p:nvSpPr>
          <p:spPr>
            <a:xfrm>
              <a:off x="5110162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API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8" name="Прямоугольник: скругленные углы 37">
              <a:extLst>
                <a:ext uri="{FF2B5EF4-FFF2-40B4-BE49-F238E27FC236}">
                  <a16:creationId xmlns:a16="http://schemas.microsoft.com/office/drawing/2014/main" id="{59038C30-FE58-AD58-814D-B120C0D96249}"/>
                </a:ext>
              </a:extLst>
            </p:cNvPr>
            <p:cNvSpPr/>
            <p:nvPr/>
          </p:nvSpPr>
          <p:spPr>
            <a:xfrm>
              <a:off x="2807948" y="3234977"/>
              <a:ext cx="1971676" cy="797081"/>
            </a:xfrm>
            <a:prstGeom prst="roundRect">
              <a:avLst>
                <a:gd name="adj" fmla="val 1308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База данных </a:t>
              </a:r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MySQL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9341A8C8-B130-57BE-0385-BC9B3AA1B4AE}"/>
                </a:ext>
              </a:extLst>
            </p:cNvPr>
            <p:cNvSpPr/>
            <p:nvPr/>
          </p:nvSpPr>
          <p:spPr>
            <a:xfrm>
              <a:off x="7412376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Веб-сервер</a:t>
              </a:r>
            </a:p>
          </p:txBody>
        </p: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C16EAF6B-7F79-F899-253B-35414FF68C85}"/>
                </a:ext>
              </a:extLst>
            </p:cNvPr>
            <p:cNvCxnSpPr>
              <a:cxnSpLocks/>
              <a:stCxn id="38" idx="3"/>
              <a:endCxn id="33" idx="1"/>
            </p:cNvCxnSpPr>
            <p:nvPr/>
          </p:nvCxnSpPr>
          <p:spPr>
            <a:xfrm>
              <a:off x="4779624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Прямая соединительная линия 46">
              <a:extLst>
                <a:ext uri="{FF2B5EF4-FFF2-40B4-BE49-F238E27FC236}">
                  <a16:creationId xmlns:a16="http://schemas.microsoft.com/office/drawing/2014/main" id="{DA9AD919-4632-E802-E6C6-15E2A1CB3E67}"/>
                </a:ext>
              </a:extLst>
            </p:cNvPr>
            <p:cNvCxnSpPr>
              <a:cxnSpLocks/>
              <a:stCxn id="33" idx="3"/>
              <a:endCxn id="39" idx="1"/>
            </p:cNvCxnSpPr>
            <p:nvPr/>
          </p:nvCxnSpPr>
          <p:spPr>
            <a:xfrm>
              <a:off x="7081838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Соединитель: уступ 50">
              <a:extLst>
                <a:ext uri="{FF2B5EF4-FFF2-40B4-BE49-F238E27FC236}">
                  <a16:creationId xmlns:a16="http://schemas.microsoft.com/office/drawing/2014/main" id="{8A84A74E-39D4-5756-0CCD-E3CF8627D16C}"/>
                </a:ext>
              </a:extLst>
            </p:cNvPr>
            <p:cNvCxnSpPr>
              <a:cxnSpLocks/>
              <a:stCxn id="39" idx="2"/>
              <a:endCxn id="35" idx="3"/>
            </p:cNvCxnSpPr>
            <p:nvPr/>
          </p:nvCxnSpPr>
          <p:spPr>
            <a:xfrm rot="5400000">
              <a:off x="7190123" y="3937495"/>
              <a:ext cx="1113529" cy="1302654"/>
            </a:xfrm>
            <a:prstGeom prst="bentConnector2">
              <a:avLst/>
            </a:prstGeom>
            <a:ln cap="flat">
              <a:miter lim="800000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F352E8-C72A-94B9-3712-593F1654B748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6895538-94D6-4306-AA2A-16DAE08CBE75}"/>
              </a:ext>
            </a:extLst>
          </p:cNvPr>
          <p:cNvSpPr/>
          <p:nvPr/>
        </p:nvSpPr>
        <p:spPr>
          <a:xfrm>
            <a:off x="-3573" y="6690671"/>
            <a:ext cx="8433198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4587C68-F3EF-E93E-E511-E239CC31FE5E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969349D3-51C4-195C-43CB-3EF7A289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Архитектура системы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159FC6-7D31-C1C1-DF5A-E4618FB02C26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54F39D7-2DAE-C311-7C9F-E4ACD60B17F6}"/>
              </a:ext>
            </a:extLst>
          </p:cNvPr>
          <p:cNvGrpSpPr/>
          <p:nvPr/>
        </p:nvGrpSpPr>
        <p:grpSpPr>
          <a:xfrm>
            <a:off x="116097" y="1729564"/>
            <a:ext cx="2518287" cy="3732357"/>
            <a:chOff x="952500" y="1723424"/>
            <a:chExt cx="2518287" cy="3732357"/>
          </a:xfrm>
        </p:grpSpPr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3169C10-CA12-291D-CBD4-2F177882C89D}"/>
                </a:ext>
              </a:extLst>
            </p:cNvPr>
            <p:cNvGrpSpPr/>
            <p:nvPr/>
          </p:nvGrpSpPr>
          <p:grpSpPr>
            <a:xfrm>
              <a:off x="952500" y="1723424"/>
              <a:ext cx="2518287" cy="3732357"/>
              <a:chOff x="1041394" y="1667282"/>
              <a:chExt cx="3156980" cy="3732357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B6F1861F-5083-0700-2D25-599413660F3C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AE0352C-BA42-4CC9-10B1-08DA098C4611}"/>
                  </a:ext>
                </a:extLst>
              </p:cNvPr>
              <p:cNvSpPr txBox="1"/>
              <p:nvPr/>
            </p:nvSpPr>
            <p:spPr>
              <a:xfrm>
                <a:off x="1041394" y="4412577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Скорость</a:t>
                </a:r>
              </a:p>
            </p:txBody>
          </p:sp>
        </p:grpSp>
        <p:pic>
          <p:nvPicPr>
            <p:cNvPr id="43" name="Picture 4" descr="Максимальная скорость – Бесплатные иконки:">
              <a:extLst>
                <a:ext uri="{FF2B5EF4-FFF2-40B4-BE49-F238E27FC236}">
                  <a16:creationId xmlns:a16="http://schemas.microsoft.com/office/drawing/2014/main" id="{B90749CF-5A1E-B9BC-B6EB-1320F2FA94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6069" y="2319232"/>
              <a:ext cx="1691148" cy="1691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7DB1BE3D-E594-4CB9-64FE-403FE1860352}"/>
              </a:ext>
            </a:extLst>
          </p:cNvPr>
          <p:cNvGrpSpPr/>
          <p:nvPr/>
        </p:nvGrpSpPr>
        <p:grpSpPr>
          <a:xfrm>
            <a:off x="3204468" y="1725461"/>
            <a:ext cx="2668883" cy="3732357"/>
            <a:chOff x="3729944" y="1719321"/>
            <a:chExt cx="2668883" cy="3732357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561B926A-111A-C405-BDA2-7E41806723C8}"/>
                </a:ext>
              </a:extLst>
            </p:cNvPr>
            <p:cNvGrpSpPr/>
            <p:nvPr/>
          </p:nvGrpSpPr>
          <p:grpSpPr>
            <a:xfrm>
              <a:off x="3729944" y="1719321"/>
              <a:ext cx="2668883" cy="3732357"/>
              <a:chOff x="1041394" y="1667282"/>
              <a:chExt cx="3156980" cy="3732357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DDEBCA52-EAA7-E1EC-6E91-B19882DB1F7B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05B4375-81D1-80A6-4372-F5FD97576521}"/>
                  </a:ext>
                </a:extLst>
              </p:cNvPr>
              <p:cNvSpPr txBox="1"/>
              <p:nvPr/>
            </p:nvSpPr>
            <p:spPr>
              <a:xfrm>
                <a:off x="1041394" y="44293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Контроль</a:t>
                </a:r>
              </a:p>
            </p:txBody>
          </p:sp>
        </p:grpSp>
        <p:pic>
          <p:nvPicPr>
            <p:cNvPr id="45" name="Picture 6" descr="Пнг Проверка 27 фото">
              <a:extLst>
                <a:ext uri="{FF2B5EF4-FFF2-40B4-BE49-F238E27FC236}">
                  <a16:creationId xmlns:a16="http://schemas.microsoft.com/office/drawing/2014/main" id="{9F18291D-E2C3-239D-CBFE-C60703029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84090" y="2284511"/>
              <a:ext cx="1760590" cy="1760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9944D1C2-5A77-4EE5-936D-CC91B844D1DE}"/>
              </a:ext>
            </a:extLst>
          </p:cNvPr>
          <p:cNvGrpSpPr/>
          <p:nvPr/>
        </p:nvGrpSpPr>
        <p:grpSpPr>
          <a:xfrm>
            <a:off x="6443435" y="1723410"/>
            <a:ext cx="2544097" cy="3732357"/>
            <a:chOff x="6657984" y="1717270"/>
            <a:chExt cx="2544097" cy="3732357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C56951AD-4FEF-31EF-20E3-443AF3A31A7D}"/>
                </a:ext>
              </a:extLst>
            </p:cNvPr>
            <p:cNvGrpSpPr/>
            <p:nvPr/>
          </p:nvGrpSpPr>
          <p:grpSpPr>
            <a:xfrm>
              <a:off x="6657984" y="1717270"/>
              <a:ext cx="2544097" cy="3732357"/>
              <a:chOff x="1041394" y="1667282"/>
              <a:chExt cx="3156980" cy="3732357"/>
            </a:xfrm>
          </p:grpSpPr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9CCD54FC-01B4-DA7C-0B0D-C24CFC60A382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9969A3-1104-B7DA-0ACB-E9D64297761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249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Расширение</a:t>
                </a:r>
              </a:p>
            </p:txBody>
          </p:sp>
        </p:grpSp>
        <p:pic>
          <p:nvPicPr>
            <p:cNvPr id="4108" name="Picture 12" descr="Значок расширения Символ вектора расширения Простой черный значок  увеличения | Премиум вектор">
              <a:extLst>
                <a:ext uri="{FF2B5EF4-FFF2-40B4-BE49-F238E27FC236}">
                  <a16:creationId xmlns:a16="http://schemas.microsoft.com/office/drawing/2014/main" id="{D2676F6E-FE8E-4681-A7BF-2E50725396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5706" y="2230480"/>
              <a:ext cx="1868652" cy="1868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11A99480-9063-F93E-9C84-EE15662BE76B}"/>
              </a:ext>
            </a:extLst>
          </p:cNvPr>
          <p:cNvGrpSpPr/>
          <p:nvPr/>
        </p:nvGrpSpPr>
        <p:grpSpPr>
          <a:xfrm>
            <a:off x="9557616" y="1732641"/>
            <a:ext cx="2518287" cy="3732357"/>
            <a:chOff x="9461237" y="1721372"/>
            <a:chExt cx="2518287" cy="3732357"/>
          </a:xfrm>
        </p:grpSpPr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B2FB407-8656-C708-9628-EDB011C815FE}"/>
                </a:ext>
              </a:extLst>
            </p:cNvPr>
            <p:cNvGrpSpPr/>
            <p:nvPr/>
          </p:nvGrpSpPr>
          <p:grpSpPr>
            <a:xfrm>
              <a:off x="9461237" y="1721372"/>
              <a:ext cx="2518287" cy="3732357"/>
              <a:chOff x="1041394" y="1667282"/>
              <a:chExt cx="3156980" cy="3732357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95AF9D4-EDC3-59ED-A483-A44010E06A68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C2C9C01-DA66-3821-6207-B0D5B9E482D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Удобство</a:t>
                </a:r>
              </a:p>
            </p:txBody>
          </p:sp>
        </p:grpSp>
        <p:pic>
          <p:nvPicPr>
            <p:cNvPr id="50" name="Picture 22" descr="Диван – Бесплатные иконки: мебель и дом">
              <a:extLst>
                <a:ext uri="{FF2B5EF4-FFF2-40B4-BE49-F238E27FC236}">
                  <a16:creationId xmlns:a16="http://schemas.microsoft.com/office/drawing/2014/main" id="{AA8D93C2-9AFF-9532-825A-F97EAD03F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52220" y="2196646"/>
              <a:ext cx="1936320" cy="1936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D86824D-99CC-8D54-74AF-82EAE4CEBF0D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503E55B-9AB7-62E9-24E1-ACD11DAB993B}"/>
              </a:ext>
            </a:extLst>
          </p:cNvPr>
          <p:cNvSpPr/>
          <p:nvPr/>
        </p:nvSpPr>
        <p:spPr>
          <a:xfrm>
            <a:off x="-3572" y="6684517"/>
            <a:ext cx="9985772" cy="173483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772B2F7D-7356-D8CB-1451-638BA742DE03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FBDA1943-79B4-8505-8056-943D9581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Преимущества проекта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511E6D-30E4-0F07-4A56-D8C8DD885FB2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137328-195C-C343-7370-C4A755526655}"/>
              </a:ext>
            </a:extLst>
          </p:cNvPr>
          <p:cNvGrpSpPr/>
          <p:nvPr/>
        </p:nvGrpSpPr>
        <p:grpSpPr>
          <a:xfrm>
            <a:off x="660400" y="1841122"/>
            <a:ext cx="4660150" cy="3175755"/>
            <a:chOff x="2341062" y="2335789"/>
            <a:chExt cx="3121184" cy="1466727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2EBD1A73-8D4A-E3F6-00E3-78341FF8385F}"/>
                </a:ext>
              </a:extLst>
            </p:cNvPr>
            <p:cNvSpPr/>
            <p:nvPr/>
          </p:nvSpPr>
          <p:spPr>
            <a:xfrm>
              <a:off x="2341062" y="2335789"/>
              <a:ext cx="3121184" cy="146672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B5968C-50DC-1C00-843C-0492E03E7144}"/>
                </a:ext>
              </a:extLst>
            </p:cNvPr>
            <p:cNvSpPr txBox="1"/>
            <p:nvPr/>
          </p:nvSpPr>
          <p:spPr>
            <a:xfrm>
              <a:off x="2341062" y="2781678"/>
              <a:ext cx="2883160" cy="5543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400" b="0" i="0" u="none" strike="noStrike" cap="none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Поставленная цель достигнута, задачи выполнены </a:t>
              </a:r>
              <a:endParaRPr lang="ru-RU" sz="24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540B2C80-8D04-FB8B-4928-983FE16B08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 flipH="1">
            <a:off x="6095022" y="1841122"/>
            <a:ext cx="5525585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AC877CA2-9573-9DE1-22A3-0618212CB73B}"/>
              </a:ext>
            </a:extLst>
          </p:cNvPr>
          <p:cNvSpPr/>
          <p:nvPr/>
        </p:nvSpPr>
        <p:spPr>
          <a:xfrm>
            <a:off x="6095022" y="5016877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4BE485C-347E-F23B-40B9-99F9088E961D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6D73996-628B-0408-E3A4-7AF1F1B85DB3}"/>
              </a:ext>
            </a:extLst>
          </p:cNvPr>
          <p:cNvSpPr/>
          <p:nvPr/>
        </p:nvSpPr>
        <p:spPr>
          <a:xfrm>
            <a:off x="-3572" y="6690670"/>
            <a:ext cx="12195572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EA9BC92-E4A2-BDD0-7277-171A52A35D10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Заголовок 1">
            <a:extLst>
              <a:ext uri="{FF2B5EF4-FFF2-40B4-BE49-F238E27FC236}">
                <a16:creationId xmlns:a16="http://schemas.microsoft.com/office/drawing/2014/main" id="{7BDE4DE0-3038-1074-DC2B-64181C1DD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Заключение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8713CD-5ECA-EDDF-4152-EEEFAD7571FB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C15F9-04DA-7AA9-40B8-F5AF039BB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3657231C-99A4-CD2F-1053-A114A2D139D1}"/>
              </a:ext>
            </a:extLst>
          </p:cNvPr>
          <p:cNvSpPr/>
          <p:nvPr/>
        </p:nvSpPr>
        <p:spPr>
          <a:xfrm>
            <a:off x="8023370" y="3286998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3FC8E893-BCA3-EAE2-CC2C-57EE8E85538B}"/>
              </a:ext>
            </a:extLst>
          </p:cNvPr>
          <p:cNvSpPr/>
          <p:nvPr/>
        </p:nvSpPr>
        <p:spPr>
          <a:xfrm>
            <a:off x="-4296229" y="-3556000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2C319-610B-71F4-32B0-DF226B7D41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9842" y="0"/>
            <a:ext cx="8412158" cy="1789967"/>
          </a:xfrm>
        </p:spPr>
        <p:txBody>
          <a:bodyPr>
            <a:noAutofit/>
          </a:bodyPr>
          <a:lstStyle/>
          <a:p>
            <a:r>
              <a:rPr lang="ru-RU" sz="14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(СПбГУТ)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ИМ. Б.Л. РОЗИНГА (ФИЛИАЛ) СПбГУТ</a:t>
            </a:r>
            <a:br>
              <a:rPr lang="ru-RU" sz="1400" dirty="0">
                <a:latin typeface="Comfortaa Medium" pitchFamily="2" charset="0"/>
              </a:rPr>
            </a:br>
            <a:r>
              <a:rPr lang="ru-RU" sz="14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208D1-2947-A127-4EBF-DEDC8F85DFCD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A5978C2F-E68C-75D7-79E1-DB6CBEA60990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960DBF-4B2A-AB94-468C-F0A4F01B0840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Дипломник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D1C1B8DB-198F-FC10-8089-DC73E6124493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05F6C77E-B37B-30D1-E9DA-CF2C4944AD86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8E2CF0-36C3-010E-4D28-61C3ADE99048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95B64847-3A44-67C4-E1F7-95D25C2D2316}"/>
              </a:ext>
            </a:extLst>
          </p:cNvPr>
          <p:cNvGrpSpPr/>
          <p:nvPr/>
        </p:nvGrpSpPr>
        <p:grpSpPr>
          <a:xfrm>
            <a:off x="342763" y="5325049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C3A6416-C8AA-015D-8344-87157EAC1501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76A8435F-D1C2-3A05-2291-98FB89E43EAE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959749E5-65FE-9828-D6F5-00E43D7A62FE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151B95A-8AB6-8505-0C46-7B5DB2467330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83060E8C-A540-D81D-2473-C997F8ACFA48}"/>
              </a:ext>
            </a:extLst>
          </p:cNvPr>
          <p:cNvSpPr txBox="1">
            <a:spLocks/>
          </p:cNvSpPr>
          <p:nvPr/>
        </p:nvSpPr>
        <p:spPr>
          <a:xfrm>
            <a:off x="342763" y="2203790"/>
            <a:ext cx="11868159" cy="1789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1386530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2753</TotalTime>
  <Words>254</Words>
  <Application>Microsoft Office PowerPoint</Application>
  <PresentationFormat>Широкоэкранный</PresentationFormat>
  <Paragraphs>76</Paragraphs>
  <Slides>9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Bahnschrift</vt:lpstr>
      <vt:lpstr>Calibri</vt:lpstr>
      <vt:lpstr>Comfortaa Medium</vt:lpstr>
      <vt:lpstr>Comfortaa SemiBold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Презентация PowerPoint</vt:lpstr>
      <vt:lpstr>Задачи</vt:lpstr>
      <vt:lpstr>Целевая аудитория</vt:lpstr>
      <vt:lpstr>Средства разработки</vt:lpstr>
      <vt:lpstr>Архитектура системы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153</cp:revision>
  <dcterms:created xsi:type="dcterms:W3CDTF">2025-11-25T06:59:53Z</dcterms:created>
  <dcterms:modified xsi:type="dcterms:W3CDTF">2026-05-19T14:55:02Z</dcterms:modified>
</cp:coreProperties>
</file>